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25603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9144000" cy="1028700"/>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8229600" cy="594360"/>
          </a:xfrm>
          <a:prstGeom prst="rect">
            <a:avLst/>
          </a:prstGeom>
          <a:noFill/>
        </p:spPr>
        <p:txBody>
          <a:bodyPr wrap="square">
            <a:spAutoFit/>
          </a:bodyPr>
          <a:lstStyle/>
          <a:p>
            <a:pPr algn="l"/>
            <a:r>
              <a:rPr b="1" i="0" sz="1600" spc="600">
                <a:solidFill>
                  <a:srgbClr val="D4820A"/>
                </a:solidFill>
                <a:latin typeface="Calibri"/>
              </a:rPr>
              <a:t>AP STATISTICS</a:t>
            </a:r>
          </a:p>
        </p:txBody>
      </p:sp>
      <p:sp>
        <p:nvSpPr>
          <p:cNvPr id="5" name="TextBox 4"/>
          <p:cNvSpPr txBox="1"/>
          <p:nvPr/>
        </p:nvSpPr>
        <p:spPr>
          <a:xfrm>
            <a:off x="502920" y="1234440"/>
            <a:ext cx="8229600" cy="777240"/>
          </a:xfrm>
          <a:prstGeom prst="rect">
            <a:avLst/>
          </a:prstGeom>
          <a:noFill/>
        </p:spPr>
        <p:txBody>
          <a:bodyPr wrap="square">
            <a:spAutoFit/>
          </a:bodyPr>
          <a:lstStyle/>
          <a:p>
            <a:pPr algn="l"/>
            <a:r>
              <a:rPr b="1" i="0" sz="4000">
                <a:solidFill>
                  <a:srgbClr val="FFFFFF"/>
                </a:solidFill>
                <a:latin typeface="Calibri"/>
              </a:rPr>
              <a:t>Unit 1</a:t>
            </a:r>
          </a:p>
        </p:txBody>
      </p:sp>
      <p:sp>
        <p:nvSpPr>
          <p:cNvPr id="6" name="TextBox 5"/>
          <p:cNvSpPr txBox="1"/>
          <p:nvPr/>
        </p:nvSpPr>
        <p:spPr>
          <a:xfrm>
            <a:off x="502920" y="2011680"/>
            <a:ext cx="8229600" cy="1600200"/>
          </a:xfrm>
          <a:prstGeom prst="rect">
            <a:avLst/>
          </a:prstGeom>
          <a:noFill/>
        </p:spPr>
        <p:txBody>
          <a:bodyPr wrap="square">
            <a:spAutoFit/>
          </a:bodyPr>
          <a:lstStyle/>
          <a:p>
            <a:pPr algn="l"/>
            <a:r>
              <a:rPr b="0" i="0" sz="3200">
                <a:solidFill>
                  <a:srgbClr val="C5DFF5"/>
                </a:solidFill>
                <a:latin typeface="Calibri"/>
              </a:rPr>
              <a:t>Exploring
One-Variable Data</a:t>
            </a:r>
          </a:p>
        </p:txBody>
      </p:sp>
      <p:sp>
        <p:nvSpPr>
          <p:cNvPr id="7" name="TextBox 6"/>
          <p:cNvSpPr txBox="1"/>
          <p:nvPr/>
        </p:nvSpPr>
        <p:spPr>
          <a:xfrm>
            <a:off x="502920" y="4279392"/>
            <a:ext cx="8229600" cy="457200"/>
          </a:xfrm>
          <a:prstGeom prst="rect">
            <a:avLst/>
          </a:prstGeom>
          <a:noFill/>
        </p:spPr>
        <p:txBody>
          <a:bodyPr wrap="square">
            <a:spAutoFit/>
          </a:bodyPr>
          <a:lstStyle/>
          <a:p>
            <a:pPr algn="l"/>
            <a:r>
              <a:rPr b="0" i="0" sz="1200">
                <a:solidFill>
                  <a:srgbClr val="C5DFF5"/>
                </a:solidFill>
                <a:latin typeface="Calibri"/>
              </a:rPr>
              <a:t>15–23% of AP Exam  ·  10 Lessons  ·  14–16 Class Periods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1.1</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Introducing Statistics:
What Can We Learn from Data?</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understand that statistics is the science of collecting, analyzing, and drawing conclusions from data. Students will distinguish between populations and samples, identify individuals and variables in a dataset, and recognize why variation in data is central to statistical thinking (Big Idea: VAR — Skill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"Students who sleep more score higher on tests."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Headline from a national education study (n = 12,000 students)</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How do researchers know this? Did they study every student in the world?</a:t>
            </a:r>
          </a:p>
          <a:p>
            <a:pPr algn="l">
              <a:buChar char="•"/>
              <a:spcAft>
                <a:spcPts val="70"/>
              </a:spcAft>
            </a:pPr>
            <a:r>
              <a:rPr b="0" sz="1400">
                <a:solidFill>
                  <a:srgbClr val="FFFFFF"/>
                </a:solidFill>
                <a:latin typeface="Calibri"/>
              </a:rPr>
              <a:t>Could this finding be wrong?</a:t>
            </a:r>
          </a:p>
          <a:p>
            <a:pPr algn="l">
              <a:buChar char="•"/>
              <a:spcAft>
                <a:spcPts val="70"/>
              </a:spcAft>
            </a:pPr>
            <a:r>
              <a:rPr b="0" sz="1400">
                <a:solidFill>
                  <a:srgbClr val="FFFFFF"/>
                </a:solidFill>
                <a:latin typeface="Calibri"/>
              </a:rPr>
              <a:t>What information would you want before trusting this headline?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Statistics</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The science of collecting, analyzing, and drawing conclusions from data</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Individual</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A single person, animal, object, or event in a dataset</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Population</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The entire group of individuals of interest</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Sample</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A subset of the population actually collected from</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Census</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Data collected from every individual in a population</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Variability</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Natural differences in values — the reason statistics exists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The Statistical Problem-Solving Process</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1.  Ask a question</a:t>
            </a:r>
          </a:p>
          <a:p>
            <a:pPr algn="l">
              <a:buChar char="•"/>
              <a:spcAft>
                <a:spcPts val="70"/>
              </a:spcAft>
            </a:pPr>
            <a:r>
              <a:rPr b="0" sz="1400">
                <a:solidFill>
                  <a:srgbClr val="2C3E50"/>
                </a:solidFill>
                <a:latin typeface="Calibri"/>
              </a:rPr>
              <a:t>Pose a clear question about a population of interest</a:t>
            </a:r>
          </a:p>
          <a:p>
            <a:pPr algn="l">
              <a:buChar char="•"/>
              <a:spcAft>
                <a:spcPts val="70"/>
              </a:spcAft>
            </a:pPr>
            <a:r>
              <a:rPr b="1" sz="1400">
                <a:solidFill>
                  <a:srgbClr val="2C3E50"/>
                </a:solidFill>
                <a:latin typeface="Calibri"/>
              </a:rPr>
              <a:t>2.  Collect data</a:t>
            </a:r>
          </a:p>
          <a:p>
            <a:pPr algn="l">
              <a:buChar char="•"/>
              <a:spcAft>
                <a:spcPts val="70"/>
              </a:spcAft>
            </a:pPr>
            <a:r>
              <a:rPr b="0" sz="1400">
                <a:solidFill>
                  <a:srgbClr val="2C3E50"/>
                </a:solidFill>
                <a:latin typeface="Calibri"/>
              </a:rPr>
              <a:t>Select a sample and measure variables on each individual</a:t>
            </a:r>
          </a:p>
          <a:p>
            <a:pPr algn="l">
              <a:buChar char="•"/>
              <a:spcAft>
                <a:spcPts val="70"/>
              </a:spcAft>
            </a:pPr>
            <a:r>
              <a:rPr b="1" sz="1400">
                <a:solidFill>
                  <a:srgbClr val="2C3E50"/>
                </a:solidFill>
                <a:latin typeface="Calibri"/>
              </a:rPr>
              <a:t>3.  Analyze the data</a:t>
            </a:r>
          </a:p>
          <a:p>
            <a:pPr algn="l">
              <a:buChar char="•"/>
              <a:spcAft>
                <a:spcPts val="70"/>
              </a:spcAft>
            </a:pPr>
            <a:r>
              <a:rPr b="0" sz="1400">
                <a:solidFill>
                  <a:srgbClr val="2C3E50"/>
                </a:solidFill>
                <a:latin typeface="Calibri"/>
              </a:rPr>
              <a:t>Summarize and display; compute statistics</a:t>
            </a:r>
          </a:p>
          <a:p>
            <a:pPr algn="l">
              <a:buChar char="•"/>
              <a:spcAft>
                <a:spcPts val="70"/>
              </a:spcAft>
            </a:pPr>
            <a:r>
              <a:rPr b="1" sz="1400">
                <a:solidFill>
                  <a:srgbClr val="2C3E50"/>
                </a:solidFill>
                <a:latin typeface="Calibri"/>
              </a:rPr>
              <a:t>4.  Interpret results</a:t>
            </a:r>
          </a:p>
          <a:p>
            <a:pPr algn="l">
              <a:buChar char="•"/>
              <a:spcAft>
                <a:spcPts val="70"/>
              </a:spcAft>
            </a:pPr>
            <a:r>
              <a:rPr b="0" sz="1400">
                <a:solidFill>
                  <a:srgbClr val="2C3E50"/>
                </a:solidFill>
                <a:latin typeface="Calibri"/>
              </a:rPr>
              <a:t>Draw conclusions; acknowledge what the data cannot tell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Scenario Analysis — Identifying Statistical Components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Read each of the 3 provided scenarios.</a:t>
            </a:r>
          </a:p>
          <a:p>
            <a:pPr algn="l">
              <a:spcAft>
                <a:spcPts val="80"/>
              </a:spcAft>
            </a:pPr>
            <a:r>
              <a:rPr b="0" sz="1400">
                <a:solidFill>
                  <a:srgbClr val="2C3E50"/>
                </a:solidFill>
                <a:latin typeface="Calibri"/>
              </a:rPr>
              <a:t>2.  For each: identify the individual, population, sample (if any), and one variable measured.</a:t>
            </a:r>
          </a:p>
          <a:p>
            <a:pPr algn="l">
              <a:spcAft>
                <a:spcPts val="80"/>
              </a:spcAft>
            </a:pPr>
            <a:r>
              <a:rPr b="0" sz="1400">
                <a:solidFill>
                  <a:srgbClr val="2C3E50"/>
                </a:solidFill>
                <a:latin typeface="Calibri"/>
              </a:rPr>
              <a:t>3.  Explain why a census is or is not feasible for each scenario.</a:t>
            </a:r>
          </a:p>
          <a:p>
            <a:pPr algn="l">
              <a:spcAft>
                <a:spcPts val="80"/>
              </a:spcAft>
            </a:pPr>
            <a:r>
              <a:rPr b="0" sz="1400">
                <a:solidFill>
                  <a:srgbClr val="2C3E50"/>
                </a:solidFill>
                <a:latin typeface="Calibri"/>
              </a:rPr>
              <a:t>4.  Share your reasoning with another pair.</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A hospital tracks recovery times for 50 patients after knee surgery.
    → Identify the individual, population, and sample.</a:t>
            </a:r>
          </a:p>
          <a:p>
            <a:pPr algn="l">
              <a:spcAft>
                <a:spcPts val="100"/>
              </a:spcAft>
            </a:pPr>
            <a:r>
              <a:rPr b="0" sz="1500">
                <a:solidFill>
                  <a:srgbClr val="FFFFFF"/>
                </a:solidFill>
                <a:latin typeface="Calibri"/>
              </a:rPr>
              <a:t>2.  Name one variable in this study. Does it vary across individuals?</a:t>
            </a:r>
          </a:p>
          <a:p>
            <a:pPr algn="l">
              <a:spcAft>
                <a:spcPts val="100"/>
              </a:spcAft>
            </a:pPr>
            <a:r>
              <a:rPr b="0" sz="1500">
                <a:solidFill>
                  <a:srgbClr val="FFFFFF"/>
                </a:solidFill>
                <a:latin typeface="Calibri"/>
              </a:rPr>
              <a:t>3.  Why might researchers use a sample instead of all knee-surgery patients?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1.2</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The Language of Variation: Variables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classify variables as categorical or quantitative, and further distinguish quantitative variables as discrete or continuous. Students will articulate why variable type determines which statistical methods are appropriate (Big Idea: VAR — Skill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Sort These 5 Variables Into 2 Groups — No Instructions Given</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Student data: Name  |  Grade Level  |  GPA  |  Favorite Color  |  Hours of Sleep</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Without being told the category names, divide these into two groups.</a:t>
            </a:r>
          </a:p>
          <a:p>
            <a:pPr algn="l">
              <a:buChar char="•"/>
              <a:spcAft>
                <a:spcPts val="70"/>
              </a:spcAft>
            </a:pPr>
            <a:r>
              <a:rPr b="0" sz="1400">
                <a:solidFill>
                  <a:srgbClr val="FFFFFF"/>
                </a:solidFill>
                <a:latin typeface="Calibri"/>
              </a:rPr>
              <a:t>What was your sorting rule?</a:t>
            </a:r>
          </a:p>
          <a:p>
            <a:pPr algn="l">
              <a:buChar char="•"/>
              <a:spcAft>
                <a:spcPts val="70"/>
              </a:spcAft>
            </a:pPr>
            <a:r>
              <a:rPr b="0" sz="1400">
                <a:solidFill>
                  <a:srgbClr val="FFFFFF"/>
                </a:solidFill>
                <a:latin typeface="Calibri"/>
              </a:rPr>
              <a:t>Can you average grade levels? Can you average GPAs?</a:t>
            </a:r>
          </a:p>
          <a:p>
            <a:pPr algn="l">
              <a:buChar char="•"/>
              <a:spcAft>
                <a:spcPts val="70"/>
              </a:spcAft>
            </a:pPr>
            <a:r>
              <a:rPr b="0" sz="1400">
                <a:solidFill>
                  <a:srgbClr val="FFFFFF"/>
                </a:solidFill>
                <a:latin typeface="Calibri"/>
              </a:rPr>
              <a:t>→ The 'averaging test' separates categorical from quantitative.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Variable</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A characteristic that takes different values for different individuals</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Categorical</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Places an individual into a group/category; no meaningful arithmetic</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Quantitative</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Takes numerical values for which arithmetic makes sense</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Discrete</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Countable values with gaps (number of siblings, pets, goals scored)</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Continuous</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Can take any value in an interval (height, time, temperature, weight)</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Distribution</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What values a variable takes and how often — described in Lessons 1.3–1.10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The "Averaging Test" — Trap Variables</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0" sz="1400">
                <a:solidFill>
                  <a:srgbClr val="2C3E50"/>
                </a:solidFill>
                <a:latin typeface="Calibri"/>
              </a:rPr>
              <a:t>A number is NOT automatically quantitative:</a:t>
            </a:r>
          </a:p>
          <a:p>
            <a:pPr algn="l">
              <a:buChar char="•"/>
              <a:spcAft>
                <a:spcPts val="70"/>
              </a:spcAft>
            </a:pPr>
            <a:r>
              <a:rPr b="0" sz="1400">
                <a:solidFill>
                  <a:srgbClr val="2C3E50"/>
                </a:solidFill>
                <a:latin typeface="Calibri"/>
              </a:rPr>
              <a:t>    ZIP code → categorical (no meaning to averaging zip codes)</a:t>
            </a:r>
          </a:p>
          <a:p>
            <a:pPr algn="l">
              <a:buChar char="•"/>
              <a:spcAft>
                <a:spcPts val="70"/>
              </a:spcAft>
            </a:pPr>
            <a:r>
              <a:rPr b="0" sz="1400">
                <a:solidFill>
                  <a:srgbClr val="2C3E50"/>
                </a:solidFill>
                <a:latin typeface="Calibri"/>
              </a:rPr>
              <a:t>    Jersey number → categorical</a:t>
            </a:r>
          </a:p>
          <a:p>
            <a:pPr algn="l">
              <a:buChar char="•"/>
              <a:spcAft>
                <a:spcPts val="70"/>
              </a:spcAft>
            </a:pPr>
            <a:r>
              <a:rPr b="0" sz="1400">
                <a:solidFill>
                  <a:srgbClr val="2C3E50"/>
                </a:solidFill>
                <a:latin typeface="Calibri"/>
              </a:rPr>
              <a:t>    Rating on a 1–5 scale → debatable! Apply context judgment</a:t>
            </a:r>
          </a:p>
          <a:p>
            <a:pPr algn="l">
              <a:buChar char="•"/>
              <a:spcAft>
                <a:spcPts val="70"/>
              </a:spcAft>
            </a:pPr>
            <a:r>
              <a:rPr b="0" sz="1400">
                <a:solidFill>
                  <a:srgbClr val="2C3E50"/>
                </a:solidFill>
                <a:latin typeface="Calibri"/>
              </a:rPr>
              <a:t>    Social Security number → categorical identifier</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Key question to ask:</a:t>
            </a:r>
          </a:p>
          <a:p>
            <a:pPr algn="l">
              <a:buChar char="•"/>
              <a:spcAft>
                <a:spcPts val="70"/>
              </a:spcAft>
            </a:pPr>
            <a:r>
              <a:rPr b="0" sz="1400">
                <a:solidFill>
                  <a:srgbClr val="2C3E50"/>
                </a:solidFill>
                <a:latin typeface="Calibri"/>
              </a:rPr>
              <a:t>"Does the average of these values mean something real in context?"</a:t>
            </a:r>
          </a:p>
          <a:p>
            <a:pPr algn="l">
              <a:buChar char="•"/>
              <a:spcAft>
                <a:spcPts val="70"/>
              </a:spcAft>
            </a:pPr>
            <a:r>
              <a:rPr b="0" sz="1400">
                <a:solidFill>
                  <a:srgbClr val="2C3E50"/>
                </a:solidFill>
                <a:latin typeface="Calibri"/>
              </a:rPr>
              <a:t>YES → quantitative    |    NO → categorical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Variable Card Sort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Sort your 12 variable cards into three piles: Categorical / Quantitative Discrete / Quantitative Continuous.</a:t>
            </a:r>
          </a:p>
          <a:p>
            <a:pPr algn="l">
              <a:spcAft>
                <a:spcPts val="80"/>
              </a:spcAft>
            </a:pPr>
            <a:r>
              <a:rPr b="0" sz="1400">
                <a:solidFill>
                  <a:srgbClr val="2C3E50"/>
                </a:solidFill>
                <a:latin typeface="Calibri"/>
              </a:rPr>
              <a:t>2.  Compare your sort with a neighboring group. Discuss any disagreements.</a:t>
            </a:r>
          </a:p>
          <a:p>
            <a:pPr algn="l">
              <a:spcAft>
                <a:spcPts val="80"/>
              </a:spcAft>
            </a:pPr>
            <a:r>
              <a:rPr b="0" sz="1400">
                <a:solidFill>
                  <a:srgbClr val="2C3E50"/>
                </a:solidFill>
                <a:latin typeface="Calibri"/>
              </a:rPr>
              <a:t>3.  Be ready to defend any contested cards to the whole class.</a:t>
            </a:r>
          </a:p>
          <a:p>
            <a:pPr algn="l">
              <a:spcAft>
                <a:spcPts val="80"/>
              </a:spcAft>
            </a:pPr>
            <a:r>
              <a:rPr b="0" sz="1400">
                <a:solidFill>
                  <a:srgbClr val="2C3E50"/>
                </a:solidFill>
                <a:latin typeface="Calibri"/>
              </a:rPr>
              <a:t>4.  Apply the 'averaging test' to any variables you are unsure about.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Classify each variable (Categorical / Q. Discrete / Q. Continuous):
    a) Favorite music genre    b) Number of songs on a playlist
    c) Duration of longest song (min)    d) Country of birth    e) Noon temperature today</a:t>
            </a:r>
          </a:p>
          <a:p>
            <a:pPr algn="l">
              <a:spcAft>
                <a:spcPts val="100"/>
              </a:spcAft>
            </a:pPr>
            <a:r>
              <a:rPr b="0" sz="1500">
                <a:solidFill>
                  <a:srgbClr val="FFFFFF"/>
                </a:solidFill>
                <a:latin typeface="Calibri"/>
              </a:rPr>
              <a:t>2.  Explain why 'number of stars in a review (1–5)' is a debatable case.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1.3</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Representing a Categorical Variable with Tables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interpret frequency and relative frequency tables for a categorical variable. Students will explain why relative frequencies (not counts) are essential when comparing groups of different sizes (Big Idea: UNC — Skill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Who Really Has More Walkers?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School A: Bus 120, Car 80, Walk 40  (n=240)    School B: Bus 40, Car 60, Walk 100  (n=200)</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Which school has more walkers? (Using raw counts)</a:t>
            </a:r>
          </a:p>
          <a:p>
            <a:pPr algn="l">
              <a:buChar char="•"/>
              <a:spcAft>
                <a:spcPts val="70"/>
              </a:spcAft>
            </a:pPr>
            <a:r>
              <a:rPr b="0" sz="1400">
                <a:solidFill>
                  <a:srgbClr val="FFFFFF"/>
                </a:solidFill>
                <a:latin typeface="Calibri"/>
              </a:rPr>
              <a:t>Now compute the proportion who walk at each school. Does your answer change?</a:t>
            </a:r>
          </a:p>
          <a:p>
            <a:pPr algn="l">
              <a:buChar char="•"/>
              <a:spcAft>
                <a:spcPts val="70"/>
              </a:spcAft>
            </a:pPr>
            <a:r>
              <a:rPr b="0" sz="1400">
                <a:solidFill>
                  <a:srgbClr val="FFFFFF"/>
                </a:solidFill>
                <a:latin typeface="Calibri"/>
              </a:rPr>
              <a:t>→ Counts alone mislead when group sizes differ. Relative frequencies fix this.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Frequency</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The count of individuals in a category</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Relative frequency</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Frequency ÷ total; expressed as a proportion or percentage</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Frequency table</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Table listing each category and its count</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Rel. frequency table</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Table listing each category and its proportion</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Distribution (cat.)</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Set of possible values and their associated relative frequencies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Quick check</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Relative frequencies must sum to 1.00 — always verify this!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Building a Frequency / Relative Frequency Table</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List all categories in the first column.</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Tally raw data; record counts (frequencies) in column 2.</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Divide each count by total n → relative frequency in column 3.</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Verify: all relative frequencies sum to 1.00 (allow ±0.01 for rounding).</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Write interpretations in context: 'About 40% of School A students ride the bus…'</a:t>
            </a:r>
          </a:p>
        </p:txBody>
      </p:sp>
      <p:sp>
        <p:nvSpPr>
          <p:cNvPr id="19" name="TextBox 18"/>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AP tip: every sentence interpreting data must name the variable and population.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Construct a Frequency &amp; Relative Frequency Table</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Use the provided dataset: 30 individuals and their favorite sport (6 categories).</a:t>
            </a:r>
          </a:p>
          <a:p>
            <a:pPr algn="l">
              <a:spcAft>
                <a:spcPts val="80"/>
              </a:spcAft>
            </a:pPr>
            <a:r>
              <a:rPr b="0" sz="1400">
                <a:solidFill>
                  <a:srgbClr val="2C3E50"/>
                </a:solidFill>
                <a:latin typeface="Calibri"/>
              </a:rPr>
              <a:t>2.  Tally the data and build a complete frequency and relative frequency table.</a:t>
            </a:r>
          </a:p>
          <a:p>
            <a:pPr algn="l">
              <a:spcAft>
                <a:spcPts val="80"/>
              </a:spcAft>
            </a:pPr>
            <a:r>
              <a:rPr b="0" sz="1400">
                <a:solidFill>
                  <a:srgbClr val="2C3E50"/>
                </a:solidFill>
                <a:latin typeface="Calibri"/>
              </a:rPr>
              <a:t>3.  Verify your relative frequencies sum to 1.</a:t>
            </a:r>
          </a:p>
          <a:p>
            <a:pPr algn="l">
              <a:spcAft>
                <a:spcPts val="80"/>
              </a:spcAft>
            </a:pPr>
            <a:r>
              <a:rPr b="0" sz="1400">
                <a:solidFill>
                  <a:srgbClr val="2C3E50"/>
                </a:solidFill>
                <a:latin typeface="Calibri"/>
              </a:rPr>
              <a:t>4.  Write 2 sentences describing the distribution — name the most and least common category.</a:t>
            </a:r>
          </a:p>
          <a:p>
            <a:pPr algn="l">
              <a:spcAft>
                <a:spcPts val="80"/>
              </a:spcAft>
            </a:pPr>
            <a:r>
              <a:rPr b="0" sz="1400">
                <a:solidFill>
                  <a:srgbClr val="2C3E50"/>
                </a:solidFill>
                <a:latin typeface="Calibri"/>
              </a:rPr>
              <a:t>5.  Use context (the variable and population) in every sentence.</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Survey of 50 students: Library 18, Home 22, Café 6, Other 4.
    Complete the relative frequency column for this table.</a:t>
            </a:r>
          </a:p>
          <a:p>
            <a:pPr algn="l">
              <a:spcAft>
                <a:spcPts val="100"/>
              </a:spcAft>
            </a:pPr>
            <a:r>
              <a:rPr b="0" sz="1500">
                <a:solidFill>
                  <a:srgbClr val="FFFFFF"/>
                </a:solidFill>
                <a:latin typeface="Calibri"/>
              </a:rPr>
              <a:t>2.  Write one sentence describing the most common study location. Include the relative frequency.</a:t>
            </a:r>
          </a:p>
          <a:p>
            <a:pPr algn="l">
              <a:spcAft>
                <a:spcPts val="100"/>
              </a:spcAft>
            </a:pPr>
            <a:r>
              <a:rPr b="0" sz="1500">
                <a:solidFill>
                  <a:srgbClr val="FFFFFF"/>
                </a:solidFill>
                <a:latin typeface="Calibri"/>
              </a:rPr>
              <a:t>3.  Why use relative frequency (not count) when comparing this school to one with 200 students?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1.4</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Representing a Categorical Variable with Graphs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interpret bar charts and pie charts for categorical variables. Students will evaluate graphs for accuracy, identify misleading features, and explain when each graph type is most appropriate (Big Idea: UNC — Skill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These Graphs Are Lying to You</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Two published graphs showing the same data — very different visual impressions.</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What is wrong with each graph? Who benefits from displaying the data this way?</a:t>
            </a:r>
          </a:p>
          <a:p>
            <a:pPr algn="l">
              <a:buChar char="•"/>
              <a:spcAft>
                <a:spcPts val="70"/>
              </a:spcAft>
            </a:pPr>
            <a:r>
              <a:rPr b="0" sz="1400">
                <a:solidFill>
                  <a:srgbClr val="FFFFFF"/>
                </a:solidFill>
                <a:latin typeface="Calibri"/>
              </a:rPr>
              <a:t>Does a non-zero y-axis or a 3-D pie chart change the story?</a:t>
            </a:r>
          </a:p>
          <a:p>
            <a:pPr algn="l">
              <a:buChar char="•"/>
              <a:spcAft>
                <a:spcPts val="70"/>
              </a:spcAft>
            </a:pPr>
            <a:r>
              <a:rPr b="0" sz="1400">
                <a:solidFill>
                  <a:srgbClr val="FFFFFF"/>
                </a:solidFill>
                <a:latin typeface="Calibri"/>
              </a:rPr>
              <a:t>→ Graphs can mislead even when the underlying numbers are correct.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Bar chart</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Bars whose heights = frequencies or relative frequencies; bars do NOT touch</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Pie chart</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Circle divided into sectors proportional to relative frequencies</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Segmented bar chart</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Bars divided into segments showing composition by group (for comparison)</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Misleading graph</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Distorts differences via non-zero axis, 3-D effects, or unequal scales</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Key rule</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Bar chart bars never touch (categories separate). Histogram bars DO touch.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Constructing a Relative Frequency Bar Chart</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Draw a horizontal axis; label each category evenly spaced.</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Draw a vertical axis starting at 0; label it 'Relative Frequency' with tick marks.</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For each category, draw a bar to the correct relative frequency height.</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Leave a visible gap between bars — categories are separate, not continuous.</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Add a title that names the variable and the sample.</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Check: Would this graph mislead a reader? Does y-axis start at 0?</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AP requirement: every graph needs a title, labeled axes with units, and a scale.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Build a Bar Chart — Then Break It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relative frequency table (preferred streaming service, 5 categories), construct a labeled relative frequency bar chart.</a:t>
            </a:r>
          </a:p>
          <a:p>
            <a:pPr algn="l">
              <a:spcAft>
                <a:spcPts val="80"/>
              </a:spcAft>
            </a:pPr>
            <a:r>
              <a:rPr b="0" sz="1400">
                <a:solidFill>
                  <a:srgbClr val="2C3E50"/>
                </a:solidFill>
                <a:latin typeface="Calibri"/>
              </a:rPr>
              <a:t>2.  Write 2 sentences interpreting the distribution.</a:t>
            </a:r>
          </a:p>
          <a:p>
            <a:pPr algn="l">
              <a:spcAft>
                <a:spcPts val="80"/>
              </a:spcAft>
            </a:pPr>
            <a:r>
              <a:rPr b="0" sz="1400">
                <a:solidFill>
                  <a:srgbClr val="2C3E50"/>
                </a:solidFill>
                <a:latin typeface="Calibri"/>
              </a:rPr>
              <a:t>3.  Identify one change to the graph that would make it misleading. Explain why.</a:t>
            </a:r>
          </a:p>
          <a:p>
            <a:pPr algn="l">
              <a:spcAft>
                <a:spcPts val="80"/>
              </a:spcAft>
            </a:pPr>
            <a:r>
              <a:rPr b="0" sz="1400">
                <a:solidFill>
                  <a:srgbClr val="2C3E50"/>
                </a:solidFill>
                <a:latin typeface="Calibri"/>
              </a:rPr>
              <a:t>4.  Optional: compute sector angles (relative freq × 360°) and sketch a pie chart.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80 adults: News 32, Sports 20, Reality TV 16, Other 12.
    Sketch a completely labeled relative frequency bar chart.</a:t>
            </a:r>
          </a:p>
          <a:p>
            <a:pPr algn="l">
              <a:spcAft>
                <a:spcPts val="100"/>
              </a:spcAft>
            </a:pPr>
            <a:r>
              <a:rPr b="0" sz="1500">
                <a:solidFill>
                  <a:srgbClr val="FFFFFF"/>
                </a:solidFill>
                <a:latin typeface="Calibri"/>
              </a:rPr>
              <a:t>2.  Describe the distribution in one sentence with context.</a:t>
            </a:r>
          </a:p>
          <a:p>
            <a:pPr algn="l">
              <a:spcAft>
                <a:spcPts val="100"/>
              </a:spcAft>
            </a:pPr>
            <a:r>
              <a:rPr b="0" sz="1500">
                <a:solidFill>
                  <a:srgbClr val="FFFFFF"/>
                </a:solidFill>
                <a:latin typeface="Calibri"/>
              </a:rPr>
              <a:t>3.  Describe one way to redraw this graph to make one category look more dominant than it 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1.5</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Representing a Quantitative Variable with Graphs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interpret dotplots, stemplots, and histograms for quantitative data. Students will recognize that histogram bars touch (continuous data) and understand the trade-offs among the three displays (Big Idea: UNC — Skill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a:spAutoFit/>
          </a:bodyPr>
          <a:lstStyle/>
          <a:p>
            <a:pPr algn="l"/>
            <a:r>
              <a:rPr b="1" i="0" sz="1300">
                <a:solidFill>
                  <a:srgbClr val="1F3A5F"/>
                </a:solidFill>
                <a:latin typeface="Calibri"/>
              </a:rPr>
              <a:t>ACTIVATE PRIOR KNOWLEDGE</a:t>
            </a:r>
          </a:p>
        </p:txBody>
      </p:sp>
      <p:sp>
        <p:nvSpPr>
          <p:cNvPr id="4" name="TextBox 3"/>
          <p:cNvSpPr txBox="1"/>
          <p:nvPr/>
        </p:nvSpPr>
        <p:spPr>
          <a:xfrm>
            <a:off x="457200" y="1005840"/>
            <a:ext cx="8229600" cy="502920"/>
          </a:xfrm>
          <a:prstGeom prst="rect">
            <a:avLst/>
          </a:prstGeom>
          <a:noFill/>
        </p:spPr>
        <p:txBody>
          <a:bodyPr wrap="square">
            <a:spAutoFit/>
          </a:bodyPr>
          <a:lstStyle/>
          <a:p>
            <a:pPr algn="l"/>
            <a:r>
              <a:rPr b="1" i="0" sz="2000">
                <a:solidFill>
                  <a:srgbClr val="2C3E50"/>
                </a:solidFill>
                <a:latin typeface="Calibri"/>
              </a:rPr>
              <a:t>Quick Data Collection</a:t>
            </a:r>
          </a:p>
        </p:txBody>
      </p:sp>
      <p:sp>
        <p:nvSpPr>
          <p:cNvPr id="5" name="TextBox 4"/>
          <p:cNvSpPr txBox="1"/>
          <p:nvPr/>
        </p:nvSpPr>
        <p:spPr>
          <a:xfrm>
            <a:off x="640080" y="1600200"/>
            <a:ext cx="8046720" cy="3200400"/>
          </a:xfrm>
          <a:prstGeom prst="rect">
            <a:avLst/>
          </a:prstGeom>
          <a:noFill/>
        </p:spPr>
        <p:txBody>
          <a:bodyPr wrap="square">
            <a:spAutoFit/>
          </a:bodyPr>
          <a:lstStyle/>
          <a:p>
            <a:pPr algn="l">
              <a:buChar char="•"/>
              <a:spcAft>
                <a:spcPts val="80"/>
              </a:spcAft>
            </a:pPr>
            <a:r>
              <a:rPr b="0" sz="1500">
                <a:solidFill>
                  <a:srgbClr val="2C3E50"/>
                </a:solidFill>
                <a:latin typeface="Calibri"/>
              </a:rPr>
              <a:t>Write down: How many minutes did you sleep last night?</a:t>
            </a:r>
          </a:p>
          <a:p>
            <a:pPr algn="l">
              <a:buChar char="•"/>
              <a:spcAft>
                <a:spcPts val="80"/>
              </a:spcAft>
            </a:pPr>
            <a:r>
              <a:rPr b="0" sz="1500">
                <a:solidFill>
                  <a:srgbClr val="2C3E50"/>
                </a:solidFill>
                <a:latin typeface="Calibri"/>
              </a:rPr>
              <a:t>We will plot the whole class's data — notice the variation, a rough center, and any extremes.</a:t>
            </a:r>
          </a:p>
          <a:p>
            <a:pPr algn="l">
              <a:buChar char="•"/>
              <a:spcAft>
                <a:spcPts val="80"/>
              </a:spcAft>
            </a:pPr>
            <a:r>
              <a:rPr b="0" sz="1500">
                <a:solidFill>
                  <a:srgbClr val="2C3E50"/>
                </a:solidFill>
                <a:latin typeface="Calibri"/>
              </a:rPr>
              <a:t>Today's three graphs make those informal observations precise.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Dotplot</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Each value = a dot above a number line; shows every value; best for small n</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Stemplot</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Stems = leading digit(s); leaves = trailing digits; preserves every value; sortable</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Histogram</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Data grouped into equal-width bins; bar height = frequency or relative frequency; bars TOUCH</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Bin (interval)</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Equal-width grouping in a histogram; bin width is a judgment call</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Gap / Cluster</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Gap = range with no data.  Cluster = group of values appearing together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Histogram Construction Rules</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Choose equal-width bins that cover the full data range.</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Count values in each bin (use convention: left-endpoint included, right-endpoint excluded).</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Draw bars — bars MUST touch (continuous/ordered data, no gaps between bars).</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Label x-axis with variable name and bin boundaries; label y-axis 'Frequency' or 'Rel. Freq.'</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Add a descriptive title (variable + sample description).</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Try different bin widths — the apparent shape can change. Use judgment.</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Key difference from bar charts: histogram bars TOUCH because quantitative data is continuous.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Three Displays of the Same Dataset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dataset of 25 test scores (0–100), construct all three: dotplot, stemplot (stem = tens digit), histogram (bins of width 10).</a:t>
            </a:r>
          </a:p>
          <a:p>
            <a:pPr algn="l">
              <a:spcAft>
                <a:spcPts val="80"/>
              </a:spcAft>
            </a:pPr>
            <a:r>
              <a:rPr b="0" sz="1400">
                <a:solidFill>
                  <a:srgbClr val="2C3E50"/>
                </a:solidFill>
                <a:latin typeface="Calibri"/>
              </a:rPr>
              <a:t>2.  Compare: what does each display show that the others do not?</a:t>
            </a:r>
          </a:p>
          <a:p>
            <a:pPr algn="l">
              <a:spcAft>
                <a:spcPts val="80"/>
              </a:spcAft>
            </a:pPr>
            <a:r>
              <a:rPr b="0" sz="1400">
                <a:solidFill>
                  <a:srgbClr val="2C3E50"/>
                </a:solidFill>
                <a:latin typeface="Calibri"/>
              </a:rPr>
              <a:t>3.  Decide: which graph would be most useful for a teacher reviewing class performance? Justify.</a:t>
            </a:r>
          </a:p>
          <a:p>
            <a:pPr algn="l">
              <a:spcAft>
                <a:spcPts val="80"/>
              </a:spcAft>
            </a:pPr>
            <a:r>
              <a:rPr b="0" sz="1400">
                <a:solidFill>
                  <a:srgbClr val="2C3E50"/>
                </a:solidFill>
                <a:latin typeface="Calibri"/>
              </a:rPr>
              <a:t>4.  Identify approximate center and any gaps or clusters in each display.</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Data: 3, 7, 1, 5, 2, 8, 4, 6, 3, 10, 2, 5  (books read last year)
    Sketch a completely labeled dotplot.</a:t>
            </a:r>
          </a:p>
          <a:p>
            <a:pPr algn="l">
              <a:spcAft>
                <a:spcPts val="100"/>
              </a:spcAft>
            </a:pPr>
            <a:r>
              <a:rPr b="0" sz="1500">
                <a:solidFill>
                  <a:srgbClr val="FFFFFF"/>
                </a:solidFill>
                <a:latin typeface="Calibri"/>
              </a:rPr>
              <a:t>2.  Using bins 0–3, 4–7, 8–11 — sketch and label a histogram.</a:t>
            </a:r>
          </a:p>
          <a:p>
            <a:pPr algn="l">
              <a:spcAft>
                <a:spcPts val="100"/>
              </a:spcAft>
            </a:pPr>
            <a:r>
              <a:rPr b="0" sz="1500">
                <a:solidFill>
                  <a:srgbClr val="FFFFFF"/>
                </a:solidFill>
                <a:latin typeface="Calibri"/>
              </a:rPr>
              <a:t>3.  Which display would you choose if you had 200 data values instead of 12? Explain.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1.6</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Describing the Distribution of a Quantitative Variable</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describe the distribution of a quantitative variable using the SOCS framework: Shape, Outliers, Center, and Spread. Students will recognize common shapes and relate shape to real-world contexts (Big Idea: UNC — Skills 2 &amp; 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Two Histograms — One Word Each</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Histogram A: U.S. household incomes     Histogram B: Heights of adult women</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Describe each histogram in one word.</a:t>
            </a:r>
          </a:p>
          <a:p>
            <a:pPr algn="l">
              <a:buChar char="•"/>
              <a:spcAft>
                <a:spcPts val="70"/>
              </a:spcAft>
            </a:pPr>
            <a:r>
              <a:rPr b="0" sz="1400">
                <a:solidFill>
                  <a:srgbClr val="FFFFFF"/>
                </a:solidFill>
                <a:latin typeface="Calibri"/>
              </a:rPr>
              <a:t>Why does one cluster near the center and the other stretch far to the right?</a:t>
            </a:r>
          </a:p>
          <a:p>
            <a:pPr algn="l">
              <a:buChar char="•"/>
              <a:spcAft>
                <a:spcPts val="70"/>
              </a:spcAft>
            </a:pPr>
            <a:r>
              <a:rPr b="0" sz="1400">
                <a:solidFill>
                  <a:srgbClr val="FFFFFF"/>
                </a:solidFill>
                <a:latin typeface="Calibri"/>
              </a:rPr>
              <a:t>These shapes have names — and the shape changes which statistics are appropriate.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SOCS</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Shape · Outliers · Center · Spread — the complete AP framework for describing a distribution</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Symmetric</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Roughly mirror-image about center; mean ≈ median</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Skewed right</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Long tail toward high values; peak on left; mean &gt; median (income, prices)</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Skewed left</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Long tail toward low values; peak on right; mean &lt; median (exam scores near 100)</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Outlier</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An individual value far from the overall pattern — investigate, do NOT auto-remove</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Bimodal</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Two peaks — often signals two distinct subgroups in the data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Shape Gallery — Know These Five</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Symmetric (bell-shaped):</a:t>
            </a:r>
          </a:p>
          <a:p>
            <a:pPr algn="l">
              <a:buChar char="•"/>
              <a:spcAft>
                <a:spcPts val="70"/>
              </a:spcAft>
            </a:pPr>
            <a:r>
              <a:rPr b="0" sz="1400">
                <a:solidFill>
                  <a:srgbClr val="2C3E50"/>
                </a:solidFill>
                <a:latin typeface="Calibri"/>
              </a:rPr>
              <a:t>    Balanced peak; mean ≈ median — the 'ideal' for most statistical methods</a:t>
            </a:r>
          </a:p>
          <a:p>
            <a:pPr algn="l">
              <a:buChar char="•"/>
              <a:spcAft>
                <a:spcPts val="70"/>
              </a:spcAft>
            </a:pPr>
            <a:r>
              <a:rPr b="1" sz="1400">
                <a:solidFill>
                  <a:srgbClr val="2C3E50"/>
                </a:solidFill>
                <a:latin typeface="Calibri"/>
              </a:rPr>
              <a:t>Skewed right (positive skew):</a:t>
            </a:r>
          </a:p>
          <a:p>
            <a:pPr algn="l">
              <a:buChar char="•"/>
              <a:spcAft>
                <a:spcPts val="70"/>
              </a:spcAft>
            </a:pPr>
            <a:r>
              <a:rPr b="0" sz="1400">
                <a:solidFill>
                  <a:srgbClr val="2C3E50"/>
                </a:solidFill>
                <a:latin typeface="Calibri"/>
              </a:rPr>
              <a:t>    Peak on left; tail extends right; mean &gt; median</a:t>
            </a:r>
          </a:p>
          <a:p>
            <a:pPr algn="l">
              <a:buChar char="•"/>
              <a:spcAft>
                <a:spcPts val="70"/>
              </a:spcAft>
            </a:pPr>
            <a:r>
              <a:rPr b="1" sz="1400">
                <a:solidFill>
                  <a:srgbClr val="2C3E50"/>
                </a:solidFill>
                <a:latin typeface="Calibri"/>
              </a:rPr>
              <a:t>Skewed left (negative skew):</a:t>
            </a:r>
          </a:p>
          <a:p>
            <a:pPr algn="l">
              <a:buChar char="•"/>
              <a:spcAft>
                <a:spcPts val="70"/>
              </a:spcAft>
            </a:pPr>
            <a:r>
              <a:rPr b="0" sz="1400">
                <a:solidFill>
                  <a:srgbClr val="2C3E50"/>
                </a:solidFill>
                <a:latin typeface="Calibri"/>
              </a:rPr>
              <a:t>    Peak on right; tail extends left; mean &lt; median</a:t>
            </a:r>
          </a:p>
          <a:p>
            <a:pPr algn="l">
              <a:buChar char="•"/>
              <a:spcAft>
                <a:spcPts val="70"/>
              </a:spcAft>
            </a:pPr>
            <a:r>
              <a:rPr b="1" sz="1400">
                <a:solidFill>
                  <a:srgbClr val="2C3E50"/>
                </a:solidFill>
                <a:latin typeface="Calibri"/>
              </a:rPr>
              <a:t>Bimodal:</a:t>
            </a:r>
          </a:p>
          <a:p>
            <a:pPr algn="l">
              <a:buChar char="•"/>
              <a:spcAft>
                <a:spcPts val="70"/>
              </a:spcAft>
            </a:pPr>
            <a:r>
              <a:rPr b="0" sz="1400">
                <a:solidFill>
                  <a:srgbClr val="2C3E50"/>
                </a:solidFill>
                <a:latin typeface="Calibri"/>
              </a:rPr>
              <a:t>    Two peaks; suggests two distinct subgroups</a:t>
            </a:r>
          </a:p>
          <a:p>
            <a:pPr algn="l">
              <a:buChar char="•"/>
              <a:spcAft>
                <a:spcPts val="70"/>
              </a:spcAft>
            </a:pPr>
            <a:r>
              <a:rPr b="1" sz="1400">
                <a:solidFill>
                  <a:srgbClr val="2C3E50"/>
                </a:solidFill>
                <a:latin typeface="Calibri"/>
              </a:rPr>
              <a:t>Uniform:</a:t>
            </a:r>
          </a:p>
          <a:p>
            <a:pPr algn="l">
              <a:buChar char="•"/>
              <a:spcAft>
                <a:spcPts val="70"/>
              </a:spcAft>
            </a:pPr>
            <a:r>
              <a:rPr b="0" sz="1400">
                <a:solidFill>
                  <a:srgbClr val="2C3E50"/>
                </a:solidFill>
                <a:latin typeface="Calibri"/>
              </a:rPr>
              <a:t>    Roughly equal-height bars throughout; no dominant cluster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Writing a Complete SOCS Description — Model Response</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Histogram: distribution of U.S. household incomes</a:t>
            </a:r>
          </a:p>
          <a:p>
            <a:pPr algn="l">
              <a:buChar char="•"/>
              <a:spcAft>
                <a:spcPts val="70"/>
              </a:spcAft>
            </a:pPr>
            <a:r>
              <a:rPr b="0" sz="1400">
                <a:solidFill>
                  <a:srgbClr val="2C3E50"/>
                </a:solidFill>
                <a:latin typeface="Calibri"/>
              </a:rPr>
              <a:t/>
            </a:r>
          </a:p>
          <a:p>
            <a:pPr algn="l">
              <a:buChar char="•"/>
              <a:spcAft>
                <a:spcPts val="70"/>
              </a:spcAft>
            </a:pPr>
            <a:r>
              <a:rPr b="0" sz="1400">
                <a:solidFill>
                  <a:srgbClr val="2C3E50"/>
                </a:solidFill>
                <a:latin typeface="Calibri"/>
              </a:rPr>
              <a:t>SHAPE:    The distribution of household incomes is strongly skewed right.</a:t>
            </a:r>
          </a:p>
          <a:p>
            <a:pPr algn="l">
              <a:buChar char="•"/>
              <a:spcAft>
                <a:spcPts val="70"/>
              </a:spcAft>
            </a:pPr>
            <a:r>
              <a:rPr b="0" sz="1400">
                <a:solidFill>
                  <a:srgbClr val="2C3E50"/>
                </a:solidFill>
                <a:latin typeface="Calibri"/>
              </a:rPr>
              <a:t>OUTLIERS: Several households with incomes above $200,000 stand out from the overall pattern.</a:t>
            </a:r>
          </a:p>
          <a:p>
            <a:pPr algn="l">
              <a:buChar char="•"/>
              <a:spcAft>
                <a:spcPts val="70"/>
              </a:spcAft>
            </a:pPr>
            <a:r>
              <a:rPr b="0" sz="1400">
                <a:solidFill>
                  <a:srgbClr val="2C3E50"/>
                </a:solidFill>
                <a:latin typeface="Calibri"/>
              </a:rPr>
              <a:t>CENTER:   The distribution centers at approximately $55,000–$65,000.</a:t>
            </a:r>
          </a:p>
          <a:p>
            <a:pPr algn="l">
              <a:buChar char="•"/>
              <a:spcAft>
                <a:spcPts val="70"/>
              </a:spcAft>
            </a:pPr>
            <a:r>
              <a:rPr b="0" sz="1400">
                <a:solidFill>
                  <a:srgbClr val="2C3E50"/>
                </a:solidFill>
                <a:latin typeface="Calibri"/>
              </a:rPr>
              <a:t>SPREAD:   Incomes range from near $0 to over $250,000.</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AP rule: every sentence must name the variable and population.</a:t>
            </a:r>
          </a:p>
          <a:p>
            <a:pPr algn="l">
              <a:buChar char="•"/>
              <a:spcAft>
                <a:spcPts val="70"/>
              </a:spcAft>
            </a:pPr>
            <a:r>
              <a:rPr b="0" sz="1400">
                <a:solidFill>
                  <a:srgbClr val="2C3E50"/>
                </a:solidFill>
                <a:latin typeface="Calibri"/>
              </a:rPr>
              <a:t>Context in every sentence = full credit on the AP exam.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SOCS Description Gallery Rotation</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Each group receives a different histogram (ages at a concert / wait times / test scores).</a:t>
            </a:r>
          </a:p>
          <a:p>
            <a:pPr algn="l">
              <a:spcAft>
                <a:spcPts val="80"/>
              </a:spcAft>
            </a:pPr>
            <a:r>
              <a:rPr b="0" sz="1400">
                <a:solidFill>
                  <a:srgbClr val="2C3E50"/>
                </a:solidFill>
                <a:latin typeface="Calibri"/>
              </a:rPr>
              <a:t>2.  Write a complete SOCS description (4–6 sentences with context).</a:t>
            </a:r>
          </a:p>
          <a:p>
            <a:pPr algn="l">
              <a:spcAft>
                <a:spcPts val="80"/>
              </a:spcAft>
            </a:pPr>
            <a:r>
              <a:rPr b="0" sz="1400">
                <a:solidFill>
                  <a:srgbClr val="2C3E50"/>
                </a:solidFill>
                <a:latin typeface="Calibri"/>
              </a:rPr>
              <a:t>3.  Pass your description to the next group for peer review.</a:t>
            </a:r>
          </a:p>
          <a:p>
            <a:pPr algn="l">
              <a:spcAft>
                <a:spcPts val="80"/>
              </a:spcAft>
            </a:pPr>
            <a:r>
              <a:rPr b="0" sz="1400">
                <a:solidFill>
                  <a:srgbClr val="2C3E50"/>
                </a:solidFill>
                <a:latin typeface="Calibri"/>
              </a:rPr>
              <a:t>4.  Reviewer: check each sentence — is S, O, C, or S missing? Is context present? Mark it.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A dotplot shows commute times (minutes) for 20 workers.
    Write a complete SOCS description (4–6 sentences). Every sentence must include context.</a:t>
            </a:r>
          </a:p>
          <a:p>
            <a:pPr algn="l">
              <a:spcAft>
                <a:spcPts val="100"/>
              </a:spcAft>
            </a:pPr>
            <a:r>
              <a:rPr b="0" sz="1500">
                <a:solidFill>
                  <a:srgbClr val="FFFFFF"/>
                </a:solidFill>
                <a:latin typeface="Calibri"/>
              </a:rPr>
              <a:t>2.  Does 'skewed right' mean the peak is on the right side? Explain.</a:t>
            </a:r>
          </a:p>
          <a:p>
            <a:pPr algn="l">
              <a:spcAft>
                <a:spcPts val="100"/>
              </a:spcAft>
            </a:pPr>
            <a:r>
              <a:rPr b="0" sz="1500">
                <a:solidFill>
                  <a:srgbClr val="FFFFFF"/>
                </a:solidFill>
                <a:latin typeface="Calibri"/>
              </a:rPr>
              <a:t>3.  How would removing the two longest commutes change your SOCS description?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1.7</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Summary Statistics for a Quantitative Variable</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calculate and interpret the mean, median, range, IQR, and standard deviation. Students will select the appropriate measure of center and spread based on distribution shape, and will identify outliers using the 1.5 × IQR fence rule (Big Idea: UNC — Skills 2 &amp; 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What Is the 'Typical' Salary?</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Five friends' salaries:  $30,000   $32,000   $35,000   $38,000   $200,000</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Compute the mean. Does it represent a 'typical' person in this group?</a:t>
            </a:r>
          </a:p>
          <a:p>
            <a:pPr algn="l">
              <a:buChar char="•"/>
              <a:spcAft>
                <a:spcPts val="70"/>
              </a:spcAft>
            </a:pPr>
            <a:r>
              <a:rPr b="0" sz="1400">
                <a:solidFill>
                  <a:srgbClr val="FFFFFF"/>
                </a:solidFill>
                <a:latin typeface="Calibri"/>
              </a:rPr>
              <a:t>Compute the median. Which statistic is more representative here?</a:t>
            </a:r>
          </a:p>
          <a:p>
            <a:pPr algn="l">
              <a:buChar char="•"/>
              <a:spcAft>
                <a:spcPts val="70"/>
              </a:spcAft>
            </a:pPr>
            <a:r>
              <a:rPr b="0" sz="1400">
                <a:solidFill>
                  <a:srgbClr val="FFFFFF"/>
                </a:solidFill>
                <a:latin typeface="Calibri"/>
              </a:rPr>
              <a:t>→ One extreme value barely changes the median but dramatically shifts the mean.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Mean (x̄)</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Arithmetic average: Σxᵢ / n — NOT resistant to outliers</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Median (M)</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Middle value when sorted — resistant to outliers and skew</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IQR</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Q₃ − Q₁; contains the middle 50% of data; resistant</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Std. deviation sₓ</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Typical distance from the mean; uses n−1 (sample formula); NOT resistant</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Outlier fence</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Below Q₁ − 1.5·IQR  or  above Q₃ + 1.5·IQR → outlier</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Resistant statistic</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Not strongly affected by outliers: median and IQR are resistant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Choosing the Right Statistics</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Skewed distribution or outliers present:</a:t>
            </a:r>
          </a:p>
          <a:p>
            <a:pPr algn="l">
              <a:buChar char="•"/>
              <a:spcAft>
                <a:spcPts val="70"/>
              </a:spcAft>
            </a:pPr>
            <a:r>
              <a:rPr b="0" sz="1400">
                <a:solidFill>
                  <a:srgbClr val="2C3E50"/>
                </a:solidFill>
                <a:latin typeface="Calibri"/>
              </a:rPr>
              <a:t>    → Report MEDIAN as the measure of center</a:t>
            </a:r>
          </a:p>
          <a:p>
            <a:pPr algn="l">
              <a:buChar char="•"/>
              <a:spcAft>
                <a:spcPts val="70"/>
              </a:spcAft>
            </a:pPr>
            <a:r>
              <a:rPr b="0" sz="1400">
                <a:solidFill>
                  <a:srgbClr val="2C3E50"/>
                </a:solidFill>
                <a:latin typeface="Calibri"/>
              </a:rPr>
              <a:t>    → Report IQR as the measure of spread</a:t>
            </a:r>
          </a:p>
          <a:p>
            <a:pPr algn="l">
              <a:buChar char="•"/>
              <a:spcAft>
                <a:spcPts val="70"/>
              </a:spcAft>
            </a:pPr>
            <a:r>
              <a:rPr b="0" sz="1400">
                <a:solidFill>
                  <a:srgbClr val="2C3E50"/>
                </a:solidFill>
                <a:latin typeface="Calibri"/>
              </a:rPr>
              <a:t>    Reason: both are resistant — outliers don't distort them</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Roughly symmetric, no strong outliers:</a:t>
            </a:r>
          </a:p>
          <a:p>
            <a:pPr algn="l">
              <a:buChar char="•"/>
              <a:spcAft>
                <a:spcPts val="70"/>
              </a:spcAft>
            </a:pPr>
            <a:r>
              <a:rPr b="0" sz="1400">
                <a:solidFill>
                  <a:srgbClr val="2C3E50"/>
                </a:solidFill>
                <a:latin typeface="Calibri"/>
              </a:rPr>
              <a:t>    → Report MEAN as the measure of center</a:t>
            </a:r>
          </a:p>
          <a:p>
            <a:pPr algn="l">
              <a:buChar char="•"/>
              <a:spcAft>
                <a:spcPts val="70"/>
              </a:spcAft>
            </a:pPr>
            <a:r>
              <a:rPr b="0" sz="1400">
                <a:solidFill>
                  <a:srgbClr val="2C3E50"/>
                </a:solidFill>
                <a:latin typeface="Calibri"/>
              </a:rPr>
              <a:t>    → Report STANDARD DEVIATION as the measure of spread</a:t>
            </a:r>
          </a:p>
          <a:p>
            <a:pPr algn="l">
              <a:buChar char="•"/>
              <a:spcAft>
                <a:spcPts val="70"/>
              </a:spcAft>
            </a:pPr>
            <a:r>
              <a:rPr b="0" sz="1400">
                <a:solidFill>
                  <a:srgbClr val="2C3E50"/>
                </a:solidFill>
                <a:latin typeface="Calibri"/>
              </a:rPr>
              <a:t>    Reason: use all data values efficiently</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Memory hook:</a:t>
            </a:r>
          </a:p>
          <a:p>
            <a:pPr algn="l">
              <a:buChar char="•"/>
              <a:spcAft>
                <a:spcPts val="70"/>
              </a:spcAft>
            </a:pPr>
            <a:r>
              <a:rPr b="0" sz="1400">
                <a:solidFill>
                  <a:srgbClr val="2C3E50"/>
                </a:solidFill>
                <a:latin typeface="Calibri"/>
              </a:rPr>
              <a:t>    Skewed / Outliers → Median + IQR     |     Symmetric → Mean + SD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Outlier Fence Rule — Step by Step</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Sort the data. Find Q₁ (25th percentile) and Q₃ (75th percentile).</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Compute IQR = Q₃ − Q₁.</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Lower fence = Q₁ − 1.5 × IQR.</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Upper fence = Q₃ + 1.5 × IQR.</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Any value below the lower fence or above the upper fence is an outlier.</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Report and investigate — do NOT automatically delete outliers.</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Outliers are data points with a story. Investigate context before removing.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Full Summary Statistics Analysis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dataset of 12 lap times, calculate: mean, median, Q₁, Q₃, IQR, range.</a:t>
            </a:r>
          </a:p>
          <a:p>
            <a:pPr algn="l">
              <a:spcAft>
                <a:spcPts val="80"/>
              </a:spcAft>
            </a:pPr>
            <a:r>
              <a:rPr b="0" sz="1400">
                <a:solidFill>
                  <a:srgbClr val="2C3E50"/>
                </a:solidFill>
                <a:latin typeface="Calibri"/>
              </a:rPr>
              <a:t>2.  Apply the fence rule to check for outliers.</a:t>
            </a:r>
          </a:p>
          <a:p>
            <a:pPr algn="l">
              <a:spcAft>
                <a:spcPts val="80"/>
              </a:spcAft>
            </a:pPr>
            <a:r>
              <a:rPr b="0" sz="1400">
                <a:solidFill>
                  <a:srgbClr val="2C3E50"/>
                </a:solidFill>
                <a:latin typeface="Calibri"/>
              </a:rPr>
              <a:t>3.  Decide which pair (mean + SD  or  median + IQR) is more appropriate. Justify in writing.</a:t>
            </a:r>
          </a:p>
          <a:p>
            <a:pPr algn="l">
              <a:spcAft>
                <a:spcPts val="80"/>
              </a:spcAft>
            </a:pPr>
            <a:r>
              <a:rPr b="0" sz="1400">
                <a:solidFill>
                  <a:srgbClr val="2C3E50"/>
                </a:solidFill>
                <a:latin typeface="Calibri"/>
              </a:rPr>
              <a:t>4.  Write one sentence stating your chosen center and spread in context.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Dataset: 4, 7, 7, 9, 10, 13, 15, 30
    Find the mean, median, and IQR.</a:t>
            </a:r>
          </a:p>
          <a:p>
            <a:pPr algn="l">
              <a:spcAft>
                <a:spcPts val="100"/>
              </a:spcAft>
            </a:pPr>
            <a:r>
              <a:rPr b="0" sz="1500">
                <a:solidFill>
                  <a:srgbClr val="FFFFFF"/>
                </a:solidFill>
                <a:latin typeface="Calibri"/>
              </a:rPr>
              <a:t>2.  Use the 1.5 × IQR rule to determine if 30 is an outlier. Show all fence calculations.</a:t>
            </a:r>
          </a:p>
          <a:p>
            <a:pPr algn="l">
              <a:spcAft>
                <a:spcPts val="100"/>
              </a:spcAft>
            </a:pPr>
            <a:r>
              <a:rPr b="0" sz="1500">
                <a:solidFill>
                  <a:srgbClr val="FFFFFF"/>
                </a:solidFill>
                <a:latin typeface="Calibri"/>
              </a:rPr>
              <a:t>3.  Mean = 11.9 and Median = 9.5. What does this suggest about the shape? Explain.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1.8</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Graphical Representations of Summary Statistics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interpret boxplots (including modified boxplots with outliers shown as individual points) from the five-number summary. Students will compare what boxplots reveal and conceal relative to histograms (Big Idea: UNC — Skill 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What Can You Read From This Shape?</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[Display an unlabeled boxplot on the board]</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What does the box represent? What does the line inside the box represent?</a:t>
            </a:r>
          </a:p>
          <a:p>
            <a:pPr algn="l">
              <a:buChar char="•"/>
              <a:spcAft>
                <a:spcPts val="70"/>
              </a:spcAft>
            </a:pPr>
            <a:r>
              <a:rPr b="0" sz="1400">
                <a:solidFill>
                  <a:srgbClr val="FFFFFF"/>
                </a:solidFill>
                <a:latin typeface="Calibri"/>
              </a:rPr>
              <a:t>What do the whiskers represent?</a:t>
            </a:r>
          </a:p>
          <a:p>
            <a:pPr algn="l">
              <a:buChar char="•"/>
              <a:spcAft>
                <a:spcPts val="70"/>
              </a:spcAft>
            </a:pPr>
            <a:r>
              <a:rPr b="0" sz="1400">
                <a:solidFill>
                  <a:srgbClr val="FFFFFF"/>
                </a:solidFill>
                <a:latin typeface="Calibri"/>
              </a:rPr>
              <a:t>What CAN'T you see in a boxplot that you could see in a histogram?</a:t>
            </a:r>
          </a:p>
          <a:p>
            <a:pPr algn="l">
              <a:buChar char="•"/>
              <a:spcAft>
                <a:spcPts val="70"/>
              </a:spcAft>
            </a:pPr>
            <a:r>
              <a:rPr b="0" sz="1400">
                <a:solidFill>
                  <a:srgbClr val="FFFFFF"/>
                </a:solidFill>
                <a:latin typeface="Calibri"/>
              </a:rPr>
              <a:t>→ Boxplots efficiently display spread and the five-number summary; histograms reveal shape.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Five-number summary</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min,  Q₁,  Median,  Q₃,  max</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Boxplot</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Box spans Q₁ to Q₃; line at median; whiskers to min and max (regular version)</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Modified boxplot</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Whiskers extend to last NON-OUTLIER; outliers plotted as individual points (•)</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IQR box</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Central box; always spans the middle 50% of the data</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Fence</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Q₁ − 1.5·IQR (lower)  and  Q₃ + 1.5·IQR (upper)</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25th percentile</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 Q₁ (bottom of box); 50th = Median (line); 75th = Q₃ (top of box)</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Constructing a Modified Boxplot</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Compute the five-number summary: min, Q₁, Median, Q₃, max.</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Compute both fences: lower = Q₁ − 1.5·IQR, upper = Q₃ + 1.5·IQR.</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Identify any outliers (values beyond the fences).</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Draw a scaled number line. Mark Q₁, Median, Q₃ and draw the box.</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Extend whiskers: Q₁ → smallest non-outlier; Q₃ → largest non-outlier.</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Plot each outlier as an individual dot (•) beyond the whisker end.</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Key: whiskers end at ACTUAL DATA VALUES, not at the fence values.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Construct &amp; Describe a Modified Boxplot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dataset (15 values), calculate the five-number summary and check for outliers.</a:t>
            </a:r>
          </a:p>
          <a:p>
            <a:pPr algn="l">
              <a:spcAft>
                <a:spcPts val="80"/>
              </a:spcAft>
            </a:pPr>
            <a:r>
              <a:rPr b="0" sz="1400">
                <a:solidFill>
                  <a:srgbClr val="2C3E50"/>
                </a:solidFill>
                <a:latin typeface="Calibri"/>
              </a:rPr>
              <a:t>2.  Construct a modified boxplot with a ruler on the provided number line.</a:t>
            </a:r>
          </a:p>
          <a:p>
            <a:pPr algn="l">
              <a:spcAft>
                <a:spcPts val="80"/>
              </a:spcAft>
            </a:pPr>
            <a:r>
              <a:rPr b="0" sz="1400">
                <a:solidFill>
                  <a:srgbClr val="2C3E50"/>
                </a:solidFill>
                <a:latin typeface="Calibri"/>
              </a:rPr>
              <a:t>3.  Write a complete SOCS description based on the boxplot alone.</a:t>
            </a:r>
          </a:p>
          <a:p>
            <a:pPr algn="l">
              <a:spcAft>
                <a:spcPts val="80"/>
              </a:spcAft>
            </a:pPr>
            <a:r>
              <a:rPr b="0" sz="1400">
                <a:solidFill>
                  <a:srgbClr val="2C3E50"/>
                </a:solidFill>
                <a:latin typeface="Calibri"/>
              </a:rPr>
              <a:t>4.  Predict: what would a histogram of this data look like? Sketch your prediction.</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Five-number summary: min=10, Q₁=18, M=25, Q₃=34, max=60.  IQR = 16.
    Is 60 an outlier? Show the fence calculation.</a:t>
            </a:r>
          </a:p>
          <a:p>
            <a:pPr algn="l">
              <a:spcAft>
                <a:spcPts val="100"/>
              </a:spcAft>
            </a:pPr>
            <a:r>
              <a:rPr b="0" sz="1500">
                <a:solidFill>
                  <a:srgbClr val="FFFFFF"/>
                </a:solidFill>
                <a:latin typeface="Calibri"/>
              </a:rPr>
              <a:t>2.  Construct the modified boxplot for these values (sketch with labeled scale).</a:t>
            </a:r>
          </a:p>
          <a:p>
            <a:pPr algn="l">
              <a:spcAft>
                <a:spcPts val="100"/>
              </a:spcAft>
            </a:pPr>
            <a:r>
              <a:rPr b="0" sz="1500">
                <a:solidFill>
                  <a:srgbClr val="FFFFFF"/>
                </a:solidFill>
                <a:latin typeface="Calibri"/>
              </a:rPr>
              <a:t>3.  What percentage of the data always falls between Q₁ and Q₃? Why is this always true?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1.9</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Comparing Distributions of a Quantitative Variable</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compare distributions of a quantitative variable for two or more groups using parallel boxplots and back-to-back stemplots. Students will write AP-quality comparative statements using SOCS with explicit comparisons and full context (Big Idea: UNC — Skills 2 &amp; 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Did the Test-Prep Course Actually Help?</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ACT scores: Students who took a prep course vs. students who did not.</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Just looking at the two data lists — can you tell whether the course helped?</a:t>
            </a:r>
          </a:p>
          <a:p>
            <a:pPr algn="l">
              <a:buChar char="•"/>
              <a:spcAft>
                <a:spcPts val="70"/>
              </a:spcAft>
            </a:pPr>
            <a:r>
              <a:rPr b="0" sz="1400">
                <a:solidFill>
                  <a:srgbClr val="FFFFFF"/>
                </a:solidFill>
                <a:latin typeface="Calibri"/>
              </a:rPr>
              <a:t>What display would let you see the difference most clearly?</a:t>
            </a:r>
          </a:p>
          <a:p>
            <a:pPr algn="l">
              <a:buChar char="•"/>
              <a:spcAft>
                <a:spcPts val="70"/>
              </a:spcAft>
            </a:pPr>
            <a:r>
              <a:rPr b="0" sz="1400">
                <a:solidFill>
                  <a:srgbClr val="FFFFFF"/>
                </a:solidFill>
                <a:latin typeface="Calibri"/>
              </a:rPr>
              <a:t>What features would you compare? Center? Spread? Shape? Outliers?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AP Comparative Language — The Rules</a:t>
            </a:r>
          </a:p>
        </p:txBody>
      </p:sp>
      <p:sp>
        <p:nvSpPr>
          <p:cNvPr id="4" name="TextBox 3"/>
          <p:cNvSpPr txBox="1"/>
          <p:nvPr/>
        </p:nvSpPr>
        <p:spPr>
          <a:xfrm>
            <a:off x="457200" y="886968"/>
            <a:ext cx="3931920" cy="384048"/>
          </a:xfrm>
          <a:prstGeom prst="rect">
            <a:avLst/>
          </a:prstGeom>
          <a:noFill/>
        </p:spPr>
        <p:txBody>
          <a:bodyPr wrap="square">
            <a:spAutoFit/>
          </a:bodyPr>
          <a:lstStyle/>
          <a:p>
            <a:pPr algn="l"/>
            <a:r>
              <a:rPr b="1" i="0" sz="1300">
                <a:solidFill>
                  <a:srgbClr val="1F3A5F"/>
                </a:solidFill>
                <a:latin typeface="Calibri"/>
              </a:rPr>
              <a:t>❌  Non-example (no credit)</a:t>
            </a:r>
          </a:p>
        </p:txBody>
      </p:sp>
      <p:sp>
        <p:nvSpPr>
          <p:cNvPr id="5" name="TextBox 4"/>
          <p:cNvSpPr txBox="1"/>
          <p:nvPr/>
        </p:nvSpPr>
        <p:spPr>
          <a:xfrm>
            <a:off x="4754880" y="886968"/>
            <a:ext cx="3931920" cy="384048"/>
          </a:xfrm>
          <a:prstGeom prst="rect">
            <a:avLst/>
          </a:prstGeom>
          <a:noFill/>
        </p:spPr>
        <p:txBody>
          <a:bodyPr wrap="square">
            <a:spAutoFit/>
          </a:bodyPr>
          <a:lstStyle/>
          <a:p>
            <a:pPr algn="l"/>
            <a:r>
              <a:rPr b="1" i="0" sz="1300">
                <a:solidFill>
                  <a:srgbClr val="1F3A5F"/>
                </a:solidFill>
                <a:latin typeface="Calibri"/>
              </a:rPr>
              <a:t>✅  Full-credit example</a:t>
            </a:r>
          </a:p>
        </p:txBody>
      </p:sp>
      <p:sp>
        <p:nvSpPr>
          <p:cNvPr id="6" name="Rectangle 5"/>
          <p:cNvSpPr/>
          <p:nvPr/>
        </p:nvSpPr>
        <p:spPr>
          <a:xfrm>
            <a:off x="4462272" y="886968"/>
            <a:ext cx="36576" cy="3977639"/>
          </a:xfrm>
          <a:prstGeom prst="rect">
            <a:avLst/>
          </a:prstGeom>
          <a:solidFill>
            <a:srgbClr val="C5D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3886200" cy="3520440"/>
          </a:xfrm>
          <a:prstGeom prst="rect">
            <a:avLst/>
          </a:prstGeom>
          <a:noFill/>
        </p:spPr>
        <p:txBody>
          <a:bodyPr wrap="square">
            <a:spAutoFit/>
          </a:bodyPr>
          <a:lstStyle/>
          <a:p>
            <a:pPr algn="l">
              <a:buChar char="•"/>
              <a:spcAft>
                <a:spcPts val="70"/>
              </a:spcAft>
            </a:pPr>
            <a:r>
              <a:rPr b="0" sz="1300">
                <a:solidFill>
                  <a:srgbClr val="2C3E50"/>
                </a:solidFill>
                <a:latin typeface="Calibri"/>
              </a:rPr>
              <a:t>"Group A's median is 45."</a:t>
            </a:r>
          </a:p>
          <a:p>
            <a:pPr algn="l">
              <a:buChar char="•"/>
              <a:spcAft>
                <a:spcPts val="70"/>
              </a:spcAft>
            </a:pPr>
            <a:r>
              <a:rPr b="0" sz="1300">
                <a:solidFill>
                  <a:srgbClr val="2C3E50"/>
                </a:solidFill>
                <a:latin typeface="Calibri"/>
              </a:rPr>
              <a:t>"Group B has a standard deviation of 8."</a:t>
            </a:r>
          </a:p>
          <a:p>
            <a:pPr algn="l">
              <a:buChar char="•"/>
              <a:spcAft>
                <a:spcPts val="70"/>
              </a:spcAft>
            </a:pPr>
            <a:r>
              <a:rPr b="0" sz="1300">
                <a:solidFill>
                  <a:srgbClr val="2C3E50"/>
                </a:solidFill>
                <a:latin typeface="Calibri"/>
              </a:rPr>
              <a:t>"Group A is higher."</a:t>
            </a:r>
          </a:p>
          <a:p>
            <a:pPr algn="l">
              <a:buChar char="•"/>
              <a:spcAft>
                <a:spcPts val="70"/>
              </a:spcAft>
            </a:pPr>
            <a:r>
              <a:rPr b="0" sz="1300">
                <a:solidFill>
                  <a:srgbClr val="2C3E50"/>
                </a:solidFill>
                <a:latin typeface="Calibri"/>
              </a:rPr>
              <a:t>(Lists statistics separately without explicitly comparing groups)</a:t>
            </a:r>
          </a:p>
        </p:txBody>
      </p:sp>
      <p:sp>
        <p:nvSpPr>
          <p:cNvPr id="8" name="TextBox 7"/>
          <p:cNvSpPr txBox="1"/>
          <p:nvPr/>
        </p:nvSpPr>
        <p:spPr>
          <a:xfrm>
            <a:off x="4754880" y="1325880"/>
            <a:ext cx="3977639" cy="3520440"/>
          </a:xfrm>
          <a:prstGeom prst="rect">
            <a:avLst/>
          </a:prstGeom>
          <a:noFill/>
        </p:spPr>
        <p:txBody>
          <a:bodyPr wrap="square">
            <a:spAutoFit/>
          </a:bodyPr>
          <a:lstStyle/>
          <a:p>
            <a:pPr algn="l">
              <a:buChar char="•"/>
              <a:spcAft>
                <a:spcPts val="70"/>
              </a:spcAft>
            </a:pPr>
            <a:r>
              <a:rPr b="0" sz="1300">
                <a:solidFill>
                  <a:srgbClr val="2C3E50"/>
                </a:solidFill>
                <a:latin typeface="Calibri"/>
              </a:rPr>
              <a:t>"The median ACT score for students in the prep course (median = 25) was 4 points higher than for those who did not take the course (median = 21)."</a:t>
            </a:r>
          </a:p>
          <a:p>
            <a:pPr algn="l">
              <a:buChar char="•"/>
              <a:spcAft>
                <a:spcPts val="70"/>
              </a:spcAft>
            </a:pPr>
            <a:r>
              <a:rPr b="0" sz="1300">
                <a:solidFill>
                  <a:srgbClr val="2C3E50"/>
                </a:solidFill>
                <a:latin typeface="Calibri"/>
              </a:rPr>
              <a:t>"Both distributions are similarly shaped (roughly symmetric) but the prep-course group shows less variability (IQR = 3 vs. IQR = 6)."</a:t>
            </a:r>
          </a:p>
          <a:p>
            <a:pPr algn="l">
              <a:buChar char="•"/>
              <a:spcAft>
                <a:spcPts val="70"/>
              </a:spcAft>
            </a:pPr>
            <a:r>
              <a:rPr b="0" sz="1300">
                <a:solidFill>
                  <a:srgbClr val="2C3E50"/>
                </a:solidFill>
                <a:latin typeface="Calibri"/>
              </a:rPr>
              <a:t>(Explicit comparison + both groups named + context)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What to Compare — SOCS Applied to Two Groups</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Shape:</a:t>
            </a:r>
          </a:p>
          <a:p>
            <a:pPr algn="l">
              <a:buChar char="•"/>
              <a:spcAft>
                <a:spcPts val="70"/>
              </a:spcAft>
            </a:pPr>
            <a:r>
              <a:rPr b="0" sz="1400">
                <a:solidFill>
                  <a:srgbClr val="2C3E50"/>
                </a:solidFill>
                <a:latin typeface="Calibri"/>
              </a:rPr>
              <a:t>    Are both distributions similarly shaped, or is one more skewed?</a:t>
            </a:r>
          </a:p>
          <a:p>
            <a:pPr algn="l">
              <a:buChar char="•"/>
              <a:spcAft>
                <a:spcPts val="70"/>
              </a:spcAft>
            </a:pPr>
            <a:r>
              <a:rPr b="1" sz="1400">
                <a:solidFill>
                  <a:srgbClr val="2C3E50"/>
                </a:solidFill>
                <a:latin typeface="Calibri"/>
              </a:rPr>
              <a:t>Outliers:</a:t>
            </a:r>
          </a:p>
          <a:p>
            <a:pPr algn="l">
              <a:buChar char="•"/>
              <a:spcAft>
                <a:spcPts val="70"/>
              </a:spcAft>
            </a:pPr>
            <a:r>
              <a:rPr b="0" sz="1400">
                <a:solidFill>
                  <a:srgbClr val="2C3E50"/>
                </a:solidFill>
                <a:latin typeface="Calibri"/>
              </a:rPr>
              <a:t>    Does either group have outliers the other does not?</a:t>
            </a:r>
          </a:p>
          <a:p>
            <a:pPr algn="l">
              <a:buChar char="•"/>
              <a:spcAft>
                <a:spcPts val="70"/>
              </a:spcAft>
            </a:pPr>
            <a:r>
              <a:rPr b="1" sz="1400">
                <a:solidFill>
                  <a:srgbClr val="2C3E50"/>
                </a:solidFill>
                <a:latin typeface="Calibri"/>
              </a:rPr>
              <a:t>Center:</a:t>
            </a:r>
          </a:p>
          <a:p>
            <a:pPr algn="l">
              <a:buChar char="•"/>
              <a:spcAft>
                <a:spcPts val="70"/>
              </a:spcAft>
            </a:pPr>
            <a:r>
              <a:rPr b="0" sz="1400">
                <a:solidFill>
                  <a:srgbClr val="2C3E50"/>
                </a:solidFill>
                <a:latin typeface="Calibri"/>
              </a:rPr>
              <a:t>    Which group has a higher median (or mean)? By how much? Use specific numbers.</a:t>
            </a:r>
          </a:p>
          <a:p>
            <a:pPr algn="l">
              <a:buChar char="•"/>
              <a:spcAft>
                <a:spcPts val="70"/>
              </a:spcAft>
            </a:pPr>
            <a:r>
              <a:rPr b="1" sz="1400">
                <a:solidFill>
                  <a:srgbClr val="2C3E50"/>
                </a:solidFill>
                <a:latin typeface="Calibri"/>
              </a:rPr>
              <a:t>Spread:</a:t>
            </a:r>
          </a:p>
          <a:p>
            <a:pPr algn="l">
              <a:buChar char="•"/>
              <a:spcAft>
                <a:spcPts val="70"/>
              </a:spcAft>
            </a:pPr>
            <a:r>
              <a:rPr b="0" sz="1400">
                <a:solidFill>
                  <a:srgbClr val="2C3E50"/>
                </a:solidFill>
                <a:latin typeface="Calibri"/>
              </a:rPr>
              <a:t>    Which group is more variable? Compare IQR or SD with specific values.</a:t>
            </a:r>
          </a:p>
          <a:p>
            <a:pPr algn="l">
              <a:buChar char="•"/>
              <a:spcAft>
                <a:spcPts val="70"/>
              </a:spcAft>
            </a:pPr>
            <a:r>
              <a:rPr b="1" sz="1400">
                <a:solidFill>
                  <a:srgbClr val="2C3E50"/>
                </a:solidFill>
                <a:latin typeface="Calibri"/>
              </a:rPr>
              <a:t>Overlap:</a:t>
            </a:r>
          </a:p>
          <a:p>
            <a:pPr algn="l">
              <a:buChar char="•"/>
              <a:spcAft>
                <a:spcPts val="70"/>
              </a:spcAft>
            </a:pPr>
            <a:r>
              <a:rPr b="0" sz="1400">
                <a:solidFill>
                  <a:srgbClr val="2C3E50"/>
                </a:solidFill>
                <a:latin typeface="Calibri"/>
              </a:rPr>
              <a:t>    Do the distributions overlap substantially? Small overlap → stronger evidence of difference.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Parallel Boxplots — Athletes vs. Non-Athletes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 on hours of sleep for athletes vs. non-athletes, construct parallel boxplots on the SAME number line.</a:t>
            </a:r>
          </a:p>
          <a:p>
            <a:pPr algn="l">
              <a:spcAft>
                <a:spcPts val="80"/>
              </a:spcAft>
            </a:pPr>
            <a:r>
              <a:rPr b="0" sz="1400">
                <a:solidFill>
                  <a:srgbClr val="2C3E50"/>
                </a:solidFill>
                <a:latin typeface="Calibri"/>
              </a:rPr>
              <a:t>2.  Write a complete AP comparison (at least 4 sentences using explicit comparative language).</a:t>
            </a:r>
          </a:p>
          <a:p>
            <a:pPr algn="l">
              <a:spcAft>
                <a:spcPts val="80"/>
              </a:spcAft>
            </a:pPr>
            <a:r>
              <a:rPr b="0" sz="1400">
                <a:solidFill>
                  <a:srgbClr val="2C3E50"/>
                </a:solidFill>
                <a:latin typeface="Calibri"/>
              </a:rPr>
              <a:t>3.  Exchange with another group for peer review: check each sentence — does it compare BOTH groups? Include context?</a:t>
            </a:r>
          </a:p>
          <a:p>
            <a:pPr algn="l">
              <a:spcAft>
                <a:spcPts val="80"/>
              </a:spcAft>
            </a:pPr>
            <a:r>
              <a:rPr b="0" sz="1400">
                <a:solidFill>
                  <a:srgbClr val="2C3E50"/>
                </a:solidFill>
                <a:latin typeface="Calibri"/>
              </a:rPr>
              <a:t>4.  Mark any sentence missing comparative language or context.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Parallel boxplots show monthly rainfall for two cities.
    Write a 3–4 sentence comparison with explicit comparative language.</a:t>
            </a:r>
          </a:p>
          <a:p>
            <a:pPr algn="l">
              <a:spcAft>
                <a:spcPts val="100"/>
              </a:spcAft>
            </a:pPr>
            <a:r>
              <a:rPr b="0" sz="1500">
                <a:solidFill>
                  <a:srgbClr val="FFFFFF"/>
                </a:solidFill>
                <a:latin typeface="Calibri"/>
              </a:rPr>
              <a:t>2.  Your comparison must include: center comparison (with numbers), spread comparison, and any notable outliers or shape differences.</a:t>
            </a:r>
          </a:p>
          <a:p>
            <a:pPr algn="l">
              <a:spcAft>
                <a:spcPts val="100"/>
              </a:spcAft>
            </a:pPr>
            <a:r>
              <a:rPr b="0" sz="1500">
                <a:solidFill>
                  <a:srgbClr val="FFFFFF"/>
                </a:solidFill>
                <a:latin typeface="Calibri"/>
              </a:rPr>
              <a:t>3.  All sentences must name both cities and include the variable in context.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1.10</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The Normal Distribution</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1: Exploring One-Variable Data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describe Normal distribution properties, apply the 68–95–99.7 (Empirical) Rule, calculate and interpret z-scores, and use Normal tables or technology to find probabilities and percentiles. Students will assess whether a dataset is approximately Normal (Big Idea: VAR — Skills 2 &amp; 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How Common Is Your Height?</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Adult male heights are approximately Normal with mean 70 in. and SD 3 in.</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Without any calculation — what percentage of men are between 67 and 73 inches tall?</a:t>
            </a:r>
          </a:p>
          <a:p>
            <a:pPr algn="l">
              <a:buChar char="•"/>
              <a:spcAft>
                <a:spcPts val="70"/>
              </a:spcAft>
            </a:pPr>
            <a:r>
              <a:rPr b="0" sz="1400">
                <a:solidFill>
                  <a:srgbClr val="FFFFFF"/>
                </a:solidFill>
                <a:latin typeface="Calibri"/>
              </a:rPr>
              <a:t>What about between 64 and 76 inches?</a:t>
            </a:r>
          </a:p>
          <a:p>
            <a:pPr algn="l">
              <a:buChar char="•"/>
              <a:spcAft>
                <a:spcPts val="70"/>
              </a:spcAft>
            </a:pPr>
            <a:r>
              <a:rPr b="0" sz="1400">
                <a:solidFill>
                  <a:srgbClr val="FFFFFF"/>
                </a:solidFill>
                <a:latin typeface="Calibri"/>
              </a:rPr>
              <a:t>→ The Empirical Rule answers both questions in seconds if the distribution is Normal.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Normal distribution</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Symmetric, bell-shaped; described fully by mean μ and std. dev. σ; written N(μ, σ)</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68–95–99.7 Rule</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≈68% within 1σ, ≈95% within 2σ, ≈99.7% within 3σ of the mean</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z-score</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z = (x − μ) / σ ; number of SDs above (+) or below (−) the mean; unitless</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Standard Normal</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N(0, 1); all z-scores follow this; Table A gives P(Z &lt; z)</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Percentile</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Value at or below which a given proportion of the distribution falls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Assessing Normality</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Check: histogram (bell-shaped?) and Normal probability plot (roughly linear?)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The 68–95–99.7 (Empirical) Rule</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0" sz="1400">
                <a:solidFill>
                  <a:srgbClr val="2C3E50"/>
                </a:solidFill>
                <a:latin typeface="Calibri"/>
              </a:rPr>
              <a:t>For any Normal distribution N(μ, σ):</a:t>
            </a:r>
          </a:p>
          <a:p>
            <a:pPr algn="l">
              <a:buChar char="•"/>
              <a:spcAft>
                <a:spcPts val="70"/>
              </a:spcAft>
            </a:pPr>
            <a:r>
              <a:rPr b="0" sz="1400">
                <a:solidFill>
                  <a:srgbClr val="2C3E50"/>
                </a:solidFill>
                <a:latin typeface="Calibri"/>
              </a:rPr>
              <a:t/>
            </a:r>
          </a:p>
          <a:p>
            <a:pPr algn="l">
              <a:buChar char="•"/>
              <a:spcAft>
                <a:spcPts val="70"/>
              </a:spcAft>
            </a:pPr>
            <a:r>
              <a:rPr b="0" sz="1400">
                <a:solidFill>
                  <a:srgbClr val="2C3E50"/>
                </a:solidFill>
                <a:latin typeface="Calibri"/>
              </a:rPr>
              <a:t>    68% of values fall within  μ ± 1σ</a:t>
            </a:r>
          </a:p>
          <a:p>
            <a:pPr algn="l">
              <a:buChar char="•"/>
              <a:spcAft>
                <a:spcPts val="70"/>
              </a:spcAft>
            </a:pPr>
            <a:r>
              <a:rPr b="0" sz="1400">
                <a:solidFill>
                  <a:srgbClr val="2C3E50"/>
                </a:solidFill>
                <a:latin typeface="Calibri"/>
              </a:rPr>
              <a:t>    95% of values fall within  μ ± 2σ</a:t>
            </a:r>
          </a:p>
          <a:p>
            <a:pPr algn="l">
              <a:buChar char="•"/>
              <a:spcAft>
                <a:spcPts val="70"/>
              </a:spcAft>
            </a:pPr>
            <a:r>
              <a:rPr b="0" sz="1400">
                <a:solidFill>
                  <a:srgbClr val="2C3E50"/>
                </a:solidFill>
                <a:latin typeface="Calibri"/>
              </a:rPr>
              <a:t>    99.7% of values fall within  μ ± 3σ</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Example: Heights N(70, 3)</a:t>
            </a:r>
          </a:p>
          <a:p>
            <a:pPr algn="l">
              <a:buChar char="•"/>
              <a:spcAft>
                <a:spcPts val="70"/>
              </a:spcAft>
            </a:pPr>
            <a:r>
              <a:rPr b="0" sz="1400">
                <a:solidFill>
                  <a:srgbClr val="2C3E50"/>
                </a:solidFill>
                <a:latin typeface="Calibri"/>
              </a:rPr>
              <a:t>    68%: between 67 and 73 inches</a:t>
            </a:r>
          </a:p>
          <a:p>
            <a:pPr algn="l">
              <a:buChar char="•"/>
              <a:spcAft>
                <a:spcPts val="70"/>
              </a:spcAft>
            </a:pPr>
            <a:r>
              <a:rPr b="0" sz="1400">
                <a:solidFill>
                  <a:srgbClr val="2C3E50"/>
                </a:solidFill>
                <a:latin typeface="Calibri"/>
              </a:rPr>
              <a:t>    95%: between 64 and 76 inches</a:t>
            </a:r>
          </a:p>
          <a:p>
            <a:pPr algn="l">
              <a:buChar char="•"/>
              <a:spcAft>
                <a:spcPts val="70"/>
              </a:spcAft>
            </a:pPr>
            <a:r>
              <a:rPr b="0" sz="1400">
                <a:solidFill>
                  <a:srgbClr val="2C3E50"/>
                </a:solidFill>
                <a:latin typeface="Calibri"/>
              </a:rPr>
              <a:t>    99.7%: between 61 and 79 inches</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Always draw and shade the curve before computing!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Finding Probabilities with z-Scores and the Normal Table</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Identify μ and σ. Write out what you need: P(X &lt; ?), P(X &gt; ?), or P(a &lt; X &lt; b).</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Compute z = (x − μ) / σ  for each boundary value.</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Draw a Normal curve and SHADE the region of interest.</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Look up z in Table A (or use normalcdf) to find the area to the LEFT.</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Greater than: area = 1 − (table value).    Between: subtract smaller area from larger.</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State the answer in context: 'About ___% of [population] have [variable] [comparison] [value].'</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Calculator: normalcdf(low, high, μ, σ)   |   invNorm(area, μ, σ) for percentiles.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SAT Score Normal Distribution Analysis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SAT scores are approximately N(1060, 195). Find each of the following and show work:</a:t>
            </a:r>
          </a:p>
          <a:p>
            <a:pPr algn="l">
              <a:spcAft>
                <a:spcPts val="80"/>
              </a:spcAft>
            </a:pPr>
            <a:r>
              <a:rPr b="0" sz="1400">
                <a:solidFill>
                  <a:srgbClr val="2C3E50"/>
                </a:solidFill>
                <a:latin typeface="Calibri"/>
              </a:rPr>
              <a:t>2.  1. P(score &gt; 1255) using the Empirical Rule — state which rule applies.</a:t>
            </a:r>
          </a:p>
          <a:p>
            <a:pPr algn="l">
              <a:spcAft>
                <a:spcPts val="80"/>
              </a:spcAft>
            </a:pPr>
            <a:r>
              <a:rPr b="0" sz="1400">
                <a:solidFill>
                  <a:srgbClr val="2C3E50"/>
                </a:solidFill>
                <a:latin typeface="Calibri"/>
              </a:rPr>
              <a:t>3.  2. P(score &lt; 900) using a z-score and the Normal table.</a:t>
            </a:r>
          </a:p>
          <a:p>
            <a:pPr algn="l">
              <a:spcAft>
                <a:spcPts val="80"/>
              </a:spcAft>
            </a:pPr>
            <a:r>
              <a:rPr b="0" sz="1400">
                <a:solidFill>
                  <a:srgbClr val="2C3E50"/>
                </a:solidFill>
                <a:latin typeface="Calibri"/>
              </a:rPr>
              <a:t>4.  3. The score at the 90th percentile (inverse Normal — calculator or table).</a:t>
            </a:r>
          </a:p>
          <a:p>
            <a:pPr algn="l">
              <a:spcAft>
                <a:spcPts val="80"/>
              </a:spcAft>
            </a:pPr>
            <a:r>
              <a:rPr b="0" sz="1400">
                <a:solidFill>
                  <a:srgbClr val="2C3E50"/>
                </a:solidFill>
                <a:latin typeface="Calibri"/>
              </a:rPr>
              <a:t>5.  4. Is a score of 1500 unusually high? Justify with a z-score interpretation.</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 — draw and shade the Normal curve for EVERY problem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Adult female heights ~ N(65, 2.5) inches.
    a) Find the z-score for a woman who is 70 inches tall.
    b) What proportion of women are taller than 70 inches?</a:t>
            </a:r>
          </a:p>
          <a:p>
            <a:pPr algn="l">
              <a:spcAft>
                <a:spcPts val="100"/>
              </a:spcAft>
            </a:pPr>
            <a:r>
              <a:rPr b="0" sz="1500">
                <a:solidFill>
                  <a:srgbClr val="FFFFFF"/>
                </a:solidFill>
                <a:latin typeface="Calibri"/>
              </a:rPr>
              <a:t>2.  Find the height at the 25th percentile. Show all work.</a:t>
            </a:r>
          </a:p>
          <a:p>
            <a:pPr algn="l">
              <a:spcAft>
                <a:spcPts val="100"/>
              </a:spcAft>
            </a:pPr>
            <a:r>
              <a:rPr b="0" sz="1500">
                <a:solidFill>
                  <a:srgbClr val="FFFFFF"/>
                </a:solidFill>
                <a:latin typeface="Calibri"/>
              </a:rPr>
              <a:t>3.  A classmate says: 'If a histogram looks bell-shaped, the data must be exactly Normal.' Agree or disagree? Explain.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