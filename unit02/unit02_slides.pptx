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0" y="0"/>
            <a:ext cx="256032" cy="5143500"/>
          </a:xfrm>
          <a:prstGeom prst="rect">
            <a:avLst/>
          </a:prstGeom>
          <a:solidFill>
            <a:srgbClr val="D48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0"/>
            <a:ext cx="9144000" cy="1028700"/>
          </a:xfrm>
          <a:prstGeom prst="rect">
            <a:avLst/>
          </a:prstGeom>
          <a:solidFill>
            <a:srgbClr val="2E5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594360"/>
            <a:ext cx="8229600" cy="594360"/>
          </a:xfrm>
          <a:prstGeom prst="rect">
            <a:avLst/>
          </a:prstGeom>
          <a:noFill/>
        </p:spPr>
        <p:txBody>
          <a:bodyPr wrap="square">
            <a:spAutoFit/>
          </a:bodyPr>
          <a:lstStyle/>
          <a:p>
            <a:pPr algn="l"/>
            <a:r>
              <a:rPr b="1" i="0" sz="1600" spc="600">
                <a:solidFill>
                  <a:srgbClr val="D4820A"/>
                </a:solidFill>
                <a:latin typeface="Calibri"/>
              </a:rPr>
              <a:t>AP STATISTICS</a:t>
            </a:r>
          </a:p>
        </p:txBody>
      </p:sp>
      <p:sp>
        <p:nvSpPr>
          <p:cNvPr id="5" name="TextBox 4"/>
          <p:cNvSpPr txBox="1"/>
          <p:nvPr/>
        </p:nvSpPr>
        <p:spPr>
          <a:xfrm>
            <a:off x="502920" y="1234440"/>
            <a:ext cx="8229600" cy="777240"/>
          </a:xfrm>
          <a:prstGeom prst="rect">
            <a:avLst/>
          </a:prstGeom>
          <a:noFill/>
        </p:spPr>
        <p:txBody>
          <a:bodyPr wrap="square">
            <a:spAutoFit/>
          </a:bodyPr>
          <a:lstStyle/>
          <a:p>
            <a:pPr algn="l"/>
            <a:r>
              <a:rPr b="1" i="0" sz="4000">
                <a:solidFill>
                  <a:srgbClr val="FFFFFF"/>
                </a:solidFill>
                <a:latin typeface="Calibri"/>
              </a:rPr>
              <a:t>Unit 2</a:t>
            </a:r>
          </a:p>
        </p:txBody>
      </p:sp>
      <p:sp>
        <p:nvSpPr>
          <p:cNvPr id="6" name="TextBox 5"/>
          <p:cNvSpPr txBox="1"/>
          <p:nvPr/>
        </p:nvSpPr>
        <p:spPr>
          <a:xfrm>
            <a:off x="502920" y="2011680"/>
            <a:ext cx="8229600" cy="1600200"/>
          </a:xfrm>
          <a:prstGeom prst="rect">
            <a:avLst/>
          </a:prstGeom>
          <a:noFill/>
        </p:spPr>
        <p:txBody>
          <a:bodyPr wrap="square">
            <a:spAutoFit/>
          </a:bodyPr>
          <a:lstStyle/>
          <a:p>
            <a:pPr algn="l"/>
            <a:r>
              <a:rPr b="0" i="0" sz="3200">
                <a:solidFill>
                  <a:srgbClr val="C5DFF5"/>
                </a:solidFill>
                <a:latin typeface="Calibri"/>
              </a:rPr>
              <a:t>Exploring
Two-Variable Data</a:t>
            </a:r>
          </a:p>
        </p:txBody>
      </p:sp>
      <p:sp>
        <p:nvSpPr>
          <p:cNvPr id="7" name="TextBox 6"/>
          <p:cNvSpPr txBox="1"/>
          <p:nvPr/>
        </p:nvSpPr>
        <p:spPr>
          <a:xfrm>
            <a:off x="502920" y="4279392"/>
            <a:ext cx="8229600" cy="457200"/>
          </a:xfrm>
          <a:prstGeom prst="rect">
            <a:avLst/>
          </a:prstGeom>
          <a:noFill/>
        </p:spPr>
        <p:txBody>
          <a:bodyPr wrap="square">
            <a:spAutoFit/>
          </a:bodyPr>
          <a:lstStyle/>
          <a:p>
            <a:pPr algn="l"/>
            <a:r>
              <a:rPr b="0" i="0" sz="1200">
                <a:solidFill>
                  <a:srgbClr val="C5DFF5"/>
                </a:solidFill>
                <a:latin typeface="Calibri"/>
              </a:rPr>
              <a:t>5–7% of AP Exam  ·  9 Lessons  ·  10–11 Class Periods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0" y="0"/>
            <a:ext cx="164592" cy="5143500"/>
          </a:xfrm>
          <a:prstGeom prst="rect">
            <a:avLst/>
          </a:prstGeom>
          <a:solidFill>
            <a:srgbClr val="D48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188720"/>
            <a:ext cx="8412480" cy="548640"/>
          </a:xfrm>
          <a:prstGeom prst="rect">
            <a:avLst/>
          </a:prstGeom>
          <a:noFill/>
        </p:spPr>
        <p:txBody>
          <a:bodyPr wrap="square">
            <a:spAutoFit/>
          </a:bodyPr>
          <a:lstStyle/>
          <a:p>
            <a:pPr algn="l"/>
            <a:r>
              <a:rPr b="1" i="0" sz="1300" spc="500">
                <a:solidFill>
                  <a:srgbClr val="D4820A"/>
                </a:solidFill>
                <a:latin typeface="Calibri"/>
              </a:rPr>
              <a:t>LESSON 2.1</a:t>
            </a:r>
          </a:p>
        </p:txBody>
      </p:sp>
      <p:sp>
        <p:nvSpPr>
          <p:cNvPr id="4" name="TextBox 3"/>
          <p:cNvSpPr txBox="1"/>
          <p:nvPr/>
        </p:nvSpPr>
        <p:spPr>
          <a:xfrm>
            <a:off x="365760" y="1783080"/>
            <a:ext cx="8412480" cy="1828800"/>
          </a:xfrm>
          <a:prstGeom prst="rect">
            <a:avLst/>
          </a:prstGeom>
          <a:noFill/>
        </p:spPr>
        <p:txBody>
          <a:bodyPr wrap="square">
            <a:spAutoFit/>
          </a:bodyPr>
          <a:lstStyle/>
          <a:p>
            <a:pPr algn="l"/>
            <a:r>
              <a:rPr b="1" i="0" sz="3400">
                <a:solidFill>
                  <a:srgbClr val="FFFFFF"/>
                </a:solidFill>
                <a:latin typeface="Calibri"/>
              </a:rPr>
              <a:t>Introducing Statistics:
Are Variables Related?</a:t>
            </a:r>
          </a:p>
        </p:txBody>
      </p:sp>
      <p:sp>
        <p:nvSpPr>
          <p:cNvPr id="5" name="TextBox 4"/>
          <p:cNvSpPr txBox="1"/>
          <p:nvPr/>
        </p:nvSpPr>
        <p:spPr>
          <a:xfrm>
            <a:off x="365760" y="4434840"/>
            <a:ext cx="8412480" cy="457200"/>
          </a:xfrm>
          <a:prstGeom prst="rect">
            <a:avLst/>
          </a:prstGeom>
          <a:noFill/>
        </p:spPr>
        <p:txBody>
          <a:bodyPr wrap="square">
            <a:spAutoFit/>
          </a:bodyPr>
          <a:lstStyle/>
          <a:p>
            <a:pPr algn="l"/>
            <a:r>
              <a:rPr b="0" i="0" sz="1100">
                <a:solidFill>
                  <a:srgbClr val="C5DFF5"/>
                </a:solidFill>
                <a:latin typeface="Calibri"/>
              </a:rPr>
              <a:t>AP Statistics  ·  Unit 2: Exploring Two-Variable Data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AF3FB"/>
        </a:solidFill>
        <a:effectLst/>
      </p:bgPr>
    </p:bg>
    <p:spTree>
      <p:nvGrpSpPr>
        <p:cNvPr id="1" name=""/>
        <p:cNvGrpSpPr/>
        <p:nvPr/>
      </p:nvGrpSpPr>
      <p:grpSpPr/>
      <p:sp>
        <p:nvSpPr>
          <p:cNvPr id="2" name="Rectangle 1"/>
          <p:cNvSpPr/>
          <p:nvPr/>
        </p:nvSpPr>
        <p:spPr>
          <a:xfrm>
            <a:off x="457200" y="411480"/>
            <a:ext cx="8229600" cy="6400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21207"/>
            <a:ext cx="8229600" cy="365760"/>
          </a:xfrm>
          <a:prstGeom prst="rect">
            <a:avLst/>
          </a:prstGeom>
          <a:noFill/>
        </p:spPr>
        <p:txBody>
          <a:bodyPr wrap="square">
            <a:spAutoFit/>
          </a:bodyPr>
          <a:lstStyle/>
          <a:p>
            <a:pPr algn="l"/>
            <a:r>
              <a:rPr b="1" i="0" sz="1100" spc="400">
                <a:solidFill>
                  <a:srgbClr val="1F3A5F"/>
                </a:solidFill>
                <a:latin typeface="Calibri"/>
              </a:rPr>
              <a:t>PRIMARY OBJECTIVE</a:t>
            </a:r>
          </a:p>
        </p:txBody>
      </p:sp>
      <p:sp>
        <p:nvSpPr>
          <p:cNvPr id="4" name="TextBox 3"/>
          <p:cNvSpPr txBox="1"/>
          <p:nvPr/>
        </p:nvSpPr>
        <p:spPr>
          <a:xfrm>
            <a:off x="457200" y="960120"/>
            <a:ext cx="8229600" cy="3840480"/>
          </a:xfrm>
          <a:prstGeom prst="rect">
            <a:avLst/>
          </a:prstGeom>
          <a:noFill/>
        </p:spPr>
        <p:txBody>
          <a:bodyPr wrap="square">
            <a:spAutoFit/>
          </a:bodyPr>
          <a:lstStyle/>
          <a:p>
            <a:pPr algn="l"/>
            <a:r>
              <a:rPr b="0" i="0" sz="1700">
                <a:solidFill>
                  <a:srgbClr val="2C3E50"/>
                </a:solidFill>
                <a:latin typeface="Calibri"/>
              </a:rPr>
              <a:t>Students will recognize when two variables may be related and distinguish between explanatory and response variables. Students will understand that association does not imply causation, and will identify the correct display based on variable types (Big Idea: VAR — Skill 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A623"/>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D48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HOOK</a:t>
            </a:r>
          </a:p>
        </p:txBody>
      </p:sp>
      <p:sp>
        <p:nvSpPr>
          <p:cNvPr id="4" name="TextBox 3"/>
          <p:cNvSpPr txBox="1"/>
          <p:nvPr/>
        </p:nvSpPr>
        <p:spPr>
          <a:xfrm>
            <a:off x="457200" y="896112"/>
            <a:ext cx="8229600" cy="594360"/>
          </a:xfrm>
          <a:prstGeom prst="rect">
            <a:avLst/>
          </a:prstGeom>
          <a:noFill/>
        </p:spPr>
        <p:txBody>
          <a:bodyPr wrap="square">
            <a:spAutoFit/>
          </a:bodyPr>
          <a:lstStyle/>
          <a:p>
            <a:pPr algn="l"/>
            <a:r>
              <a:rPr b="1" i="0" sz="2000">
                <a:solidFill>
                  <a:srgbClr val="FFFFFF"/>
                </a:solidFill>
                <a:latin typeface="Calibri"/>
              </a:rPr>
              <a:t>"Counties with more fast-food restaurants have higher obesity rates."</a:t>
            </a:r>
          </a:p>
        </p:txBody>
      </p:sp>
      <p:sp>
        <p:nvSpPr>
          <p:cNvPr id="5" name="TextBox 4"/>
          <p:cNvSpPr txBox="1"/>
          <p:nvPr/>
        </p:nvSpPr>
        <p:spPr>
          <a:xfrm>
            <a:off x="457200" y="1554480"/>
            <a:ext cx="8229600" cy="685800"/>
          </a:xfrm>
          <a:prstGeom prst="rect">
            <a:avLst/>
          </a:prstGeom>
          <a:noFill/>
        </p:spPr>
        <p:txBody>
          <a:bodyPr wrap="square">
            <a:spAutoFit/>
          </a:bodyPr>
          <a:lstStyle/>
          <a:p>
            <a:pPr algn="l"/>
            <a:r>
              <a:rPr b="0" i="1" sz="1400">
                <a:solidFill>
                  <a:srgbClr val="C5DFF5"/>
                </a:solidFill>
                <a:latin typeface="Calibri"/>
              </a:rPr>
              <a:t>Observational study of 3,000+ U.S. counties</a:t>
            </a:r>
          </a:p>
        </p:txBody>
      </p:sp>
      <p:sp>
        <p:nvSpPr>
          <p:cNvPr id="6" name="TextBox 5"/>
          <p:cNvSpPr txBox="1"/>
          <p:nvPr/>
        </p:nvSpPr>
        <p:spPr>
          <a:xfrm>
            <a:off x="457200" y="2331720"/>
            <a:ext cx="8229600" cy="365760"/>
          </a:xfrm>
          <a:prstGeom prst="rect">
            <a:avLst/>
          </a:prstGeom>
          <a:noFill/>
        </p:spPr>
        <p:txBody>
          <a:bodyPr wrap="square">
            <a:spAutoFit/>
          </a:bodyPr>
          <a:lstStyle/>
          <a:p>
            <a:pPr algn="l"/>
            <a:r>
              <a:rPr b="1" i="0" sz="1300">
                <a:solidFill>
                  <a:srgbClr val="FFFFFF"/>
                </a:solidFill>
                <a:latin typeface="Calibri"/>
              </a:rPr>
              <a:t>Discussion questions:</a:t>
            </a:r>
          </a:p>
        </p:txBody>
      </p:sp>
      <p:sp>
        <p:nvSpPr>
          <p:cNvPr id="7" name="TextBox 6"/>
          <p:cNvSpPr txBox="1"/>
          <p:nvPr/>
        </p:nvSpPr>
        <p:spPr>
          <a:xfrm>
            <a:off x="640080" y="2743200"/>
            <a:ext cx="8046720" cy="2468880"/>
          </a:xfrm>
          <a:prstGeom prst="rect">
            <a:avLst/>
          </a:prstGeom>
          <a:noFill/>
        </p:spPr>
        <p:txBody>
          <a:bodyPr wrap="square">
            <a:spAutoFit/>
          </a:bodyPr>
          <a:lstStyle/>
          <a:p>
            <a:pPr algn="l">
              <a:buChar char="•"/>
              <a:spcAft>
                <a:spcPts val="70"/>
              </a:spcAft>
            </a:pPr>
            <a:r>
              <a:rPr b="0" sz="1400">
                <a:solidFill>
                  <a:srgbClr val="FFFFFF"/>
                </a:solidFill>
                <a:latin typeface="Calibri"/>
              </a:rPr>
              <a:t>Does this mean eating fast food causes obesity?</a:t>
            </a:r>
          </a:p>
          <a:p>
            <a:pPr algn="l">
              <a:buChar char="•"/>
              <a:spcAft>
                <a:spcPts val="70"/>
              </a:spcAft>
            </a:pPr>
            <a:r>
              <a:rPr b="0" sz="1400">
                <a:solidFill>
                  <a:srgbClr val="FFFFFF"/>
                </a:solidFill>
                <a:latin typeface="Calibri"/>
              </a:rPr>
              <a:t>What other explanations could account for this pattern?</a:t>
            </a:r>
          </a:p>
          <a:p>
            <a:pPr algn="l">
              <a:buChar char="•"/>
              <a:spcAft>
                <a:spcPts val="70"/>
              </a:spcAft>
            </a:pPr>
            <a:r>
              <a:rPr b="0" sz="1400">
                <a:solidFill>
                  <a:srgbClr val="FFFFFF"/>
                </a:solidFill>
                <a:latin typeface="Calibri"/>
              </a:rPr>
              <a:t>What information would you need to establish causation?</a:t>
            </a:r>
          </a:p>
          <a:p>
            <a:pPr algn="l">
              <a:buChar char="•"/>
              <a:spcAft>
                <a:spcPts val="70"/>
              </a:spcAft>
            </a:pPr>
            <a:r>
              <a:rPr b="0" sz="1400">
                <a:solidFill>
                  <a:srgbClr val="FFFFFF"/>
                </a:solidFill>
                <a:latin typeface="Calibri"/>
              </a:rPr>
              <a:t>→ This is the central challenge of observational statistics.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DF8F0"/>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2D7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VOCABULARY &amp; KEY CONCEPTS</a:t>
            </a:r>
          </a:p>
        </p:txBody>
      </p:sp>
      <p:sp>
        <p:nvSpPr>
          <p:cNvPr id="4" name="TextBox 3"/>
          <p:cNvSpPr txBox="1"/>
          <p:nvPr/>
        </p:nvSpPr>
        <p:spPr>
          <a:xfrm>
            <a:off x="365760" y="914400"/>
            <a:ext cx="4023360" cy="320040"/>
          </a:xfrm>
          <a:prstGeom prst="rect">
            <a:avLst/>
          </a:prstGeom>
          <a:noFill/>
        </p:spPr>
        <p:txBody>
          <a:bodyPr wrap="square">
            <a:spAutoFit/>
          </a:bodyPr>
          <a:lstStyle/>
          <a:p>
            <a:pPr algn="l"/>
            <a:r>
              <a:rPr b="1" i="0" sz="1200">
                <a:solidFill>
                  <a:srgbClr val="2D7A4F"/>
                </a:solidFill>
                <a:latin typeface="Calibri"/>
              </a:rPr>
              <a:t>Explanatory variable</a:t>
            </a:r>
          </a:p>
        </p:txBody>
      </p:sp>
      <p:sp>
        <p:nvSpPr>
          <p:cNvPr id="5" name="TextBox 4"/>
          <p:cNvSpPr txBox="1"/>
          <p:nvPr/>
        </p:nvSpPr>
        <p:spPr>
          <a:xfrm>
            <a:off x="365760" y="1216152"/>
            <a:ext cx="4023360" cy="530352"/>
          </a:xfrm>
          <a:prstGeom prst="rect">
            <a:avLst/>
          </a:prstGeom>
          <a:noFill/>
        </p:spPr>
        <p:txBody>
          <a:bodyPr wrap="square">
            <a:spAutoFit/>
          </a:bodyPr>
          <a:lstStyle/>
          <a:p>
            <a:pPr algn="l"/>
            <a:r>
              <a:rPr b="0" i="0" sz="1100">
                <a:solidFill>
                  <a:srgbClr val="2C3E50"/>
                </a:solidFill>
                <a:latin typeface="Calibri"/>
              </a:rPr>
              <a:t>Thought to explain or predict the response; goes on the x-axis</a:t>
            </a:r>
          </a:p>
        </p:txBody>
      </p:sp>
      <p:sp>
        <p:nvSpPr>
          <p:cNvPr id="6" name="TextBox 5"/>
          <p:cNvSpPr txBox="1"/>
          <p:nvPr/>
        </p:nvSpPr>
        <p:spPr>
          <a:xfrm>
            <a:off x="365760" y="1828800"/>
            <a:ext cx="4023360" cy="320040"/>
          </a:xfrm>
          <a:prstGeom prst="rect">
            <a:avLst/>
          </a:prstGeom>
          <a:noFill/>
        </p:spPr>
        <p:txBody>
          <a:bodyPr wrap="square">
            <a:spAutoFit/>
          </a:bodyPr>
          <a:lstStyle/>
          <a:p>
            <a:pPr algn="l"/>
            <a:r>
              <a:rPr b="1" i="0" sz="1200">
                <a:solidFill>
                  <a:srgbClr val="2D7A4F"/>
                </a:solidFill>
                <a:latin typeface="Calibri"/>
              </a:rPr>
              <a:t>Response variable</a:t>
            </a:r>
          </a:p>
        </p:txBody>
      </p:sp>
      <p:sp>
        <p:nvSpPr>
          <p:cNvPr id="7" name="TextBox 6"/>
          <p:cNvSpPr txBox="1"/>
          <p:nvPr/>
        </p:nvSpPr>
        <p:spPr>
          <a:xfrm>
            <a:off x="365760" y="2130552"/>
            <a:ext cx="4023360" cy="530352"/>
          </a:xfrm>
          <a:prstGeom prst="rect">
            <a:avLst/>
          </a:prstGeom>
          <a:noFill/>
        </p:spPr>
        <p:txBody>
          <a:bodyPr wrap="square">
            <a:spAutoFit/>
          </a:bodyPr>
          <a:lstStyle/>
          <a:p>
            <a:pPr algn="l"/>
            <a:r>
              <a:rPr b="0" i="0" sz="1100">
                <a:solidFill>
                  <a:srgbClr val="2C3E50"/>
                </a:solidFill>
                <a:latin typeface="Calibri"/>
              </a:rPr>
              <a:t>The outcome being measured; goes on the y-axis</a:t>
            </a:r>
          </a:p>
        </p:txBody>
      </p:sp>
      <p:sp>
        <p:nvSpPr>
          <p:cNvPr id="8" name="TextBox 7"/>
          <p:cNvSpPr txBox="1"/>
          <p:nvPr/>
        </p:nvSpPr>
        <p:spPr>
          <a:xfrm>
            <a:off x="365760" y="2743200"/>
            <a:ext cx="4023360" cy="320040"/>
          </a:xfrm>
          <a:prstGeom prst="rect">
            <a:avLst/>
          </a:prstGeom>
          <a:noFill/>
        </p:spPr>
        <p:txBody>
          <a:bodyPr wrap="square">
            <a:spAutoFit/>
          </a:bodyPr>
          <a:lstStyle/>
          <a:p>
            <a:pPr algn="l"/>
            <a:r>
              <a:rPr b="1" i="0" sz="1200">
                <a:solidFill>
                  <a:srgbClr val="2D7A4F"/>
                </a:solidFill>
                <a:latin typeface="Calibri"/>
              </a:rPr>
              <a:t>Association</a:t>
            </a:r>
          </a:p>
        </p:txBody>
      </p:sp>
      <p:sp>
        <p:nvSpPr>
          <p:cNvPr id="9" name="TextBox 8"/>
          <p:cNvSpPr txBox="1"/>
          <p:nvPr/>
        </p:nvSpPr>
        <p:spPr>
          <a:xfrm>
            <a:off x="365760" y="3044952"/>
            <a:ext cx="4023360" cy="530352"/>
          </a:xfrm>
          <a:prstGeom prst="rect">
            <a:avLst/>
          </a:prstGeom>
          <a:noFill/>
        </p:spPr>
        <p:txBody>
          <a:bodyPr wrap="square">
            <a:spAutoFit/>
          </a:bodyPr>
          <a:lstStyle/>
          <a:p>
            <a:pPr algn="l"/>
            <a:r>
              <a:rPr b="0" i="0" sz="1100">
                <a:solidFill>
                  <a:srgbClr val="2C3E50"/>
                </a:solidFill>
                <a:latin typeface="Calibri"/>
              </a:rPr>
              <a:t>Knowing the value of one variable gives information about the other</a:t>
            </a:r>
          </a:p>
        </p:txBody>
      </p:sp>
      <p:sp>
        <p:nvSpPr>
          <p:cNvPr id="10" name="TextBox 9"/>
          <p:cNvSpPr txBox="1"/>
          <p:nvPr/>
        </p:nvSpPr>
        <p:spPr>
          <a:xfrm>
            <a:off x="4754880" y="914400"/>
            <a:ext cx="4023360" cy="320040"/>
          </a:xfrm>
          <a:prstGeom prst="rect">
            <a:avLst/>
          </a:prstGeom>
          <a:noFill/>
        </p:spPr>
        <p:txBody>
          <a:bodyPr wrap="square">
            <a:spAutoFit/>
          </a:bodyPr>
          <a:lstStyle/>
          <a:p>
            <a:pPr algn="l"/>
            <a:r>
              <a:rPr b="1" i="0" sz="1200">
                <a:solidFill>
                  <a:srgbClr val="2D7A4F"/>
                </a:solidFill>
                <a:latin typeface="Calibri"/>
              </a:rPr>
              <a:t>Causation</a:t>
            </a:r>
          </a:p>
        </p:txBody>
      </p:sp>
      <p:sp>
        <p:nvSpPr>
          <p:cNvPr id="11" name="TextBox 10"/>
          <p:cNvSpPr txBox="1"/>
          <p:nvPr/>
        </p:nvSpPr>
        <p:spPr>
          <a:xfrm>
            <a:off x="4754880" y="1216152"/>
            <a:ext cx="4023360" cy="530352"/>
          </a:xfrm>
          <a:prstGeom prst="rect">
            <a:avLst/>
          </a:prstGeom>
          <a:noFill/>
        </p:spPr>
        <p:txBody>
          <a:bodyPr wrap="square">
            <a:spAutoFit/>
          </a:bodyPr>
          <a:lstStyle/>
          <a:p>
            <a:pPr algn="l"/>
            <a:r>
              <a:rPr b="0" i="0" sz="1100">
                <a:solidFill>
                  <a:srgbClr val="2C3E50"/>
                </a:solidFill>
                <a:latin typeface="Calibri"/>
              </a:rPr>
              <a:t>One variable directly produces a change in another; requires a controlled experiment</a:t>
            </a:r>
          </a:p>
        </p:txBody>
      </p:sp>
      <p:sp>
        <p:nvSpPr>
          <p:cNvPr id="12" name="TextBox 11"/>
          <p:cNvSpPr txBox="1"/>
          <p:nvPr/>
        </p:nvSpPr>
        <p:spPr>
          <a:xfrm>
            <a:off x="4754880" y="1828800"/>
            <a:ext cx="4023360" cy="320040"/>
          </a:xfrm>
          <a:prstGeom prst="rect">
            <a:avLst/>
          </a:prstGeom>
          <a:noFill/>
        </p:spPr>
        <p:txBody>
          <a:bodyPr wrap="square">
            <a:spAutoFit/>
          </a:bodyPr>
          <a:lstStyle/>
          <a:p>
            <a:pPr algn="l"/>
            <a:r>
              <a:rPr b="1" i="0" sz="1200">
                <a:solidFill>
                  <a:srgbClr val="2D7A4F"/>
                </a:solidFill>
                <a:latin typeface="Calibri"/>
              </a:rPr>
              <a:t>Confounding variable</a:t>
            </a:r>
          </a:p>
        </p:txBody>
      </p:sp>
      <p:sp>
        <p:nvSpPr>
          <p:cNvPr id="13" name="TextBox 12"/>
          <p:cNvSpPr txBox="1"/>
          <p:nvPr/>
        </p:nvSpPr>
        <p:spPr>
          <a:xfrm>
            <a:off x="4754880" y="2130552"/>
            <a:ext cx="4023360" cy="530352"/>
          </a:xfrm>
          <a:prstGeom prst="rect">
            <a:avLst/>
          </a:prstGeom>
          <a:noFill/>
        </p:spPr>
        <p:txBody>
          <a:bodyPr wrap="square">
            <a:spAutoFit/>
          </a:bodyPr>
          <a:lstStyle/>
          <a:p>
            <a:pPr algn="l"/>
            <a:r>
              <a:rPr b="0" i="0" sz="1100">
                <a:solidFill>
                  <a:srgbClr val="2C3E50"/>
                </a:solidFill>
                <a:latin typeface="Calibri"/>
              </a:rPr>
              <a:t>Related to both explanatory and response variables; can create misleading associations</a:t>
            </a:r>
          </a:p>
        </p:txBody>
      </p:sp>
      <p:sp>
        <p:nvSpPr>
          <p:cNvPr id="14" name="TextBox 13"/>
          <p:cNvSpPr txBox="1"/>
          <p:nvPr/>
        </p:nvSpPr>
        <p:spPr>
          <a:xfrm>
            <a:off x="4754880" y="2743200"/>
            <a:ext cx="4023360" cy="320040"/>
          </a:xfrm>
          <a:prstGeom prst="rect">
            <a:avLst/>
          </a:prstGeom>
          <a:noFill/>
        </p:spPr>
        <p:txBody>
          <a:bodyPr wrap="square">
            <a:spAutoFit/>
          </a:bodyPr>
          <a:lstStyle/>
          <a:p>
            <a:pPr algn="l"/>
            <a:r>
              <a:rPr b="1" i="0" sz="1200">
                <a:solidFill>
                  <a:srgbClr val="2D7A4F"/>
                </a:solidFill>
                <a:latin typeface="Calibri"/>
              </a:rPr>
              <a:t>Lurking variable</a:t>
            </a:r>
          </a:p>
        </p:txBody>
      </p:sp>
      <p:sp>
        <p:nvSpPr>
          <p:cNvPr id="15" name="TextBox 14"/>
          <p:cNvSpPr txBox="1"/>
          <p:nvPr/>
        </p:nvSpPr>
        <p:spPr>
          <a:xfrm>
            <a:off x="4754880" y="3044952"/>
            <a:ext cx="4023360" cy="530352"/>
          </a:xfrm>
          <a:prstGeom prst="rect">
            <a:avLst/>
          </a:prstGeom>
          <a:noFill/>
        </p:spPr>
        <p:txBody>
          <a:bodyPr wrap="square">
            <a:spAutoFit/>
          </a:bodyPr>
          <a:lstStyle/>
          <a:p>
            <a:pPr algn="l"/>
            <a:r>
              <a:rPr b="0" i="0" sz="1100">
                <a:solidFill>
                  <a:srgbClr val="2C3E50"/>
                </a:solidFill>
                <a:latin typeface="Calibri"/>
              </a:rPr>
              <a:t>An unmeasured variable that may explain an observed association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594360"/>
          </a:xfrm>
          <a:prstGeom prst="rect">
            <a:avLst/>
          </a:prstGeom>
          <a:noFill/>
        </p:spPr>
        <p:txBody>
          <a:bodyPr wrap="square">
            <a:spAutoFit/>
          </a:bodyPr>
          <a:lstStyle/>
          <a:p>
            <a:pPr algn="l"/>
            <a:r>
              <a:rPr b="1" i="0" sz="2000">
                <a:solidFill>
                  <a:srgbClr val="FFFFFF"/>
                </a:solidFill>
                <a:latin typeface="Calibri"/>
              </a:rPr>
              <a:t>Three Possible Explanations for an Association</a:t>
            </a:r>
          </a:p>
        </p:txBody>
      </p:sp>
      <p:sp>
        <p:nvSpPr>
          <p:cNvPr id="4" name="TextBox 3"/>
          <p:cNvSpPr txBox="1"/>
          <p:nvPr/>
        </p:nvSpPr>
        <p:spPr>
          <a:xfrm>
            <a:off x="457200" y="914400"/>
            <a:ext cx="8229600" cy="3931920"/>
          </a:xfrm>
          <a:prstGeom prst="rect">
            <a:avLst/>
          </a:prstGeom>
          <a:noFill/>
        </p:spPr>
        <p:txBody>
          <a:bodyPr wrap="square">
            <a:spAutoFit/>
          </a:bodyPr>
          <a:lstStyle/>
          <a:p>
            <a:pPr algn="l">
              <a:buChar char="•"/>
              <a:spcAft>
                <a:spcPts val="70"/>
              </a:spcAft>
            </a:pPr>
            <a:r>
              <a:rPr b="1" sz="1400">
                <a:solidFill>
                  <a:srgbClr val="2C3E50"/>
                </a:solidFill>
                <a:latin typeface="Calibri"/>
              </a:rPr>
              <a:t>1.  X causes Y</a:t>
            </a:r>
          </a:p>
          <a:p>
            <a:pPr algn="l">
              <a:buChar char="•"/>
              <a:spcAft>
                <a:spcPts val="70"/>
              </a:spcAft>
            </a:pPr>
            <a:r>
              <a:rPr b="0" sz="1400">
                <a:solidFill>
                  <a:srgbClr val="2C3E50"/>
                </a:solidFill>
                <a:latin typeface="Calibri"/>
              </a:rPr>
              <a:t>    Studying more hours directly causes higher exam scores</a:t>
            </a:r>
          </a:p>
          <a:p>
            <a:pPr algn="l">
              <a:buChar char="•"/>
              <a:spcAft>
                <a:spcPts val="70"/>
              </a:spcAft>
            </a:pPr>
            <a:r>
              <a:rPr b="1" sz="1400">
                <a:solidFill>
                  <a:srgbClr val="2C3E50"/>
                </a:solidFill>
                <a:latin typeface="Calibri"/>
              </a:rPr>
              <a:t>2.  Y causes X  (reverse causation)</a:t>
            </a:r>
          </a:p>
          <a:p>
            <a:pPr algn="l">
              <a:buChar char="•"/>
              <a:spcAft>
                <a:spcPts val="70"/>
              </a:spcAft>
            </a:pPr>
            <a:r>
              <a:rPr b="0" sz="1400">
                <a:solidFill>
                  <a:srgbClr val="2C3E50"/>
                </a:solidFill>
                <a:latin typeface="Calibri"/>
              </a:rPr>
              <a:t>    Students who get higher scores may study more to maintain them</a:t>
            </a:r>
          </a:p>
          <a:p>
            <a:pPr algn="l">
              <a:buChar char="•"/>
              <a:spcAft>
                <a:spcPts val="70"/>
              </a:spcAft>
            </a:pPr>
            <a:r>
              <a:rPr b="1" sz="1400">
                <a:solidFill>
                  <a:srgbClr val="2C3E50"/>
                </a:solidFill>
                <a:latin typeface="Calibri"/>
              </a:rPr>
              <a:t>3.  A third variable Z causes both X and Y</a:t>
            </a:r>
          </a:p>
          <a:p>
            <a:pPr algn="l">
              <a:buChar char="•"/>
              <a:spcAft>
                <a:spcPts val="70"/>
              </a:spcAft>
            </a:pPr>
            <a:r>
              <a:rPr b="0" sz="1400">
                <a:solidFill>
                  <a:srgbClr val="2C3E50"/>
                </a:solidFill>
                <a:latin typeface="Calibri"/>
              </a:rPr>
              <a:t>    Student motivation causes both more studying AND higher scores</a:t>
            </a:r>
          </a:p>
          <a:p>
            <a:pPr algn="l">
              <a:buChar char="•"/>
              <a:spcAft>
                <a:spcPts val="70"/>
              </a:spcAft>
            </a:pPr>
            <a:r>
              <a:rPr b="0" sz="1400">
                <a:solidFill>
                  <a:srgbClr val="2C3E50"/>
                </a:solidFill>
                <a:latin typeface="Calibri"/>
              </a:rPr>
              <a:t/>
            </a:r>
          </a:p>
          <a:p>
            <a:pPr algn="l">
              <a:buChar char="•"/>
              <a:spcAft>
                <a:spcPts val="70"/>
              </a:spcAft>
            </a:pPr>
            <a:r>
              <a:rPr b="1" sz="1400">
                <a:solidFill>
                  <a:srgbClr val="2C3E50"/>
                </a:solidFill>
                <a:latin typeface="Calibri"/>
              </a:rPr>
              <a:t>Association alone cannot tell us which explanation is correct.</a:t>
            </a:r>
          </a:p>
          <a:p>
            <a:pPr algn="l">
              <a:buChar char="•"/>
              <a:spcAft>
                <a:spcPts val="70"/>
              </a:spcAft>
            </a:pPr>
            <a:r>
              <a:rPr b="0" sz="1400">
                <a:solidFill>
                  <a:srgbClr val="2C3E50"/>
                </a:solidFill>
                <a:latin typeface="Calibri"/>
              </a:rPr>
              <a:t>    Only a well-designed experiment can establish causation.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594360"/>
          </a:xfrm>
          <a:prstGeom prst="rect">
            <a:avLst/>
          </a:prstGeom>
          <a:noFill/>
        </p:spPr>
        <p:txBody>
          <a:bodyPr wrap="square">
            <a:spAutoFit/>
          </a:bodyPr>
          <a:lstStyle/>
          <a:p>
            <a:pPr algn="l"/>
            <a:r>
              <a:rPr b="1" i="0" sz="2000">
                <a:solidFill>
                  <a:srgbClr val="FFFFFF"/>
                </a:solidFill>
                <a:latin typeface="Calibri"/>
              </a:rPr>
              <a:t>Choosing the Right Display by Variable Type</a:t>
            </a:r>
          </a:p>
        </p:txBody>
      </p:sp>
      <p:sp>
        <p:nvSpPr>
          <p:cNvPr id="4" name="TextBox 3"/>
          <p:cNvSpPr txBox="1"/>
          <p:nvPr/>
        </p:nvSpPr>
        <p:spPr>
          <a:xfrm>
            <a:off x="457200" y="914400"/>
            <a:ext cx="8229600" cy="3931920"/>
          </a:xfrm>
          <a:prstGeom prst="rect">
            <a:avLst/>
          </a:prstGeom>
          <a:noFill/>
        </p:spPr>
        <p:txBody>
          <a:bodyPr wrap="square">
            <a:spAutoFit/>
          </a:bodyPr>
          <a:lstStyle/>
          <a:p>
            <a:pPr algn="l">
              <a:buChar char="•"/>
              <a:spcAft>
                <a:spcPts val="70"/>
              </a:spcAft>
            </a:pPr>
            <a:r>
              <a:rPr b="1" sz="1400">
                <a:solidFill>
                  <a:srgbClr val="2C3E50"/>
                </a:solidFill>
                <a:latin typeface="Calibri"/>
              </a:rPr>
              <a:t>Both variables categorical:</a:t>
            </a:r>
          </a:p>
          <a:p>
            <a:pPr algn="l">
              <a:buChar char="•"/>
              <a:spcAft>
                <a:spcPts val="70"/>
              </a:spcAft>
            </a:pPr>
            <a:r>
              <a:rPr b="0" sz="1400">
                <a:solidFill>
                  <a:srgbClr val="2C3E50"/>
                </a:solidFill>
                <a:latin typeface="Calibri"/>
              </a:rPr>
              <a:t>    → Two-way table and segmented bar chart  (Lessons 2.2–2.3)</a:t>
            </a:r>
          </a:p>
          <a:p>
            <a:pPr algn="l">
              <a:buChar char="•"/>
              <a:spcAft>
                <a:spcPts val="70"/>
              </a:spcAft>
            </a:pPr>
            <a:r>
              <a:rPr b="1" sz="1400">
                <a:solidFill>
                  <a:srgbClr val="2C3E50"/>
                </a:solidFill>
                <a:latin typeface="Calibri"/>
              </a:rPr>
              <a:t>Explanatory categorical, response quantitative:</a:t>
            </a:r>
          </a:p>
          <a:p>
            <a:pPr algn="l">
              <a:buChar char="•"/>
              <a:spcAft>
                <a:spcPts val="70"/>
              </a:spcAft>
            </a:pPr>
            <a:r>
              <a:rPr b="0" sz="1400">
                <a:solidFill>
                  <a:srgbClr val="2C3E50"/>
                </a:solidFill>
                <a:latin typeface="Calibri"/>
              </a:rPr>
              <a:t>    → Parallel boxplots or back-to-back stemplots  (Unit 1, Lesson 1.9)</a:t>
            </a:r>
          </a:p>
          <a:p>
            <a:pPr algn="l">
              <a:buChar char="•"/>
              <a:spcAft>
                <a:spcPts val="70"/>
              </a:spcAft>
            </a:pPr>
            <a:r>
              <a:rPr b="1" sz="1400">
                <a:solidFill>
                  <a:srgbClr val="2C3E50"/>
                </a:solidFill>
                <a:latin typeface="Calibri"/>
              </a:rPr>
              <a:t>Both variables quantitative:</a:t>
            </a:r>
          </a:p>
          <a:p>
            <a:pPr algn="l">
              <a:buChar char="•"/>
              <a:spcAft>
                <a:spcPts val="70"/>
              </a:spcAft>
            </a:pPr>
            <a:r>
              <a:rPr b="0" sz="1400">
                <a:solidFill>
                  <a:srgbClr val="2C3E50"/>
                </a:solidFill>
                <a:latin typeface="Calibri"/>
              </a:rPr>
              <a:t>    → Scatterplot  (Lessons 2.4–2.9)</a:t>
            </a:r>
          </a:p>
          <a:p>
            <a:pPr algn="l">
              <a:buChar char="•"/>
              <a:spcAft>
                <a:spcPts val="70"/>
              </a:spcAft>
            </a:pPr>
            <a:r>
              <a:rPr b="0" sz="1400">
                <a:solidFill>
                  <a:srgbClr val="2C3E50"/>
                </a:solidFill>
                <a:latin typeface="Calibri"/>
              </a:rPr>
              <a:t/>
            </a:r>
          </a:p>
          <a:p>
            <a:pPr algn="l">
              <a:buChar char="•"/>
              <a:spcAft>
                <a:spcPts val="70"/>
              </a:spcAft>
            </a:pPr>
            <a:r>
              <a:rPr b="1" sz="1400">
                <a:solidFill>
                  <a:srgbClr val="2C3E50"/>
                </a:solidFill>
                <a:latin typeface="Calibri"/>
              </a:rPr>
              <a:t>Always identify variable types BEFORE choosing a display.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ECEC"/>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GROUP ACTIVITY</a:t>
            </a:r>
          </a:p>
        </p:txBody>
      </p:sp>
      <p:sp>
        <p:nvSpPr>
          <p:cNvPr id="4" name="TextBox 3"/>
          <p:cNvSpPr txBox="1"/>
          <p:nvPr/>
        </p:nvSpPr>
        <p:spPr>
          <a:xfrm>
            <a:off x="457200" y="896112"/>
            <a:ext cx="8229600" cy="566928"/>
          </a:xfrm>
          <a:prstGeom prst="rect">
            <a:avLst/>
          </a:prstGeom>
          <a:noFill/>
        </p:spPr>
        <p:txBody>
          <a:bodyPr wrap="square">
            <a:spAutoFit/>
          </a:bodyPr>
          <a:lstStyle/>
          <a:p>
            <a:pPr algn="l"/>
            <a:r>
              <a:rPr b="1" i="0" sz="1900">
                <a:solidFill>
                  <a:srgbClr val="2C3E50"/>
                </a:solidFill>
                <a:latin typeface="Calibri"/>
              </a:rPr>
              <a:t>Explanatory, Response, and Confounding Variables</a:t>
            </a:r>
          </a:p>
        </p:txBody>
      </p:sp>
      <p:sp>
        <p:nvSpPr>
          <p:cNvPr id="5" name="TextBox 4"/>
          <p:cNvSpPr txBox="1"/>
          <p:nvPr/>
        </p:nvSpPr>
        <p:spPr>
          <a:xfrm>
            <a:off x="548640" y="1554480"/>
            <a:ext cx="8046720" cy="2926080"/>
          </a:xfrm>
          <a:prstGeom prst="rect">
            <a:avLst/>
          </a:prstGeom>
          <a:noFill/>
        </p:spPr>
        <p:txBody>
          <a:bodyPr wrap="square">
            <a:spAutoFit/>
          </a:bodyPr>
          <a:lstStyle/>
          <a:p>
            <a:pPr algn="l">
              <a:spcAft>
                <a:spcPts val="80"/>
              </a:spcAft>
            </a:pPr>
            <a:r>
              <a:rPr b="0" sz="1400">
                <a:solidFill>
                  <a:srgbClr val="2C3E50"/>
                </a:solidFill>
                <a:latin typeface="Calibri"/>
              </a:rPr>
              <a:t>1.  Read each of the 5 study descriptions provided.</a:t>
            </a:r>
          </a:p>
          <a:p>
            <a:pPr algn="l">
              <a:spcAft>
                <a:spcPts val="80"/>
              </a:spcAft>
            </a:pPr>
            <a:r>
              <a:rPr b="0" sz="1400">
                <a:solidFill>
                  <a:srgbClr val="2C3E50"/>
                </a:solidFill>
                <a:latin typeface="Calibri"/>
              </a:rPr>
              <a:t>2.  For each: identify the explanatory variable (and type), response variable (and type), and appropriate display.</a:t>
            </a:r>
          </a:p>
          <a:p>
            <a:pPr algn="l">
              <a:spcAft>
                <a:spcPts val="80"/>
              </a:spcAft>
            </a:pPr>
            <a:r>
              <a:rPr b="0" sz="1400">
                <a:solidFill>
                  <a:srgbClr val="2C3E50"/>
                </a:solidFill>
                <a:latin typeface="Calibri"/>
              </a:rPr>
              <a:t>3.  Identify at least one possible confounding or lurking variable for each study.</a:t>
            </a:r>
          </a:p>
          <a:p>
            <a:pPr algn="l">
              <a:spcAft>
                <a:spcPts val="80"/>
              </a:spcAft>
            </a:pPr>
            <a:r>
              <a:rPr b="0" sz="1400">
                <a:solidFill>
                  <a:srgbClr val="2C3E50"/>
                </a:solidFill>
                <a:latin typeface="Calibri"/>
              </a:rPr>
              <a:t>4.  Gallery walk: post your group's responses and compare with other groups' answers.</a:t>
            </a:r>
          </a:p>
        </p:txBody>
      </p:sp>
      <p:sp>
        <p:nvSpPr>
          <p:cNvPr id="6" name="TextBox 5"/>
          <p:cNvSpPr txBox="1"/>
          <p:nvPr/>
        </p:nvSpPr>
        <p:spPr>
          <a:xfrm>
            <a:off x="457200" y="4754880"/>
            <a:ext cx="8229600" cy="320040"/>
          </a:xfrm>
          <a:prstGeom prst="rect">
            <a:avLst/>
          </a:prstGeom>
          <a:noFill/>
        </p:spPr>
        <p:txBody>
          <a:bodyPr wrap="square">
            <a:spAutoFit/>
          </a:bodyPr>
          <a:lstStyle/>
          <a:p>
            <a:pPr algn="l"/>
            <a:r>
              <a:rPr b="1" i="0" sz="1100">
                <a:solidFill>
                  <a:srgbClr val="C0392B"/>
                </a:solidFill>
                <a:latin typeface="Calibri"/>
              </a:rPr>
              <a:t>TIME: 8–10 minutes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2E5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spc="400">
                <a:solidFill>
                  <a:srgbClr val="F5A623"/>
                </a:solidFill>
                <a:latin typeface="Calibri"/>
              </a:rPr>
              <a:t>EXIT TICKET</a:t>
            </a:r>
          </a:p>
        </p:txBody>
      </p:sp>
      <p:sp>
        <p:nvSpPr>
          <p:cNvPr id="4" name="TextBox 3"/>
          <p:cNvSpPr txBox="1"/>
          <p:nvPr/>
        </p:nvSpPr>
        <p:spPr>
          <a:xfrm>
            <a:off x="548640" y="914400"/>
            <a:ext cx="8046720" cy="3931920"/>
          </a:xfrm>
          <a:prstGeom prst="rect">
            <a:avLst/>
          </a:prstGeom>
          <a:noFill/>
        </p:spPr>
        <p:txBody>
          <a:bodyPr wrap="square">
            <a:spAutoFit/>
          </a:bodyPr>
          <a:lstStyle/>
          <a:p>
            <a:pPr algn="l">
              <a:spcAft>
                <a:spcPts val="100"/>
              </a:spcAft>
            </a:pPr>
            <a:r>
              <a:rPr b="0" sz="1500">
                <a:solidFill>
                  <a:srgbClr val="FFFFFF"/>
                </a:solidFill>
                <a:latin typeface="Calibri"/>
              </a:rPr>
              <a:t>1.  Scenario: 'Researchers find that people who drink more coffee have fewer cavities.'
    a) Identify the explanatory and response variables.
    b) What type is each variable? What display is appropriate?</a:t>
            </a:r>
          </a:p>
          <a:p>
            <a:pPr algn="l">
              <a:spcAft>
                <a:spcPts val="100"/>
              </a:spcAft>
            </a:pPr>
            <a:r>
              <a:rPr b="0" sz="1500">
                <a:solidFill>
                  <a:srgbClr val="FFFFFF"/>
                </a:solidFill>
                <a:latin typeface="Calibri"/>
              </a:rPr>
              <a:t>2.  Give one possible confounding variable. Explain how it could create this association.</a:t>
            </a:r>
          </a:p>
          <a:p>
            <a:pPr algn="l">
              <a:spcAft>
                <a:spcPts val="100"/>
              </a:spcAft>
            </a:pPr>
            <a:r>
              <a:rPr b="0" sz="1500">
                <a:solidFill>
                  <a:srgbClr val="FFFFFF"/>
                </a:solidFill>
                <a:latin typeface="Calibri"/>
              </a:rPr>
              <a:t>3.  Does this study prove coffee prevents cavities? Explain using the three possible explanations.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0" y="0"/>
            <a:ext cx="164592" cy="5143500"/>
          </a:xfrm>
          <a:prstGeom prst="rect">
            <a:avLst/>
          </a:prstGeom>
          <a:solidFill>
            <a:srgbClr val="D48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188720"/>
            <a:ext cx="8412480" cy="548640"/>
          </a:xfrm>
          <a:prstGeom prst="rect">
            <a:avLst/>
          </a:prstGeom>
          <a:noFill/>
        </p:spPr>
        <p:txBody>
          <a:bodyPr wrap="square">
            <a:spAutoFit/>
          </a:bodyPr>
          <a:lstStyle/>
          <a:p>
            <a:pPr algn="l"/>
            <a:r>
              <a:rPr b="1" i="0" sz="1300" spc="500">
                <a:solidFill>
                  <a:srgbClr val="D4820A"/>
                </a:solidFill>
                <a:latin typeface="Calibri"/>
              </a:rPr>
              <a:t>LESSON 2.2</a:t>
            </a:r>
          </a:p>
        </p:txBody>
      </p:sp>
      <p:sp>
        <p:nvSpPr>
          <p:cNvPr id="4" name="TextBox 3"/>
          <p:cNvSpPr txBox="1"/>
          <p:nvPr/>
        </p:nvSpPr>
        <p:spPr>
          <a:xfrm>
            <a:off x="365760" y="1783080"/>
            <a:ext cx="8412480" cy="1828800"/>
          </a:xfrm>
          <a:prstGeom prst="rect">
            <a:avLst/>
          </a:prstGeom>
          <a:noFill/>
        </p:spPr>
        <p:txBody>
          <a:bodyPr wrap="square">
            <a:spAutoFit/>
          </a:bodyPr>
          <a:lstStyle/>
          <a:p>
            <a:pPr algn="l"/>
            <a:r>
              <a:rPr b="1" i="0" sz="3400">
                <a:solidFill>
                  <a:srgbClr val="FFFFFF"/>
                </a:solidFill>
                <a:latin typeface="Calibri"/>
              </a:rPr>
              <a:t>Representing Two Categorical Variables</a:t>
            </a:r>
          </a:p>
        </p:txBody>
      </p:sp>
      <p:sp>
        <p:nvSpPr>
          <p:cNvPr id="5" name="TextBox 4"/>
          <p:cNvSpPr txBox="1"/>
          <p:nvPr/>
        </p:nvSpPr>
        <p:spPr>
          <a:xfrm>
            <a:off x="365760" y="4434840"/>
            <a:ext cx="8412480" cy="457200"/>
          </a:xfrm>
          <a:prstGeom prst="rect">
            <a:avLst/>
          </a:prstGeom>
          <a:noFill/>
        </p:spPr>
        <p:txBody>
          <a:bodyPr wrap="square">
            <a:spAutoFit/>
          </a:bodyPr>
          <a:lstStyle/>
          <a:p>
            <a:pPr algn="l"/>
            <a:r>
              <a:rPr b="0" i="0" sz="1100">
                <a:solidFill>
                  <a:srgbClr val="C5DFF5"/>
                </a:solidFill>
                <a:latin typeface="Calibri"/>
              </a:rPr>
              <a:t>AP Statistics  ·  Unit 2: Exploring Two-Variable Data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AF3FB"/>
        </a:solidFill>
        <a:effectLst/>
      </p:bgPr>
    </p:bg>
    <p:spTree>
      <p:nvGrpSpPr>
        <p:cNvPr id="1" name=""/>
        <p:cNvGrpSpPr/>
        <p:nvPr/>
      </p:nvGrpSpPr>
      <p:grpSpPr/>
      <p:sp>
        <p:nvSpPr>
          <p:cNvPr id="2" name="Rectangle 1"/>
          <p:cNvSpPr/>
          <p:nvPr/>
        </p:nvSpPr>
        <p:spPr>
          <a:xfrm>
            <a:off x="457200" y="411480"/>
            <a:ext cx="8229600" cy="6400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21207"/>
            <a:ext cx="8229600" cy="365760"/>
          </a:xfrm>
          <a:prstGeom prst="rect">
            <a:avLst/>
          </a:prstGeom>
          <a:noFill/>
        </p:spPr>
        <p:txBody>
          <a:bodyPr wrap="square">
            <a:spAutoFit/>
          </a:bodyPr>
          <a:lstStyle/>
          <a:p>
            <a:pPr algn="l"/>
            <a:r>
              <a:rPr b="1" i="0" sz="1100" spc="400">
                <a:solidFill>
                  <a:srgbClr val="1F3A5F"/>
                </a:solidFill>
                <a:latin typeface="Calibri"/>
              </a:rPr>
              <a:t>PRIMARY OBJECTIVE</a:t>
            </a:r>
          </a:p>
        </p:txBody>
      </p:sp>
      <p:sp>
        <p:nvSpPr>
          <p:cNvPr id="4" name="TextBox 3"/>
          <p:cNvSpPr txBox="1"/>
          <p:nvPr/>
        </p:nvSpPr>
        <p:spPr>
          <a:xfrm>
            <a:off x="457200" y="960120"/>
            <a:ext cx="8229600" cy="3840480"/>
          </a:xfrm>
          <a:prstGeom prst="rect">
            <a:avLst/>
          </a:prstGeom>
          <a:noFill/>
        </p:spPr>
        <p:txBody>
          <a:bodyPr wrap="square">
            <a:spAutoFit/>
          </a:bodyPr>
          <a:lstStyle/>
          <a:p>
            <a:pPr algn="l"/>
            <a:r>
              <a:rPr b="0" i="0" sz="1700">
                <a:solidFill>
                  <a:srgbClr val="2C3E50"/>
                </a:solidFill>
                <a:latin typeface="Calibri"/>
              </a:rPr>
              <a:t>Students will construct and read two-way (contingency) tables and segmented bar charts for two categorical variables. Students will distinguish between joint, marginal, and conditional frequencies, and use these to explore association (Big Idea: UNC — Skill 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A623"/>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D48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HOOK</a:t>
            </a:r>
          </a:p>
        </p:txBody>
      </p:sp>
      <p:sp>
        <p:nvSpPr>
          <p:cNvPr id="4" name="TextBox 3"/>
          <p:cNvSpPr txBox="1"/>
          <p:nvPr/>
        </p:nvSpPr>
        <p:spPr>
          <a:xfrm>
            <a:off x="457200" y="896112"/>
            <a:ext cx="8229600" cy="594360"/>
          </a:xfrm>
          <a:prstGeom prst="rect">
            <a:avLst/>
          </a:prstGeom>
          <a:noFill/>
        </p:spPr>
        <p:txBody>
          <a:bodyPr wrap="square">
            <a:spAutoFit/>
          </a:bodyPr>
          <a:lstStyle/>
          <a:p>
            <a:pPr algn="l"/>
            <a:r>
              <a:rPr b="1" i="0" sz="2000">
                <a:solidFill>
                  <a:srgbClr val="FFFFFF"/>
                </a:solidFill>
                <a:latin typeface="Calibri"/>
              </a:rPr>
              <a:t>Do 10th Graders Have Jobs at a Higher Rate Than 9th Graders?</a:t>
            </a:r>
          </a:p>
        </p:txBody>
      </p:sp>
      <p:sp>
        <p:nvSpPr>
          <p:cNvPr id="5" name="TextBox 4"/>
          <p:cNvSpPr txBox="1"/>
          <p:nvPr/>
        </p:nvSpPr>
        <p:spPr>
          <a:xfrm>
            <a:off x="457200" y="1554480"/>
            <a:ext cx="8229600" cy="685800"/>
          </a:xfrm>
          <a:prstGeom prst="rect">
            <a:avLst/>
          </a:prstGeom>
          <a:noFill/>
        </p:spPr>
        <p:txBody>
          <a:bodyPr wrap="square">
            <a:spAutoFit/>
          </a:bodyPr>
          <a:lstStyle/>
          <a:p>
            <a:pPr algn="l"/>
            <a:r>
              <a:rPr b="0" i="1" sz="1400">
                <a:solidFill>
                  <a:srgbClr val="C5DFF5"/>
                </a:solidFill>
                <a:latin typeface="Calibri"/>
              </a:rPr>
              <a:t>Survey of 200 students: grade level (9th/10th) and whether they have a part-time job (Yes/No)</a:t>
            </a:r>
          </a:p>
        </p:txBody>
      </p:sp>
      <p:sp>
        <p:nvSpPr>
          <p:cNvPr id="6" name="TextBox 5"/>
          <p:cNvSpPr txBox="1"/>
          <p:nvPr/>
        </p:nvSpPr>
        <p:spPr>
          <a:xfrm>
            <a:off x="457200" y="2331720"/>
            <a:ext cx="8229600" cy="365760"/>
          </a:xfrm>
          <a:prstGeom prst="rect">
            <a:avLst/>
          </a:prstGeom>
          <a:noFill/>
        </p:spPr>
        <p:txBody>
          <a:bodyPr wrap="square">
            <a:spAutoFit/>
          </a:bodyPr>
          <a:lstStyle/>
          <a:p>
            <a:pPr algn="l"/>
            <a:r>
              <a:rPr b="1" i="0" sz="1300">
                <a:solidFill>
                  <a:srgbClr val="FFFFFF"/>
                </a:solidFill>
                <a:latin typeface="Calibri"/>
              </a:rPr>
              <a:t>Discussion questions:</a:t>
            </a:r>
          </a:p>
        </p:txBody>
      </p:sp>
      <p:sp>
        <p:nvSpPr>
          <p:cNvPr id="7" name="TextBox 6"/>
          <p:cNvSpPr txBox="1"/>
          <p:nvPr/>
        </p:nvSpPr>
        <p:spPr>
          <a:xfrm>
            <a:off x="640080" y="2743200"/>
            <a:ext cx="8046720" cy="2468880"/>
          </a:xfrm>
          <a:prstGeom prst="rect">
            <a:avLst/>
          </a:prstGeom>
          <a:noFill/>
        </p:spPr>
        <p:txBody>
          <a:bodyPr wrap="square">
            <a:spAutoFit/>
          </a:bodyPr>
          <a:lstStyle/>
          <a:p>
            <a:pPr algn="l">
              <a:buChar char="•"/>
              <a:spcAft>
                <a:spcPts val="70"/>
              </a:spcAft>
            </a:pPr>
            <a:r>
              <a:rPr b="0" sz="1400">
                <a:solidFill>
                  <a:srgbClr val="FFFFFF"/>
                </a:solidFill>
                <a:latin typeface="Calibri"/>
              </a:rPr>
              <a:t>Can you answer this just by looking at raw counts in a table?</a:t>
            </a:r>
          </a:p>
          <a:p>
            <a:pPr algn="l">
              <a:buChar char="•"/>
              <a:spcAft>
                <a:spcPts val="70"/>
              </a:spcAft>
            </a:pPr>
            <a:r>
              <a:rPr b="0" sz="1400">
                <a:solidFill>
                  <a:srgbClr val="FFFFFF"/>
                </a:solidFill>
                <a:latin typeface="Calibri"/>
              </a:rPr>
              <a:t>What would we need to compute to make a fair comparison?</a:t>
            </a:r>
          </a:p>
          <a:p>
            <a:pPr algn="l">
              <a:buChar char="•"/>
              <a:spcAft>
                <a:spcPts val="70"/>
              </a:spcAft>
            </a:pPr>
            <a:r>
              <a:rPr b="0" sz="1400">
                <a:solidFill>
                  <a:srgbClr val="FFFFFF"/>
                </a:solidFill>
                <a:latin typeface="Calibri"/>
              </a:rPr>
              <a:t>→ We need conditional relative frequencies — proportions within each grade level.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DF8F0"/>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2D7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VOCABULARY &amp; KEY CONCEPTS</a:t>
            </a:r>
          </a:p>
        </p:txBody>
      </p:sp>
      <p:sp>
        <p:nvSpPr>
          <p:cNvPr id="4" name="TextBox 3"/>
          <p:cNvSpPr txBox="1"/>
          <p:nvPr/>
        </p:nvSpPr>
        <p:spPr>
          <a:xfrm>
            <a:off x="365760" y="914400"/>
            <a:ext cx="4023360" cy="320040"/>
          </a:xfrm>
          <a:prstGeom prst="rect">
            <a:avLst/>
          </a:prstGeom>
          <a:noFill/>
        </p:spPr>
        <p:txBody>
          <a:bodyPr wrap="square">
            <a:spAutoFit/>
          </a:bodyPr>
          <a:lstStyle/>
          <a:p>
            <a:pPr algn="l"/>
            <a:r>
              <a:rPr b="1" i="0" sz="1200">
                <a:solidFill>
                  <a:srgbClr val="2D7A4F"/>
                </a:solidFill>
                <a:latin typeface="Calibri"/>
              </a:rPr>
              <a:t>Two-way table</a:t>
            </a:r>
          </a:p>
        </p:txBody>
      </p:sp>
      <p:sp>
        <p:nvSpPr>
          <p:cNvPr id="5" name="TextBox 4"/>
          <p:cNvSpPr txBox="1"/>
          <p:nvPr/>
        </p:nvSpPr>
        <p:spPr>
          <a:xfrm>
            <a:off x="365760" y="1216152"/>
            <a:ext cx="4023360" cy="530352"/>
          </a:xfrm>
          <a:prstGeom prst="rect">
            <a:avLst/>
          </a:prstGeom>
          <a:noFill/>
        </p:spPr>
        <p:txBody>
          <a:bodyPr wrap="square">
            <a:spAutoFit/>
          </a:bodyPr>
          <a:lstStyle/>
          <a:p>
            <a:pPr algn="l"/>
            <a:r>
              <a:rPr b="0" i="0" sz="1100">
                <a:solidFill>
                  <a:srgbClr val="2C3E50"/>
                </a:solidFill>
                <a:latin typeface="Calibri"/>
              </a:rPr>
              <a:t>Organizes counts for 2 categorical variables; rows = one variable, columns = the other</a:t>
            </a:r>
          </a:p>
        </p:txBody>
      </p:sp>
      <p:sp>
        <p:nvSpPr>
          <p:cNvPr id="6" name="TextBox 5"/>
          <p:cNvSpPr txBox="1"/>
          <p:nvPr/>
        </p:nvSpPr>
        <p:spPr>
          <a:xfrm>
            <a:off x="365760" y="1828800"/>
            <a:ext cx="4023360" cy="320040"/>
          </a:xfrm>
          <a:prstGeom prst="rect">
            <a:avLst/>
          </a:prstGeom>
          <a:noFill/>
        </p:spPr>
        <p:txBody>
          <a:bodyPr wrap="square">
            <a:spAutoFit/>
          </a:bodyPr>
          <a:lstStyle/>
          <a:p>
            <a:pPr algn="l"/>
            <a:r>
              <a:rPr b="1" i="0" sz="1200">
                <a:solidFill>
                  <a:srgbClr val="2D7A4F"/>
                </a:solidFill>
                <a:latin typeface="Calibri"/>
              </a:rPr>
              <a:t>Joint frequency</a:t>
            </a:r>
          </a:p>
        </p:txBody>
      </p:sp>
      <p:sp>
        <p:nvSpPr>
          <p:cNvPr id="7" name="TextBox 6"/>
          <p:cNvSpPr txBox="1"/>
          <p:nvPr/>
        </p:nvSpPr>
        <p:spPr>
          <a:xfrm>
            <a:off x="365760" y="2130552"/>
            <a:ext cx="4023360" cy="530352"/>
          </a:xfrm>
          <a:prstGeom prst="rect">
            <a:avLst/>
          </a:prstGeom>
          <a:noFill/>
        </p:spPr>
        <p:txBody>
          <a:bodyPr wrap="square">
            <a:spAutoFit/>
          </a:bodyPr>
          <a:lstStyle/>
          <a:p>
            <a:pPr algn="l"/>
            <a:r>
              <a:rPr b="0" i="0" sz="1100">
                <a:solidFill>
                  <a:srgbClr val="2C3E50"/>
                </a:solidFill>
                <a:latin typeface="Calibri"/>
              </a:rPr>
              <a:t>Count in a single cell; describes both variables simultaneously</a:t>
            </a:r>
          </a:p>
        </p:txBody>
      </p:sp>
      <p:sp>
        <p:nvSpPr>
          <p:cNvPr id="8" name="TextBox 7"/>
          <p:cNvSpPr txBox="1"/>
          <p:nvPr/>
        </p:nvSpPr>
        <p:spPr>
          <a:xfrm>
            <a:off x="365760" y="2743200"/>
            <a:ext cx="4023360" cy="320040"/>
          </a:xfrm>
          <a:prstGeom prst="rect">
            <a:avLst/>
          </a:prstGeom>
          <a:noFill/>
        </p:spPr>
        <p:txBody>
          <a:bodyPr wrap="square">
            <a:spAutoFit/>
          </a:bodyPr>
          <a:lstStyle/>
          <a:p>
            <a:pPr algn="l"/>
            <a:r>
              <a:rPr b="1" i="0" sz="1200">
                <a:solidFill>
                  <a:srgbClr val="2D7A4F"/>
                </a:solidFill>
                <a:latin typeface="Calibri"/>
              </a:rPr>
              <a:t>Marginal frequency</a:t>
            </a:r>
          </a:p>
        </p:txBody>
      </p:sp>
      <p:sp>
        <p:nvSpPr>
          <p:cNvPr id="9" name="TextBox 8"/>
          <p:cNvSpPr txBox="1"/>
          <p:nvPr/>
        </p:nvSpPr>
        <p:spPr>
          <a:xfrm>
            <a:off x="365760" y="3044952"/>
            <a:ext cx="4023360" cy="530352"/>
          </a:xfrm>
          <a:prstGeom prst="rect">
            <a:avLst/>
          </a:prstGeom>
          <a:noFill/>
        </p:spPr>
        <p:txBody>
          <a:bodyPr wrap="square">
            <a:spAutoFit/>
          </a:bodyPr>
          <a:lstStyle/>
          <a:p>
            <a:pPr algn="l"/>
            <a:r>
              <a:rPr b="0" i="0" sz="1100">
                <a:solidFill>
                  <a:srgbClr val="2C3E50"/>
                </a:solidFill>
                <a:latin typeface="Calibri"/>
              </a:rPr>
              <a:t>Row or column total; describes one variable ignoring the other</a:t>
            </a:r>
          </a:p>
        </p:txBody>
      </p:sp>
      <p:sp>
        <p:nvSpPr>
          <p:cNvPr id="10" name="TextBox 9"/>
          <p:cNvSpPr txBox="1"/>
          <p:nvPr/>
        </p:nvSpPr>
        <p:spPr>
          <a:xfrm>
            <a:off x="4754880" y="914400"/>
            <a:ext cx="4023360" cy="320040"/>
          </a:xfrm>
          <a:prstGeom prst="rect">
            <a:avLst/>
          </a:prstGeom>
          <a:noFill/>
        </p:spPr>
        <p:txBody>
          <a:bodyPr wrap="square">
            <a:spAutoFit/>
          </a:bodyPr>
          <a:lstStyle/>
          <a:p>
            <a:pPr algn="l"/>
            <a:r>
              <a:rPr b="1" i="0" sz="1200">
                <a:solidFill>
                  <a:srgbClr val="2D7A4F"/>
                </a:solidFill>
                <a:latin typeface="Calibri"/>
              </a:rPr>
              <a:t>Conditional rel. freq.</a:t>
            </a:r>
          </a:p>
        </p:txBody>
      </p:sp>
      <p:sp>
        <p:nvSpPr>
          <p:cNvPr id="11" name="TextBox 10"/>
          <p:cNvSpPr txBox="1"/>
          <p:nvPr/>
        </p:nvSpPr>
        <p:spPr>
          <a:xfrm>
            <a:off x="4754880" y="1216152"/>
            <a:ext cx="4023360" cy="530352"/>
          </a:xfrm>
          <a:prstGeom prst="rect">
            <a:avLst/>
          </a:prstGeom>
          <a:noFill/>
        </p:spPr>
        <p:txBody>
          <a:bodyPr wrap="square">
            <a:spAutoFit/>
          </a:bodyPr>
          <a:lstStyle/>
          <a:p>
            <a:pPr algn="l"/>
            <a:r>
              <a:rPr b="0" i="0" sz="1100">
                <a:solidFill>
                  <a:srgbClr val="2C3E50"/>
                </a:solidFill>
                <a:latin typeface="Calibri"/>
              </a:rPr>
              <a:t>Relative frequency for one variable GIVEN a specific value of the other</a:t>
            </a:r>
          </a:p>
        </p:txBody>
      </p:sp>
      <p:sp>
        <p:nvSpPr>
          <p:cNvPr id="12" name="TextBox 11"/>
          <p:cNvSpPr txBox="1"/>
          <p:nvPr/>
        </p:nvSpPr>
        <p:spPr>
          <a:xfrm>
            <a:off x="4754880" y="1828800"/>
            <a:ext cx="4023360" cy="320040"/>
          </a:xfrm>
          <a:prstGeom prst="rect">
            <a:avLst/>
          </a:prstGeom>
          <a:noFill/>
        </p:spPr>
        <p:txBody>
          <a:bodyPr wrap="square">
            <a:spAutoFit/>
          </a:bodyPr>
          <a:lstStyle/>
          <a:p>
            <a:pPr algn="l"/>
            <a:r>
              <a:rPr b="1" i="0" sz="1200">
                <a:solidFill>
                  <a:srgbClr val="2D7A4F"/>
                </a:solidFill>
                <a:latin typeface="Calibri"/>
              </a:rPr>
              <a:t>Segmented bar chart</a:t>
            </a:r>
          </a:p>
        </p:txBody>
      </p:sp>
      <p:sp>
        <p:nvSpPr>
          <p:cNvPr id="13" name="TextBox 12"/>
          <p:cNvSpPr txBox="1"/>
          <p:nvPr/>
        </p:nvSpPr>
        <p:spPr>
          <a:xfrm>
            <a:off x="4754880" y="2130552"/>
            <a:ext cx="4023360" cy="530352"/>
          </a:xfrm>
          <a:prstGeom prst="rect">
            <a:avLst/>
          </a:prstGeom>
          <a:noFill/>
        </p:spPr>
        <p:txBody>
          <a:bodyPr wrap="square">
            <a:spAutoFit/>
          </a:bodyPr>
          <a:lstStyle/>
          <a:p>
            <a:pPr algn="l"/>
            <a:r>
              <a:rPr b="0" i="0" sz="1100">
                <a:solidFill>
                  <a:srgbClr val="2C3E50"/>
                </a:solidFill>
                <a:latin typeface="Calibri"/>
              </a:rPr>
              <a:t>Each bar represents a group; divided into segments proportional to conditional relative frequencies</a:t>
            </a:r>
          </a:p>
        </p:txBody>
      </p:sp>
      <p:sp>
        <p:nvSpPr>
          <p:cNvPr id="14" name="TextBox 13"/>
          <p:cNvSpPr txBox="1"/>
          <p:nvPr/>
        </p:nvSpPr>
        <p:spPr>
          <a:xfrm>
            <a:off x="4754880" y="2743200"/>
            <a:ext cx="4023360" cy="320040"/>
          </a:xfrm>
          <a:prstGeom prst="rect">
            <a:avLst/>
          </a:prstGeom>
          <a:noFill/>
        </p:spPr>
        <p:txBody>
          <a:bodyPr wrap="square">
            <a:spAutoFit/>
          </a:bodyPr>
          <a:lstStyle/>
          <a:p>
            <a:pPr algn="l"/>
            <a:r>
              <a:rPr b="1" i="0" sz="1200">
                <a:solidFill>
                  <a:srgbClr val="2D7A4F"/>
                </a:solidFill>
                <a:latin typeface="Calibri"/>
              </a:rPr>
              <a:t>Association (cat.)</a:t>
            </a:r>
          </a:p>
        </p:txBody>
      </p:sp>
      <p:sp>
        <p:nvSpPr>
          <p:cNvPr id="15" name="TextBox 14"/>
          <p:cNvSpPr txBox="1"/>
          <p:nvPr/>
        </p:nvSpPr>
        <p:spPr>
          <a:xfrm>
            <a:off x="4754880" y="3044952"/>
            <a:ext cx="4023360" cy="530352"/>
          </a:xfrm>
          <a:prstGeom prst="rect">
            <a:avLst/>
          </a:prstGeom>
          <a:noFill/>
        </p:spPr>
        <p:txBody>
          <a:bodyPr wrap="square">
            <a:spAutoFit/>
          </a:bodyPr>
          <a:lstStyle/>
          <a:p>
            <a:pPr algn="l"/>
            <a:r>
              <a:rPr b="0" i="0" sz="1100">
                <a:solidFill>
                  <a:srgbClr val="2C3E50"/>
                </a:solidFill>
                <a:latin typeface="Calibri"/>
              </a:rPr>
              <a:t>If conditional distributions DIFFER across groups, the two variables are associated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594360"/>
          </a:xfrm>
          <a:prstGeom prst="rect">
            <a:avLst/>
          </a:prstGeom>
          <a:noFill/>
        </p:spPr>
        <p:txBody>
          <a:bodyPr wrap="square">
            <a:spAutoFit/>
          </a:bodyPr>
          <a:lstStyle/>
          <a:p>
            <a:pPr algn="l"/>
            <a:r>
              <a:rPr b="1" i="0" sz="2000">
                <a:solidFill>
                  <a:srgbClr val="FFFFFF"/>
                </a:solidFill>
                <a:latin typeface="Calibri"/>
              </a:rPr>
              <a:t>Computing Conditional Relative Frequencies</a:t>
            </a:r>
          </a:p>
        </p:txBody>
      </p:sp>
      <p:sp>
        <p:nvSpPr>
          <p:cNvPr id="4" name="Rectangle 3"/>
          <p:cNvSpPr/>
          <p:nvPr/>
        </p:nvSpPr>
        <p:spPr>
          <a:xfrm>
            <a:off x="320040" y="932688"/>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50976"/>
            <a:ext cx="347472" cy="310896"/>
          </a:xfrm>
          <a:prstGeom prst="rect">
            <a:avLst/>
          </a:prstGeom>
          <a:noFill/>
        </p:spPr>
        <p:txBody>
          <a:bodyPr wrap="square">
            <a:spAutoFit/>
          </a:bodyPr>
          <a:lstStyle/>
          <a:p>
            <a:pPr algn="ctr"/>
            <a:r>
              <a:rPr b="1" i="0" sz="1200">
                <a:solidFill>
                  <a:srgbClr val="FFFFFF"/>
                </a:solidFill>
                <a:latin typeface="Calibri"/>
              </a:rPr>
              <a:t>1</a:t>
            </a:r>
          </a:p>
        </p:txBody>
      </p:sp>
      <p:sp>
        <p:nvSpPr>
          <p:cNvPr id="6" name="TextBox 5"/>
          <p:cNvSpPr txBox="1"/>
          <p:nvPr/>
        </p:nvSpPr>
        <p:spPr>
          <a:xfrm>
            <a:off x="804672" y="941832"/>
            <a:ext cx="7955279" cy="475488"/>
          </a:xfrm>
          <a:prstGeom prst="rect">
            <a:avLst/>
          </a:prstGeom>
          <a:noFill/>
        </p:spPr>
        <p:txBody>
          <a:bodyPr wrap="square">
            <a:spAutoFit/>
          </a:bodyPr>
          <a:lstStyle/>
          <a:p>
            <a:pPr algn="l"/>
            <a:r>
              <a:rPr b="0" i="0" sz="1300">
                <a:solidFill>
                  <a:srgbClr val="2C3E50"/>
                </a:solidFill>
                <a:latin typeface="Calibri"/>
              </a:rPr>
              <a:t>Identify the explanatory variable — that is the variable you will condition on.</a:t>
            </a:r>
          </a:p>
        </p:txBody>
      </p:sp>
      <p:sp>
        <p:nvSpPr>
          <p:cNvPr id="7" name="Rectangle 6"/>
          <p:cNvSpPr/>
          <p:nvPr/>
        </p:nvSpPr>
        <p:spPr>
          <a:xfrm>
            <a:off x="320040" y="1545336"/>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563624"/>
            <a:ext cx="347472" cy="310896"/>
          </a:xfrm>
          <a:prstGeom prst="rect">
            <a:avLst/>
          </a:prstGeom>
          <a:noFill/>
        </p:spPr>
        <p:txBody>
          <a:bodyPr wrap="square">
            <a:spAutoFit/>
          </a:bodyPr>
          <a:lstStyle/>
          <a:p>
            <a:pPr algn="ctr"/>
            <a:r>
              <a:rPr b="1" i="0" sz="1200">
                <a:solidFill>
                  <a:srgbClr val="FFFFFF"/>
                </a:solidFill>
                <a:latin typeface="Calibri"/>
              </a:rPr>
              <a:t>2</a:t>
            </a:r>
          </a:p>
        </p:txBody>
      </p:sp>
      <p:sp>
        <p:nvSpPr>
          <p:cNvPr id="9" name="TextBox 8"/>
          <p:cNvSpPr txBox="1"/>
          <p:nvPr/>
        </p:nvSpPr>
        <p:spPr>
          <a:xfrm>
            <a:off x="804672" y="1554480"/>
            <a:ext cx="7955279" cy="475488"/>
          </a:xfrm>
          <a:prstGeom prst="rect">
            <a:avLst/>
          </a:prstGeom>
          <a:noFill/>
        </p:spPr>
        <p:txBody>
          <a:bodyPr wrap="square">
            <a:spAutoFit/>
          </a:bodyPr>
          <a:lstStyle/>
          <a:p>
            <a:pPr algn="l"/>
            <a:r>
              <a:rPr b="0" i="0" sz="1300">
                <a:solidFill>
                  <a:srgbClr val="2C3E50"/>
                </a:solidFill>
                <a:latin typeface="Calibri"/>
              </a:rPr>
              <a:t>For each row (or column) of the explanatory variable, divide each cell count by that row's (or column's) total.</a:t>
            </a:r>
          </a:p>
        </p:txBody>
      </p:sp>
      <p:sp>
        <p:nvSpPr>
          <p:cNvPr id="10" name="Rectangle 9"/>
          <p:cNvSpPr/>
          <p:nvPr/>
        </p:nvSpPr>
        <p:spPr>
          <a:xfrm>
            <a:off x="320040" y="2157984"/>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2176272"/>
            <a:ext cx="347472" cy="310896"/>
          </a:xfrm>
          <a:prstGeom prst="rect">
            <a:avLst/>
          </a:prstGeom>
          <a:noFill/>
        </p:spPr>
        <p:txBody>
          <a:bodyPr wrap="square">
            <a:spAutoFit/>
          </a:bodyPr>
          <a:lstStyle/>
          <a:p>
            <a:pPr algn="ctr"/>
            <a:r>
              <a:rPr b="1" i="0" sz="1200">
                <a:solidFill>
                  <a:srgbClr val="FFFFFF"/>
                </a:solidFill>
                <a:latin typeface="Calibri"/>
              </a:rPr>
              <a:t>3</a:t>
            </a:r>
          </a:p>
        </p:txBody>
      </p:sp>
      <p:sp>
        <p:nvSpPr>
          <p:cNvPr id="12" name="TextBox 11"/>
          <p:cNvSpPr txBox="1"/>
          <p:nvPr/>
        </p:nvSpPr>
        <p:spPr>
          <a:xfrm>
            <a:off x="804672" y="2167127"/>
            <a:ext cx="7955279" cy="475488"/>
          </a:xfrm>
          <a:prstGeom prst="rect">
            <a:avLst/>
          </a:prstGeom>
          <a:noFill/>
        </p:spPr>
        <p:txBody>
          <a:bodyPr wrap="square">
            <a:spAutoFit/>
          </a:bodyPr>
          <a:lstStyle/>
          <a:p>
            <a:pPr algn="l"/>
            <a:r>
              <a:rPr b="0" i="0" sz="1300">
                <a:solidFill>
                  <a:srgbClr val="2C3E50"/>
                </a:solidFill>
                <a:latin typeface="Calibri"/>
              </a:rPr>
              <a:t>Express results as proportions or percentages.</a:t>
            </a:r>
          </a:p>
        </p:txBody>
      </p:sp>
      <p:sp>
        <p:nvSpPr>
          <p:cNvPr id="13" name="Rectangle 12"/>
          <p:cNvSpPr/>
          <p:nvPr/>
        </p:nvSpPr>
        <p:spPr>
          <a:xfrm>
            <a:off x="320040" y="2770632"/>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2788920"/>
            <a:ext cx="347472" cy="310896"/>
          </a:xfrm>
          <a:prstGeom prst="rect">
            <a:avLst/>
          </a:prstGeom>
          <a:noFill/>
        </p:spPr>
        <p:txBody>
          <a:bodyPr wrap="square">
            <a:spAutoFit/>
          </a:bodyPr>
          <a:lstStyle/>
          <a:p>
            <a:pPr algn="ctr"/>
            <a:r>
              <a:rPr b="1" i="0" sz="1200">
                <a:solidFill>
                  <a:srgbClr val="FFFFFF"/>
                </a:solidFill>
                <a:latin typeface="Calibri"/>
              </a:rPr>
              <a:t>4</a:t>
            </a:r>
          </a:p>
        </p:txBody>
      </p:sp>
      <p:sp>
        <p:nvSpPr>
          <p:cNvPr id="15" name="TextBox 14"/>
          <p:cNvSpPr txBox="1"/>
          <p:nvPr/>
        </p:nvSpPr>
        <p:spPr>
          <a:xfrm>
            <a:off x="804672" y="2779776"/>
            <a:ext cx="7955279" cy="475488"/>
          </a:xfrm>
          <a:prstGeom prst="rect">
            <a:avLst/>
          </a:prstGeom>
          <a:noFill/>
        </p:spPr>
        <p:txBody>
          <a:bodyPr wrap="square">
            <a:spAutoFit/>
          </a:bodyPr>
          <a:lstStyle/>
          <a:p>
            <a:pPr algn="l"/>
            <a:r>
              <a:rPr b="0" i="0" sz="1300">
                <a:solidFill>
                  <a:srgbClr val="2C3E50"/>
                </a:solidFill>
                <a:latin typeface="Calibri"/>
              </a:rPr>
              <a:t>Verify: each row's conditional relative frequencies sum to 1 (or 100%).</a:t>
            </a:r>
          </a:p>
        </p:txBody>
      </p:sp>
      <p:sp>
        <p:nvSpPr>
          <p:cNvPr id="16" name="Rectangle 15"/>
          <p:cNvSpPr/>
          <p:nvPr/>
        </p:nvSpPr>
        <p:spPr>
          <a:xfrm>
            <a:off x="320040" y="3383280"/>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3401568"/>
            <a:ext cx="347472" cy="310896"/>
          </a:xfrm>
          <a:prstGeom prst="rect">
            <a:avLst/>
          </a:prstGeom>
          <a:noFill/>
        </p:spPr>
        <p:txBody>
          <a:bodyPr wrap="square">
            <a:spAutoFit/>
          </a:bodyPr>
          <a:lstStyle/>
          <a:p>
            <a:pPr algn="ctr"/>
            <a:r>
              <a:rPr b="1" i="0" sz="1200">
                <a:solidFill>
                  <a:srgbClr val="FFFFFF"/>
                </a:solidFill>
                <a:latin typeface="Calibri"/>
              </a:rPr>
              <a:t>5</a:t>
            </a:r>
          </a:p>
        </p:txBody>
      </p:sp>
      <p:sp>
        <p:nvSpPr>
          <p:cNvPr id="18" name="TextBox 17"/>
          <p:cNvSpPr txBox="1"/>
          <p:nvPr/>
        </p:nvSpPr>
        <p:spPr>
          <a:xfrm>
            <a:off x="804672" y="3392424"/>
            <a:ext cx="7955279" cy="475488"/>
          </a:xfrm>
          <a:prstGeom prst="rect">
            <a:avLst/>
          </a:prstGeom>
          <a:noFill/>
        </p:spPr>
        <p:txBody>
          <a:bodyPr wrap="square">
            <a:spAutoFit/>
          </a:bodyPr>
          <a:lstStyle/>
          <a:p>
            <a:pPr algn="l"/>
            <a:r>
              <a:rPr b="0" i="0" sz="1300">
                <a:solidFill>
                  <a:srgbClr val="2C3E50"/>
                </a:solidFill>
                <a:latin typeface="Calibri"/>
              </a:rPr>
              <a:t>Construct the segmented bar chart using these proportions as bar segment heights.</a:t>
            </a:r>
          </a:p>
        </p:txBody>
      </p:sp>
      <p:sp>
        <p:nvSpPr>
          <p:cNvPr id="19" name="Rectangle 18"/>
          <p:cNvSpPr/>
          <p:nvPr/>
        </p:nvSpPr>
        <p:spPr>
          <a:xfrm>
            <a:off x="320040" y="3995927"/>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0040" y="4014215"/>
            <a:ext cx="347472" cy="310896"/>
          </a:xfrm>
          <a:prstGeom prst="rect">
            <a:avLst/>
          </a:prstGeom>
          <a:noFill/>
        </p:spPr>
        <p:txBody>
          <a:bodyPr wrap="square">
            <a:spAutoFit/>
          </a:bodyPr>
          <a:lstStyle/>
          <a:p>
            <a:pPr algn="ctr"/>
            <a:r>
              <a:rPr b="1" i="0" sz="1200">
                <a:solidFill>
                  <a:srgbClr val="FFFFFF"/>
                </a:solidFill>
                <a:latin typeface="Calibri"/>
              </a:rPr>
              <a:t>6</a:t>
            </a:r>
          </a:p>
        </p:txBody>
      </p:sp>
      <p:sp>
        <p:nvSpPr>
          <p:cNvPr id="21" name="TextBox 20"/>
          <p:cNvSpPr txBox="1"/>
          <p:nvPr/>
        </p:nvSpPr>
        <p:spPr>
          <a:xfrm>
            <a:off x="804672" y="4005072"/>
            <a:ext cx="7955279" cy="475488"/>
          </a:xfrm>
          <a:prstGeom prst="rect">
            <a:avLst/>
          </a:prstGeom>
          <a:noFill/>
        </p:spPr>
        <p:txBody>
          <a:bodyPr wrap="square">
            <a:spAutoFit/>
          </a:bodyPr>
          <a:lstStyle/>
          <a:p>
            <a:pPr algn="l"/>
            <a:r>
              <a:rPr b="0" i="0" sz="1300">
                <a:solidFill>
                  <a:srgbClr val="2C3E50"/>
                </a:solidFill>
                <a:latin typeface="Calibri"/>
              </a:rPr>
              <a:t>Compare bars: if they look different, there is evidence of an association.</a:t>
            </a:r>
          </a:p>
        </p:txBody>
      </p:sp>
      <p:sp>
        <p:nvSpPr>
          <p:cNvPr id="22" name="TextBox 21"/>
          <p:cNvSpPr txBox="1"/>
          <p:nvPr/>
        </p:nvSpPr>
        <p:spPr>
          <a:xfrm>
            <a:off x="457200" y="4754880"/>
            <a:ext cx="8229600" cy="320040"/>
          </a:xfrm>
          <a:prstGeom prst="rect">
            <a:avLst/>
          </a:prstGeom>
          <a:noFill/>
        </p:spPr>
        <p:txBody>
          <a:bodyPr wrap="square">
            <a:spAutoFit/>
          </a:bodyPr>
          <a:lstStyle/>
          <a:p>
            <a:pPr algn="l"/>
            <a:r>
              <a:rPr b="0" i="1" sz="1100">
                <a:solidFill>
                  <a:srgbClr val="64748B"/>
                </a:solidFill>
                <a:latin typeface="Calibri"/>
              </a:rPr>
              <a:t>NOTE: Always condition on the EXPLANATORY variable (divide by its row or column total).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ECEC"/>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GROUP ACTIVITY</a:t>
            </a:r>
          </a:p>
        </p:txBody>
      </p:sp>
      <p:sp>
        <p:nvSpPr>
          <p:cNvPr id="4" name="TextBox 3"/>
          <p:cNvSpPr txBox="1"/>
          <p:nvPr/>
        </p:nvSpPr>
        <p:spPr>
          <a:xfrm>
            <a:off x="457200" y="896112"/>
            <a:ext cx="8229600" cy="566928"/>
          </a:xfrm>
          <a:prstGeom prst="rect">
            <a:avLst/>
          </a:prstGeom>
          <a:noFill/>
        </p:spPr>
        <p:txBody>
          <a:bodyPr wrap="square">
            <a:spAutoFit/>
          </a:bodyPr>
          <a:lstStyle/>
          <a:p>
            <a:pPr algn="l"/>
            <a:r>
              <a:rPr b="1" i="0" sz="1900">
                <a:solidFill>
                  <a:srgbClr val="2C3E50"/>
                </a:solidFill>
                <a:latin typeface="Calibri"/>
              </a:rPr>
              <a:t>Political Affiliation x Preferred News Source</a:t>
            </a:r>
          </a:p>
        </p:txBody>
      </p:sp>
      <p:sp>
        <p:nvSpPr>
          <p:cNvPr id="5" name="TextBox 4"/>
          <p:cNvSpPr txBox="1"/>
          <p:nvPr/>
        </p:nvSpPr>
        <p:spPr>
          <a:xfrm>
            <a:off x="548640" y="1554480"/>
            <a:ext cx="8046720" cy="2926080"/>
          </a:xfrm>
          <a:prstGeom prst="rect">
            <a:avLst/>
          </a:prstGeom>
          <a:noFill/>
        </p:spPr>
        <p:txBody>
          <a:bodyPr wrap="square">
            <a:spAutoFit/>
          </a:bodyPr>
          <a:lstStyle/>
          <a:p>
            <a:pPr algn="l">
              <a:spcAft>
                <a:spcPts val="80"/>
              </a:spcAft>
            </a:pPr>
            <a:r>
              <a:rPr b="0" sz="1400">
                <a:solidFill>
                  <a:srgbClr val="2C3E50"/>
                </a:solidFill>
                <a:latin typeface="Calibri"/>
              </a:rPr>
              <a:t>1.  Using the provided two-way table (political affiliation x news source, n = 300), compute and add all marginal frequencies.</a:t>
            </a:r>
          </a:p>
          <a:p>
            <a:pPr algn="l">
              <a:spcAft>
                <a:spcPts val="80"/>
              </a:spcAft>
            </a:pPr>
            <a:r>
              <a:rPr b="0" sz="1400">
                <a:solidFill>
                  <a:srgbClr val="2C3E50"/>
                </a:solidFill>
                <a:latin typeface="Calibri"/>
              </a:rPr>
              <a:t>2.  Compute conditional relative frequencies for each political group (condition on political affiliation).</a:t>
            </a:r>
          </a:p>
          <a:p>
            <a:pPr algn="l">
              <a:spcAft>
                <a:spcPts val="80"/>
              </a:spcAft>
            </a:pPr>
            <a:r>
              <a:rPr b="0" sz="1400">
                <a:solidFill>
                  <a:srgbClr val="2C3E50"/>
                </a:solidFill>
                <a:latin typeface="Calibri"/>
              </a:rPr>
              <a:t>3.  Construct a segmented bar chart from those conditional proportions.</a:t>
            </a:r>
          </a:p>
          <a:p>
            <a:pPr algn="l">
              <a:spcAft>
                <a:spcPts val="80"/>
              </a:spcAft>
            </a:pPr>
            <a:r>
              <a:rPr b="0" sz="1400">
                <a:solidFill>
                  <a:srgbClr val="2C3E50"/>
                </a:solidFill>
                <a:latin typeface="Calibri"/>
              </a:rPr>
              <a:t>4.  Write one sentence: is there evidence of an association between political affiliation and news source preference? Justify.</a:t>
            </a:r>
          </a:p>
        </p:txBody>
      </p:sp>
      <p:sp>
        <p:nvSpPr>
          <p:cNvPr id="6" name="TextBox 5"/>
          <p:cNvSpPr txBox="1"/>
          <p:nvPr/>
        </p:nvSpPr>
        <p:spPr>
          <a:xfrm>
            <a:off x="457200" y="4754880"/>
            <a:ext cx="8229600" cy="320040"/>
          </a:xfrm>
          <a:prstGeom prst="rect">
            <a:avLst/>
          </a:prstGeom>
          <a:noFill/>
        </p:spPr>
        <p:txBody>
          <a:bodyPr wrap="square">
            <a:spAutoFit/>
          </a:bodyPr>
          <a:lstStyle/>
          <a:p>
            <a:pPr algn="l"/>
            <a:r>
              <a:rPr b="1" i="0" sz="1100">
                <a:solidFill>
                  <a:srgbClr val="C0392B"/>
                </a:solidFill>
                <a:latin typeface="Calibri"/>
              </a:rPr>
              <a:t>TIME: 8–10 minutes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2E5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spc="400">
                <a:solidFill>
                  <a:srgbClr val="F5A623"/>
                </a:solidFill>
                <a:latin typeface="Calibri"/>
              </a:rPr>
              <a:t>EXIT TICKET</a:t>
            </a:r>
          </a:p>
        </p:txBody>
      </p:sp>
      <p:sp>
        <p:nvSpPr>
          <p:cNvPr id="4" name="TextBox 3"/>
          <p:cNvSpPr txBox="1"/>
          <p:nvPr/>
        </p:nvSpPr>
        <p:spPr>
          <a:xfrm>
            <a:off x="548640" y="914400"/>
            <a:ext cx="8046720" cy="3931920"/>
          </a:xfrm>
          <a:prstGeom prst="rect">
            <a:avLst/>
          </a:prstGeom>
          <a:noFill/>
        </p:spPr>
        <p:txBody>
          <a:bodyPr wrap="square">
            <a:spAutoFit/>
          </a:bodyPr>
          <a:lstStyle/>
          <a:p>
            <a:pPr algn="l">
              <a:spcAft>
                <a:spcPts val="100"/>
              </a:spcAft>
            </a:pPr>
            <a:r>
              <a:rPr b="0" sz="1500">
                <a:solidFill>
                  <a:srgbClr val="FFFFFF"/>
                </a:solidFill>
                <a:latin typeface="Calibri"/>
              </a:rPr>
              <a:t>1.  Two-way table: gender x reading preference (fiction/nonfiction), n = 120.
    Compute the conditional relative frequencies for each gender.</a:t>
            </a:r>
          </a:p>
          <a:p>
            <a:pPr algn="l">
              <a:spcAft>
                <a:spcPts val="100"/>
              </a:spcAft>
            </a:pPr>
            <a:r>
              <a:rPr b="0" sz="1500">
                <a:solidFill>
                  <a:srgbClr val="FFFFFF"/>
                </a:solidFill>
                <a:latin typeface="Calibri"/>
              </a:rPr>
              <a:t>2.  Is there evidence of an association between gender and reading preference? Justify using specific values from your table.</a:t>
            </a:r>
          </a:p>
          <a:p>
            <a:pPr algn="l">
              <a:spcAft>
                <a:spcPts val="100"/>
              </a:spcAft>
            </a:pPr>
            <a:r>
              <a:rPr b="0" sz="1500">
                <a:solidFill>
                  <a:srgbClr val="FFFFFF"/>
                </a:solidFill>
                <a:latin typeface="Calibri"/>
              </a:rPr>
              <a:t>3.  What is the key difference between a marginal frequency and a conditional relative frequency?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0" y="0"/>
            <a:ext cx="164592" cy="5143500"/>
          </a:xfrm>
          <a:prstGeom prst="rect">
            <a:avLst/>
          </a:prstGeom>
          <a:solidFill>
            <a:srgbClr val="D48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188720"/>
            <a:ext cx="8412480" cy="548640"/>
          </a:xfrm>
          <a:prstGeom prst="rect">
            <a:avLst/>
          </a:prstGeom>
          <a:noFill/>
        </p:spPr>
        <p:txBody>
          <a:bodyPr wrap="square">
            <a:spAutoFit/>
          </a:bodyPr>
          <a:lstStyle/>
          <a:p>
            <a:pPr algn="l"/>
            <a:r>
              <a:rPr b="1" i="0" sz="1300" spc="500">
                <a:solidFill>
                  <a:srgbClr val="D4820A"/>
                </a:solidFill>
                <a:latin typeface="Calibri"/>
              </a:rPr>
              <a:t>LESSON 2.3</a:t>
            </a:r>
          </a:p>
        </p:txBody>
      </p:sp>
      <p:sp>
        <p:nvSpPr>
          <p:cNvPr id="4" name="TextBox 3"/>
          <p:cNvSpPr txBox="1"/>
          <p:nvPr/>
        </p:nvSpPr>
        <p:spPr>
          <a:xfrm>
            <a:off x="365760" y="1783080"/>
            <a:ext cx="8412480" cy="1828800"/>
          </a:xfrm>
          <a:prstGeom prst="rect">
            <a:avLst/>
          </a:prstGeom>
          <a:noFill/>
        </p:spPr>
        <p:txBody>
          <a:bodyPr wrap="square">
            <a:spAutoFit/>
          </a:bodyPr>
          <a:lstStyle/>
          <a:p>
            <a:pPr algn="l"/>
            <a:r>
              <a:rPr b="1" i="0" sz="3400">
                <a:solidFill>
                  <a:srgbClr val="FFFFFF"/>
                </a:solidFill>
                <a:latin typeface="Calibri"/>
              </a:rPr>
              <a:t>Statistics for Two Categorical Variables</a:t>
            </a:r>
          </a:p>
        </p:txBody>
      </p:sp>
      <p:sp>
        <p:nvSpPr>
          <p:cNvPr id="5" name="TextBox 4"/>
          <p:cNvSpPr txBox="1"/>
          <p:nvPr/>
        </p:nvSpPr>
        <p:spPr>
          <a:xfrm>
            <a:off x="365760" y="4434840"/>
            <a:ext cx="8412480" cy="457200"/>
          </a:xfrm>
          <a:prstGeom prst="rect">
            <a:avLst/>
          </a:prstGeom>
          <a:noFill/>
        </p:spPr>
        <p:txBody>
          <a:bodyPr wrap="square">
            <a:spAutoFit/>
          </a:bodyPr>
          <a:lstStyle/>
          <a:p>
            <a:pPr algn="l"/>
            <a:r>
              <a:rPr b="0" i="0" sz="1100">
                <a:solidFill>
                  <a:srgbClr val="C5DFF5"/>
                </a:solidFill>
                <a:latin typeface="Calibri"/>
              </a:rPr>
              <a:t>AP Statistics  ·  Unit 2: Exploring Two-Variable Data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EAF3FB"/>
        </a:solidFill>
        <a:effectLst/>
      </p:bgPr>
    </p:bg>
    <p:spTree>
      <p:nvGrpSpPr>
        <p:cNvPr id="1" name=""/>
        <p:cNvGrpSpPr/>
        <p:nvPr/>
      </p:nvGrpSpPr>
      <p:grpSpPr/>
      <p:sp>
        <p:nvSpPr>
          <p:cNvPr id="2" name="Rectangle 1"/>
          <p:cNvSpPr/>
          <p:nvPr/>
        </p:nvSpPr>
        <p:spPr>
          <a:xfrm>
            <a:off x="457200" y="411480"/>
            <a:ext cx="8229600" cy="6400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21207"/>
            <a:ext cx="8229600" cy="365760"/>
          </a:xfrm>
          <a:prstGeom prst="rect">
            <a:avLst/>
          </a:prstGeom>
          <a:noFill/>
        </p:spPr>
        <p:txBody>
          <a:bodyPr wrap="square">
            <a:spAutoFit/>
          </a:bodyPr>
          <a:lstStyle/>
          <a:p>
            <a:pPr algn="l"/>
            <a:r>
              <a:rPr b="1" i="0" sz="1100" spc="400">
                <a:solidFill>
                  <a:srgbClr val="1F3A5F"/>
                </a:solidFill>
                <a:latin typeface="Calibri"/>
              </a:rPr>
              <a:t>PRIMARY OBJECTIVE</a:t>
            </a:r>
          </a:p>
        </p:txBody>
      </p:sp>
      <p:sp>
        <p:nvSpPr>
          <p:cNvPr id="4" name="TextBox 3"/>
          <p:cNvSpPr txBox="1"/>
          <p:nvPr/>
        </p:nvSpPr>
        <p:spPr>
          <a:xfrm>
            <a:off x="457200" y="960120"/>
            <a:ext cx="8229600" cy="3840480"/>
          </a:xfrm>
          <a:prstGeom prst="rect">
            <a:avLst/>
          </a:prstGeom>
          <a:noFill/>
        </p:spPr>
        <p:txBody>
          <a:bodyPr wrap="square">
            <a:spAutoFit/>
          </a:bodyPr>
          <a:lstStyle/>
          <a:p>
            <a:pPr algn="l"/>
            <a:r>
              <a:rPr b="0" i="0" sz="1700">
                <a:solidFill>
                  <a:srgbClr val="2C3E50"/>
                </a:solidFill>
                <a:latin typeface="Calibri"/>
              </a:rPr>
              <a:t>Students will quantify the association between two categorical variables by computing and interpreting the difference in proportions and relative risk. Students will use these statistics to make comparative claims in context (Big Idea: UNC — Skill 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A623"/>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D48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HOOK</a:t>
            </a:r>
          </a:p>
        </p:txBody>
      </p:sp>
      <p:sp>
        <p:nvSpPr>
          <p:cNvPr id="4" name="TextBox 3"/>
          <p:cNvSpPr txBox="1"/>
          <p:nvPr/>
        </p:nvSpPr>
        <p:spPr>
          <a:xfrm>
            <a:off x="457200" y="896112"/>
            <a:ext cx="8229600" cy="594360"/>
          </a:xfrm>
          <a:prstGeom prst="rect">
            <a:avLst/>
          </a:prstGeom>
          <a:noFill/>
        </p:spPr>
        <p:txBody>
          <a:bodyPr wrap="square">
            <a:spAutoFit/>
          </a:bodyPr>
          <a:lstStyle/>
          <a:p>
            <a:pPr algn="l"/>
            <a:r>
              <a:rPr b="1" i="0" sz="2000">
                <a:solidFill>
                  <a:srgbClr val="FFFFFF"/>
                </a:solidFill>
                <a:latin typeface="Calibri"/>
              </a:rPr>
              <a:t>Same Data, Two Very Different Headlines</a:t>
            </a:r>
          </a:p>
        </p:txBody>
      </p:sp>
      <p:sp>
        <p:nvSpPr>
          <p:cNvPr id="5" name="TextBox 4"/>
          <p:cNvSpPr txBox="1"/>
          <p:nvPr/>
        </p:nvSpPr>
        <p:spPr>
          <a:xfrm>
            <a:off x="457200" y="1554480"/>
            <a:ext cx="8229600" cy="685800"/>
          </a:xfrm>
          <a:prstGeom prst="rect">
            <a:avLst/>
          </a:prstGeom>
          <a:noFill/>
        </p:spPr>
        <p:txBody>
          <a:bodyPr wrap="square">
            <a:spAutoFit/>
          </a:bodyPr>
          <a:lstStyle/>
          <a:p>
            <a:pPr algn="l"/>
            <a:r>
              <a:rPr b="0" i="1" sz="1400">
                <a:solidFill>
                  <a:srgbClr val="C5DFF5"/>
                </a:solidFill>
                <a:latin typeface="Calibri"/>
              </a:rPr>
              <a:t>Drug A side effect rate: 2%  (treated group)  vs.  1%  (placebo group)</a:t>
            </a:r>
          </a:p>
        </p:txBody>
      </p:sp>
      <p:sp>
        <p:nvSpPr>
          <p:cNvPr id="6" name="TextBox 5"/>
          <p:cNvSpPr txBox="1"/>
          <p:nvPr/>
        </p:nvSpPr>
        <p:spPr>
          <a:xfrm>
            <a:off x="457200" y="2331720"/>
            <a:ext cx="8229600" cy="365760"/>
          </a:xfrm>
          <a:prstGeom prst="rect">
            <a:avLst/>
          </a:prstGeom>
          <a:noFill/>
        </p:spPr>
        <p:txBody>
          <a:bodyPr wrap="square">
            <a:spAutoFit/>
          </a:bodyPr>
          <a:lstStyle/>
          <a:p>
            <a:pPr algn="l"/>
            <a:r>
              <a:rPr b="1" i="0" sz="1300">
                <a:solidFill>
                  <a:srgbClr val="FFFFFF"/>
                </a:solidFill>
                <a:latin typeface="Calibri"/>
              </a:rPr>
              <a:t>Discussion questions:</a:t>
            </a:r>
          </a:p>
        </p:txBody>
      </p:sp>
      <p:sp>
        <p:nvSpPr>
          <p:cNvPr id="7" name="TextBox 6"/>
          <p:cNvSpPr txBox="1"/>
          <p:nvPr/>
        </p:nvSpPr>
        <p:spPr>
          <a:xfrm>
            <a:off x="640080" y="2743200"/>
            <a:ext cx="8046720" cy="2468880"/>
          </a:xfrm>
          <a:prstGeom prst="rect">
            <a:avLst/>
          </a:prstGeom>
          <a:noFill/>
        </p:spPr>
        <p:txBody>
          <a:bodyPr wrap="square">
            <a:spAutoFit/>
          </a:bodyPr>
          <a:lstStyle/>
          <a:p>
            <a:pPr algn="l">
              <a:buChar char="•"/>
              <a:spcAft>
                <a:spcPts val="70"/>
              </a:spcAft>
            </a:pPr>
            <a:r>
              <a:rPr b="0" sz="1400">
                <a:solidFill>
                  <a:srgbClr val="FFFFFF"/>
                </a:solidFill>
                <a:latin typeface="Calibri"/>
              </a:rPr>
              <a:t>Headline A: 'Drug A increases side effect risk by 1 percentage point.'</a:t>
            </a:r>
          </a:p>
          <a:p>
            <a:pPr algn="l">
              <a:buChar char="•"/>
              <a:spcAft>
                <a:spcPts val="70"/>
              </a:spcAft>
            </a:pPr>
            <a:r>
              <a:rPr b="0" sz="1400">
                <a:solidFill>
                  <a:srgbClr val="FFFFFF"/>
                </a:solidFill>
                <a:latin typeface="Calibri"/>
              </a:rPr>
              <a:t>Headline B: 'Drug A doubles the risk of side effects.'</a:t>
            </a:r>
          </a:p>
          <a:p>
            <a:pPr algn="l">
              <a:buChar char="•"/>
              <a:spcAft>
                <a:spcPts val="70"/>
              </a:spcAft>
            </a:pPr>
            <a:r>
              <a:rPr b="0" sz="1400">
                <a:solidFill>
                  <a:srgbClr val="FFFFFF"/>
                </a:solidFill>
                <a:latin typeface="Calibri"/>
              </a:rPr>
              <a:t>Which headline is more alarming? Which is more informative? Are both accurate?</a:t>
            </a:r>
          </a:p>
          <a:p>
            <a:pPr algn="l">
              <a:buChar char="•"/>
              <a:spcAft>
                <a:spcPts val="70"/>
              </a:spcAft>
            </a:pPr>
            <a:r>
              <a:rPr b="0" sz="1400">
                <a:solidFill>
                  <a:srgbClr val="FFFFFF"/>
                </a:solidFill>
                <a:latin typeface="Calibri"/>
              </a:rPr>
              <a:t>→ Difference in proportions and relative risk tell different parts of the story.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DF8F0"/>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2D7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VOCABULARY &amp; KEY CONCEPTS</a:t>
            </a:r>
          </a:p>
        </p:txBody>
      </p:sp>
      <p:sp>
        <p:nvSpPr>
          <p:cNvPr id="4" name="TextBox 3"/>
          <p:cNvSpPr txBox="1"/>
          <p:nvPr/>
        </p:nvSpPr>
        <p:spPr>
          <a:xfrm>
            <a:off x="365760" y="914400"/>
            <a:ext cx="4023360" cy="320040"/>
          </a:xfrm>
          <a:prstGeom prst="rect">
            <a:avLst/>
          </a:prstGeom>
          <a:noFill/>
        </p:spPr>
        <p:txBody>
          <a:bodyPr wrap="square">
            <a:spAutoFit/>
          </a:bodyPr>
          <a:lstStyle/>
          <a:p>
            <a:pPr algn="l"/>
            <a:r>
              <a:rPr b="1" i="0" sz="1200">
                <a:solidFill>
                  <a:srgbClr val="2D7A4F"/>
                </a:solidFill>
                <a:latin typeface="Calibri"/>
              </a:rPr>
              <a:t>Conditional proportion</a:t>
            </a:r>
          </a:p>
        </p:txBody>
      </p:sp>
      <p:sp>
        <p:nvSpPr>
          <p:cNvPr id="5" name="TextBox 4"/>
          <p:cNvSpPr txBox="1"/>
          <p:nvPr/>
        </p:nvSpPr>
        <p:spPr>
          <a:xfrm>
            <a:off x="365760" y="1216152"/>
            <a:ext cx="4023360" cy="530352"/>
          </a:xfrm>
          <a:prstGeom prst="rect">
            <a:avLst/>
          </a:prstGeom>
          <a:noFill/>
        </p:spPr>
        <p:txBody>
          <a:bodyPr wrap="square">
            <a:spAutoFit/>
          </a:bodyPr>
          <a:lstStyle/>
          <a:p>
            <a:pPr algn="l"/>
            <a:r>
              <a:rPr b="0" i="0" sz="1100">
                <a:solidFill>
                  <a:srgbClr val="2C3E50"/>
                </a:solidFill>
                <a:latin typeface="Calibri"/>
              </a:rPr>
              <a:t>Proportion of 'successes' within a group: p-hat = count / group total</a:t>
            </a:r>
          </a:p>
        </p:txBody>
      </p:sp>
      <p:sp>
        <p:nvSpPr>
          <p:cNvPr id="6" name="TextBox 5"/>
          <p:cNvSpPr txBox="1"/>
          <p:nvPr/>
        </p:nvSpPr>
        <p:spPr>
          <a:xfrm>
            <a:off x="365760" y="1828800"/>
            <a:ext cx="4023360" cy="320040"/>
          </a:xfrm>
          <a:prstGeom prst="rect">
            <a:avLst/>
          </a:prstGeom>
          <a:noFill/>
        </p:spPr>
        <p:txBody>
          <a:bodyPr wrap="square">
            <a:spAutoFit/>
          </a:bodyPr>
          <a:lstStyle/>
          <a:p>
            <a:pPr algn="l"/>
            <a:r>
              <a:rPr b="1" i="0" sz="1200">
                <a:solidFill>
                  <a:srgbClr val="2D7A4F"/>
                </a:solidFill>
                <a:latin typeface="Calibri"/>
              </a:rPr>
              <a:t>Difference in proportions</a:t>
            </a:r>
          </a:p>
        </p:txBody>
      </p:sp>
      <p:sp>
        <p:nvSpPr>
          <p:cNvPr id="7" name="TextBox 6"/>
          <p:cNvSpPr txBox="1"/>
          <p:nvPr/>
        </p:nvSpPr>
        <p:spPr>
          <a:xfrm>
            <a:off x="365760" y="2130552"/>
            <a:ext cx="4023360" cy="530352"/>
          </a:xfrm>
          <a:prstGeom prst="rect">
            <a:avLst/>
          </a:prstGeom>
          <a:noFill/>
        </p:spPr>
        <p:txBody>
          <a:bodyPr wrap="square">
            <a:spAutoFit/>
          </a:bodyPr>
          <a:lstStyle/>
          <a:p>
            <a:pPr algn="l"/>
            <a:r>
              <a:rPr b="0" i="0" sz="1100">
                <a:solidFill>
                  <a:srgbClr val="2C3E50"/>
                </a:solidFill>
                <a:latin typeface="Calibri"/>
              </a:rPr>
              <a:t>p-hat_1 - p-hat_2; additive comparison; 'Group A's rate is 0.15 higher'</a:t>
            </a:r>
          </a:p>
        </p:txBody>
      </p:sp>
      <p:sp>
        <p:nvSpPr>
          <p:cNvPr id="8" name="TextBox 7"/>
          <p:cNvSpPr txBox="1"/>
          <p:nvPr/>
        </p:nvSpPr>
        <p:spPr>
          <a:xfrm>
            <a:off x="365760" y="2743200"/>
            <a:ext cx="4023360" cy="320040"/>
          </a:xfrm>
          <a:prstGeom prst="rect">
            <a:avLst/>
          </a:prstGeom>
          <a:noFill/>
        </p:spPr>
        <p:txBody>
          <a:bodyPr wrap="square">
            <a:spAutoFit/>
          </a:bodyPr>
          <a:lstStyle/>
          <a:p>
            <a:pPr algn="l"/>
            <a:r>
              <a:rPr b="1" i="0" sz="1200">
                <a:solidFill>
                  <a:srgbClr val="2D7A4F"/>
                </a:solidFill>
                <a:latin typeface="Calibri"/>
              </a:rPr>
              <a:t>Relative risk (RR)</a:t>
            </a:r>
          </a:p>
        </p:txBody>
      </p:sp>
      <p:sp>
        <p:nvSpPr>
          <p:cNvPr id="9" name="TextBox 8"/>
          <p:cNvSpPr txBox="1"/>
          <p:nvPr/>
        </p:nvSpPr>
        <p:spPr>
          <a:xfrm>
            <a:off x="365760" y="3044952"/>
            <a:ext cx="4023360" cy="530352"/>
          </a:xfrm>
          <a:prstGeom prst="rect">
            <a:avLst/>
          </a:prstGeom>
          <a:noFill/>
        </p:spPr>
        <p:txBody>
          <a:bodyPr wrap="square">
            <a:spAutoFit/>
          </a:bodyPr>
          <a:lstStyle/>
          <a:p>
            <a:pPr algn="l"/>
            <a:r>
              <a:rPr b="0" i="0" sz="1100">
                <a:solidFill>
                  <a:srgbClr val="2C3E50"/>
                </a:solidFill>
                <a:latin typeface="Calibri"/>
              </a:rPr>
              <a:t>p-hat_1 / p-hat_2; multiplicative comparison; 'Group A is 2x as likely'</a:t>
            </a:r>
          </a:p>
        </p:txBody>
      </p:sp>
      <p:sp>
        <p:nvSpPr>
          <p:cNvPr id="10" name="TextBox 9"/>
          <p:cNvSpPr txBox="1"/>
          <p:nvPr/>
        </p:nvSpPr>
        <p:spPr>
          <a:xfrm>
            <a:off x="4754880" y="914400"/>
            <a:ext cx="4023360" cy="320040"/>
          </a:xfrm>
          <a:prstGeom prst="rect">
            <a:avLst/>
          </a:prstGeom>
          <a:noFill/>
        </p:spPr>
        <p:txBody>
          <a:bodyPr wrap="square">
            <a:spAutoFit/>
          </a:bodyPr>
          <a:lstStyle/>
          <a:p>
            <a:pPr algn="l"/>
            <a:r>
              <a:rPr b="1" i="0" sz="1200">
                <a:solidFill>
                  <a:srgbClr val="2D7A4F"/>
                </a:solidFill>
                <a:latin typeface="Calibri"/>
              </a:rPr>
              <a:t>Baseline group</a:t>
            </a:r>
          </a:p>
        </p:txBody>
      </p:sp>
      <p:sp>
        <p:nvSpPr>
          <p:cNvPr id="11" name="TextBox 10"/>
          <p:cNvSpPr txBox="1"/>
          <p:nvPr/>
        </p:nvSpPr>
        <p:spPr>
          <a:xfrm>
            <a:off x="4754880" y="1216152"/>
            <a:ext cx="4023360" cy="530352"/>
          </a:xfrm>
          <a:prstGeom prst="rect">
            <a:avLst/>
          </a:prstGeom>
          <a:noFill/>
        </p:spPr>
        <p:txBody>
          <a:bodyPr wrap="square">
            <a:spAutoFit/>
          </a:bodyPr>
          <a:lstStyle/>
          <a:p>
            <a:pPr algn="l"/>
            <a:r>
              <a:rPr b="0" i="0" sz="1100">
                <a:solidFill>
                  <a:srgbClr val="2C3E50"/>
                </a:solidFill>
                <a:latin typeface="Calibri"/>
              </a:rPr>
              <a:t>The reference group in the denominator of the relative risk</a:t>
            </a:r>
          </a:p>
        </p:txBody>
      </p:sp>
      <p:sp>
        <p:nvSpPr>
          <p:cNvPr id="12" name="TextBox 11"/>
          <p:cNvSpPr txBox="1"/>
          <p:nvPr/>
        </p:nvSpPr>
        <p:spPr>
          <a:xfrm>
            <a:off x="4754880" y="1828800"/>
            <a:ext cx="4023360" cy="320040"/>
          </a:xfrm>
          <a:prstGeom prst="rect">
            <a:avLst/>
          </a:prstGeom>
          <a:noFill/>
        </p:spPr>
        <p:txBody>
          <a:bodyPr wrap="square">
            <a:spAutoFit/>
          </a:bodyPr>
          <a:lstStyle/>
          <a:p>
            <a:pPr algn="l"/>
            <a:r>
              <a:rPr b="1" i="0" sz="1200">
                <a:solidFill>
                  <a:srgbClr val="2D7A4F"/>
                </a:solidFill>
                <a:latin typeface="Calibri"/>
              </a:rPr>
              <a:t>RR = 1</a:t>
            </a:r>
          </a:p>
        </p:txBody>
      </p:sp>
      <p:sp>
        <p:nvSpPr>
          <p:cNvPr id="13" name="TextBox 12"/>
          <p:cNvSpPr txBox="1"/>
          <p:nvPr/>
        </p:nvSpPr>
        <p:spPr>
          <a:xfrm>
            <a:off x="4754880" y="2130552"/>
            <a:ext cx="4023360" cy="530352"/>
          </a:xfrm>
          <a:prstGeom prst="rect">
            <a:avLst/>
          </a:prstGeom>
          <a:noFill/>
        </p:spPr>
        <p:txBody>
          <a:bodyPr wrap="square">
            <a:spAutoFit/>
          </a:bodyPr>
          <a:lstStyle/>
          <a:p>
            <a:pPr algn="l"/>
            <a:r>
              <a:rPr b="0" i="0" sz="1100">
                <a:solidFill>
                  <a:srgbClr val="2C3E50"/>
                </a:solidFill>
                <a:latin typeface="Calibri"/>
              </a:rPr>
              <a:t>No association between the two variables</a:t>
            </a:r>
          </a:p>
        </p:txBody>
      </p:sp>
      <p:sp>
        <p:nvSpPr>
          <p:cNvPr id="14" name="TextBox 13"/>
          <p:cNvSpPr txBox="1"/>
          <p:nvPr/>
        </p:nvSpPr>
        <p:spPr>
          <a:xfrm>
            <a:off x="4754880" y="2743200"/>
            <a:ext cx="4023360" cy="320040"/>
          </a:xfrm>
          <a:prstGeom prst="rect">
            <a:avLst/>
          </a:prstGeom>
          <a:noFill/>
        </p:spPr>
        <p:txBody>
          <a:bodyPr wrap="square">
            <a:spAutoFit/>
          </a:bodyPr>
          <a:lstStyle/>
          <a:p>
            <a:pPr algn="l"/>
            <a:r>
              <a:rPr b="1" i="0" sz="1200">
                <a:solidFill>
                  <a:srgbClr val="2D7A4F"/>
                </a:solidFill>
                <a:latin typeface="Calibri"/>
              </a:rPr>
              <a:t>RR &gt; 1  /  RR &lt; 1</a:t>
            </a:r>
          </a:p>
        </p:txBody>
      </p:sp>
      <p:sp>
        <p:nvSpPr>
          <p:cNvPr id="15" name="TextBox 14"/>
          <p:cNvSpPr txBox="1"/>
          <p:nvPr/>
        </p:nvSpPr>
        <p:spPr>
          <a:xfrm>
            <a:off x="4754880" y="3044952"/>
            <a:ext cx="4023360" cy="530352"/>
          </a:xfrm>
          <a:prstGeom prst="rect">
            <a:avLst/>
          </a:prstGeom>
          <a:noFill/>
        </p:spPr>
        <p:txBody>
          <a:bodyPr wrap="square">
            <a:spAutoFit/>
          </a:bodyPr>
          <a:lstStyle/>
          <a:p>
            <a:pPr algn="l"/>
            <a:r>
              <a:rPr b="0" i="0" sz="1100">
                <a:solidFill>
                  <a:srgbClr val="2C3E50"/>
                </a:solidFill>
                <a:latin typeface="Calibri"/>
              </a:rPr>
              <a:t>Group 1 has higher / lower proportion than Group 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594360"/>
          </a:xfrm>
          <a:prstGeom prst="rect">
            <a:avLst/>
          </a:prstGeom>
          <a:noFill/>
        </p:spPr>
        <p:txBody>
          <a:bodyPr wrap="square">
            <a:spAutoFit/>
          </a:bodyPr>
          <a:lstStyle/>
          <a:p>
            <a:pPr algn="l"/>
            <a:r>
              <a:rPr b="1" i="0" sz="2000">
                <a:solidFill>
                  <a:srgbClr val="FFFFFF"/>
                </a:solidFill>
                <a:latin typeface="Calibri"/>
              </a:rPr>
              <a:t>Interpretation Templates</a:t>
            </a:r>
          </a:p>
        </p:txBody>
      </p:sp>
      <p:sp>
        <p:nvSpPr>
          <p:cNvPr id="4" name="TextBox 3"/>
          <p:cNvSpPr txBox="1"/>
          <p:nvPr/>
        </p:nvSpPr>
        <p:spPr>
          <a:xfrm>
            <a:off x="457200" y="886968"/>
            <a:ext cx="3931920" cy="384048"/>
          </a:xfrm>
          <a:prstGeom prst="rect">
            <a:avLst/>
          </a:prstGeom>
          <a:noFill/>
        </p:spPr>
        <p:txBody>
          <a:bodyPr wrap="square">
            <a:spAutoFit/>
          </a:bodyPr>
          <a:lstStyle/>
          <a:p>
            <a:pPr algn="l"/>
            <a:r>
              <a:rPr b="1" i="0" sz="1300">
                <a:solidFill>
                  <a:srgbClr val="1F3A5F"/>
                </a:solidFill>
                <a:latin typeface="Calibri"/>
              </a:rPr>
              <a:t>Difference in Proportions</a:t>
            </a:r>
          </a:p>
        </p:txBody>
      </p:sp>
      <p:sp>
        <p:nvSpPr>
          <p:cNvPr id="5" name="TextBox 4"/>
          <p:cNvSpPr txBox="1"/>
          <p:nvPr/>
        </p:nvSpPr>
        <p:spPr>
          <a:xfrm>
            <a:off x="4754880" y="886968"/>
            <a:ext cx="3931920" cy="384048"/>
          </a:xfrm>
          <a:prstGeom prst="rect">
            <a:avLst/>
          </a:prstGeom>
          <a:noFill/>
        </p:spPr>
        <p:txBody>
          <a:bodyPr wrap="square">
            <a:spAutoFit/>
          </a:bodyPr>
          <a:lstStyle/>
          <a:p>
            <a:pPr algn="l"/>
            <a:r>
              <a:rPr b="1" i="0" sz="1300">
                <a:solidFill>
                  <a:srgbClr val="1F3A5F"/>
                </a:solidFill>
                <a:latin typeface="Calibri"/>
              </a:rPr>
              <a:t>Relative Risk</a:t>
            </a:r>
          </a:p>
        </p:txBody>
      </p:sp>
      <p:sp>
        <p:nvSpPr>
          <p:cNvPr id="6" name="Rectangle 5"/>
          <p:cNvSpPr/>
          <p:nvPr/>
        </p:nvSpPr>
        <p:spPr>
          <a:xfrm>
            <a:off x="4462272" y="886968"/>
            <a:ext cx="36576" cy="3977639"/>
          </a:xfrm>
          <a:prstGeom prst="rect">
            <a:avLst/>
          </a:prstGeom>
          <a:solidFill>
            <a:srgbClr val="C5D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25880"/>
            <a:ext cx="3886200" cy="3520440"/>
          </a:xfrm>
          <a:prstGeom prst="rect">
            <a:avLst/>
          </a:prstGeom>
          <a:noFill/>
        </p:spPr>
        <p:txBody>
          <a:bodyPr wrap="square">
            <a:spAutoFit/>
          </a:bodyPr>
          <a:lstStyle/>
          <a:p>
            <a:pPr algn="l">
              <a:buChar char="•"/>
              <a:spcAft>
                <a:spcPts val="70"/>
              </a:spcAft>
            </a:pPr>
            <a:r>
              <a:rPr b="0" sz="1300">
                <a:solidFill>
                  <a:srgbClr val="2C3E50"/>
                </a:solidFill>
                <a:latin typeface="Calibri"/>
              </a:rPr>
              <a:t>"The proportion of [outcome] among [Group 1] (p-hat = ___) was ___ [higher/lower] than the proportion among [Group 2] (p-hat = ___)."</a:t>
            </a:r>
          </a:p>
          <a:p>
            <a:pPr algn="l">
              <a:buChar char="•"/>
              <a:spcAft>
                <a:spcPts val="70"/>
              </a:spcAft>
            </a:pPr>
            <a:r>
              <a:rPr b="0" sz="1300">
                <a:solidFill>
                  <a:srgbClr val="2C3E50"/>
                </a:solidFill>
                <a:latin typeface="Calibri"/>
              </a:rPr>
              <a:t/>
            </a:r>
          </a:p>
          <a:p>
            <a:pPr algn="l">
              <a:buChar char="•"/>
              <a:spcAft>
                <a:spcPts val="70"/>
              </a:spcAft>
            </a:pPr>
            <a:r>
              <a:rPr b="0" sz="1300">
                <a:solidFill>
                  <a:srgbClr val="2C3E50"/>
                </a:solidFill>
                <a:latin typeface="Calibri"/>
              </a:rPr>
              <a:t>Example: 'The proportion of students who passed among those who studied (0.84) was 0.30 higher than among those who did not study (0.54).'</a:t>
            </a:r>
          </a:p>
        </p:txBody>
      </p:sp>
      <p:sp>
        <p:nvSpPr>
          <p:cNvPr id="8" name="TextBox 7"/>
          <p:cNvSpPr txBox="1"/>
          <p:nvPr/>
        </p:nvSpPr>
        <p:spPr>
          <a:xfrm>
            <a:off x="4754880" y="1325880"/>
            <a:ext cx="3977639" cy="3520440"/>
          </a:xfrm>
          <a:prstGeom prst="rect">
            <a:avLst/>
          </a:prstGeom>
          <a:noFill/>
        </p:spPr>
        <p:txBody>
          <a:bodyPr wrap="square">
            <a:spAutoFit/>
          </a:bodyPr>
          <a:lstStyle/>
          <a:p>
            <a:pPr algn="l">
              <a:buChar char="•"/>
              <a:spcAft>
                <a:spcPts val="70"/>
              </a:spcAft>
            </a:pPr>
            <a:r>
              <a:rPr b="0" sz="1300">
                <a:solidFill>
                  <a:srgbClr val="2C3E50"/>
                </a:solidFill>
                <a:latin typeface="Calibri"/>
              </a:rPr>
              <a:t>"[Group 1] was ___ times as likely to [outcome] as [Group 2]."</a:t>
            </a:r>
          </a:p>
          <a:p>
            <a:pPr algn="l">
              <a:buChar char="•"/>
              <a:spcAft>
                <a:spcPts val="70"/>
              </a:spcAft>
            </a:pPr>
            <a:r>
              <a:rPr b="0" sz="1300">
                <a:solidFill>
                  <a:srgbClr val="2C3E50"/>
                </a:solidFill>
                <a:latin typeface="Calibri"/>
              </a:rPr>
              <a:t/>
            </a:r>
          </a:p>
          <a:p>
            <a:pPr algn="l">
              <a:buChar char="•"/>
              <a:spcAft>
                <a:spcPts val="70"/>
              </a:spcAft>
            </a:pPr>
            <a:r>
              <a:rPr b="0" sz="1300">
                <a:solidFill>
                  <a:srgbClr val="2C3E50"/>
                </a:solidFill>
                <a:latin typeface="Calibri"/>
              </a:rPr>
              <a:t>Example: 'Students who studied were 1.56 times as likely to pass as students who did not study.'</a:t>
            </a:r>
          </a:p>
          <a:p>
            <a:pPr algn="l">
              <a:buChar char="•"/>
              <a:spcAft>
                <a:spcPts val="70"/>
              </a:spcAft>
            </a:pPr>
            <a:r>
              <a:rPr b="0" sz="1300">
                <a:solidFill>
                  <a:srgbClr val="2C3E50"/>
                </a:solidFill>
                <a:latin typeface="Calibri"/>
              </a:rPr>
              <a:t/>
            </a:r>
          </a:p>
          <a:p>
            <a:pPr algn="l">
              <a:buChar char="•"/>
              <a:spcAft>
                <a:spcPts val="70"/>
              </a:spcAft>
            </a:pPr>
            <a:r>
              <a:rPr b="0" sz="1300">
                <a:solidFill>
                  <a:srgbClr val="2C3E50"/>
                </a:solidFill>
                <a:latin typeface="Calibri"/>
              </a:rPr>
              <a:t>NOTE: RR = 2 means TWICE as likely — NOT 2% more.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CECEC"/>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GROUP ACTIVITY</a:t>
            </a:r>
          </a:p>
        </p:txBody>
      </p:sp>
      <p:sp>
        <p:nvSpPr>
          <p:cNvPr id="4" name="TextBox 3"/>
          <p:cNvSpPr txBox="1"/>
          <p:nvPr/>
        </p:nvSpPr>
        <p:spPr>
          <a:xfrm>
            <a:off x="457200" y="896112"/>
            <a:ext cx="8229600" cy="566928"/>
          </a:xfrm>
          <a:prstGeom prst="rect">
            <a:avLst/>
          </a:prstGeom>
          <a:noFill/>
        </p:spPr>
        <p:txBody>
          <a:bodyPr wrap="square">
            <a:spAutoFit/>
          </a:bodyPr>
          <a:lstStyle/>
          <a:p>
            <a:pPr algn="l"/>
            <a:r>
              <a:rPr b="1" i="0" sz="1900">
                <a:solidFill>
                  <a:srgbClr val="2C3E50"/>
                </a:solidFill>
                <a:latin typeface="Calibri"/>
              </a:rPr>
              <a:t>Vaccination Status x Illness — Quantify the Association</a:t>
            </a:r>
          </a:p>
        </p:txBody>
      </p:sp>
      <p:sp>
        <p:nvSpPr>
          <p:cNvPr id="5" name="TextBox 4"/>
          <p:cNvSpPr txBox="1"/>
          <p:nvPr/>
        </p:nvSpPr>
        <p:spPr>
          <a:xfrm>
            <a:off x="548640" y="1554480"/>
            <a:ext cx="8046720" cy="2926080"/>
          </a:xfrm>
          <a:prstGeom prst="rect">
            <a:avLst/>
          </a:prstGeom>
          <a:noFill/>
        </p:spPr>
        <p:txBody>
          <a:bodyPr wrap="square">
            <a:spAutoFit/>
          </a:bodyPr>
          <a:lstStyle/>
          <a:p>
            <a:pPr algn="l">
              <a:spcAft>
                <a:spcPts val="80"/>
              </a:spcAft>
            </a:pPr>
            <a:r>
              <a:rPr b="0" sz="1400">
                <a:solidFill>
                  <a:srgbClr val="2C3E50"/>
                </a:solidFill>
                <a:latin typeface="Calibri"/>
              </a:rPr>
              <a:t>1.  Using the provided two-way table (vaccinated/unvaccinated x sick/not sick), compute the conditional proportion sick for each group.</a:t>
            </a:r>
          </a:p>
          <a:p>
            <a:pPr algn="l">
              <a:spcAft>
                <a:spcPts val="80"/>
              </a:spcAft>
            </a:pPr>
            <a:r>
              <a:rPr b="0" sz="1400">
                <a:solidFill>
                  <a:srgbClr val="2C3E50"/>
                </a:solidFill>
                <a:latin typeface="Calibri"/>
              </a:rPr>
              <a:t>2.  Calculate the difference in proportions (vaccinated vs. unvaccinated). State the direction.</a:t>
            </a:r>
          </a:p>
          <a:p>
            <a:pPr algn="l">
              <a:spcAft>
                <a:spcPts val="80"/>
              </a:spcAft>
            </a:pPr>
            <a:r>
              <a:rPr b="0" sz="1400">
                <a:solidFill>
                  <a:srgbClr val="2C3E50"/>
                </a:solidFill>
                <a:latin typeface="Calibri"/>
              </a:rPr>
              <a:t>3.  Calculate the relative risk (vaccinated vs. unvaccinated). Interpret in context.</a:t>
            </a:r>
          </a:p>
          <a:p>
            <a:pPr algn="l">
              <a:spcAft>
                <a:spcPts val="80"/>
              </a:spcAft>
            </a:pPr>
            <a:r>
              <a:rPr b="0" sz="1400">
                <a:solidFill>
                  <a:srgbClr val="2C3E50"/>
                </a:solidFill>
                <a:latin typeface="Calibri"/>
              </a:rPr>
              <a:t>4.  Write a 2-sentence conclusion using BOTH statistics. Does the association suggest the vaccine was effective?</a:t>
            </a:r>
          </a:p>
        </p:txBody>
      </p:sp>
      <p:sp>
        <p:nvSpPr>
          <p:cNvPr id="6" name="TextBox 5"/>
          <p:cNvSpPr txBox="1"/>
          <p:nvPr/>
        </p:nvSpPr>
        <p:spPr>
          <a:xfrm>
            <a:off x="457200" y="4754880"/>
            <a:ext cx="8229600" cy="320040"/>
          </a:xfrm>
          <a:prstGeom prst="rect">
            <a:avLst/>
          </a:prstGeom>
          <a:noFill/>
        </p:spPr>
        <p:txBody>
          <a:bodyPr wrap="square">
            <a:spAutoFit/>
          </a:bodyPr>
          <a:lstStyle/>
          <a:p>
            <a:pPr algn="l"/>
            <a:r>
              <a:rPr b="1" i="0" sz="1100">
                <a:solidFill>
                  <a:srgbClr val="C0392B"/>
                </a:solidFill>
                <a:latin typeface="Calibri"/>
              </a:rPr>
              <a:t>TIME: 8–10 minutes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2E5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spc="400">
                <a:solidFill>
                  <a:srgbClr val="F5A623"/>
                </a:solidFill>
                <a:latin typeface="Calibri"/>
              </a:rPr>
              <a:t>EXIT TICKET</a:t>
            </a:r>
          </a:p>
        </p:txBody>
      </p:sp>
      <p:sp>
        <p:nvSpPr>
          <p:cNvPr id="4" name="TextBox 3"/>
          <p:cNvSpPr txBox="1"/>
          <p:nvPr/>
        </p:nvSpPr>
        <p:spPr>
          <a:xfrm>
            <a:off x="548640" y="914400"/>
            <a:ext cx="8046720" cy="3931920"/>
          </a:xfrm>
          <a:prstGeom prst="rect">
            <a:avLst/>
          </a:prstGeom>
          <a:noFill/>
        </p:spPr>
        <p:txBody>
          <a:bodyPr wrap="square">
            <a:spAutoFit/>
          </a:bodyPr>
          <a:lstStyle/>
          <a:p>
            <a:pPr algn="l">
              <a:spcAft>
                <a:spcPts val="100"/>
              </a:spcAft>
            </a:pPr>
            <a:r>
              <a:rPr b="0" sz="1500">
                <a:solidFill>
                  <a:srgbClr val="FFFFFF"/>
                </a:solidFill>
                <a:latin typeface="Calibri"/>
              </a:rPr>
              <a:t>1.  Study: 45 of 150 smokers (30%) and 18 of 180 non-smokers (10%) developed a condition.
    Compute the difference in proportions and interpret.</a:t>
            </a:r>
          </a:p>
          <a:p>
            <a:pPr algn="l">
              <a:spcAft>
                <a:spcPts val="100"/>
              </a:spcAft>
            </a:pPr>
            <a:r>
              <a:rPr b="0" sz="1500">
                <a:solidFill>
                  <a:srgbClr val="FFFFFF"/>
                </a:solidFill>
                <a:latin typeface="Calibri"/>
              </a:rPr>
              <a:t>2.  Compute the relative risk (smokers vs. non-smokers) and interpret.</a:t>
            </a:r>
          </a:p>
          <a:p>
            <a:pPr algn="l">
              <a:spcAft>
                <a:spcPts val="100"/>
              </a:spcAft>
            </a:pPr>
            <a:r>
              <a:rPr b="0" sz="1500">
                <a:solidFill>
                  <a:srgbClr val="FFFFFF"/>
                </a:solidFill>
                <a:latin typeface="Calibri"/>
              </a:rPr>
              <a:t>3.  Which statistic better communicates the practical importance of the association here — the difference in proportions or the relative risk? Justify.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0" y="0"/>
            <a:ext cx="164592" cy="5143500"/>
          </a:xfrm>
          <a:prstGeom prst="rect">
            <a:avLst/>
          </a:prstGeom>
          <a:solidFill>
            <a:srgbClr val="D48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188720"/>
            <a:ext cx="8412480" cy="548640"/>
          </a:xfrm>
          <a:prstGeom prst="rect">
            <a:avLst/>
          </a:prstGeom>
          <a:noFill/>
        </p:spPr>
        <p:txBody>
          <a:bodyPr wrap="square">
            <a:spAutoFit/>
          </a:bodyPr>
          <a:lstStyle/>
          <a:p>
            <a:pPr algn="l"/>
            <a:r>
              <a:rPr b="1" i="0" sz="1300" spc="500">
                <a:solidFill>
                  <a:srgbClr val="D4820A"/>
                </a:solidFill>
                <a:latin typeface="Calibri"/>
              </a:rPr>
              <a:t>LESSON 2.4</a:t>
            </a:r>
          </a:p>
        </p:txBody>
      </p:sp>
      <p:sp>
        <p:nvSpPr>
          <p:cNvPr id="4" name="TextBox 3"/>
          <p:cNvSpPr txBox="1"/>
          <p:nvPr/>
        </p:nvSpPr>
        <p:spPr>
          <a:xfrm>
            <a:off x="365760" y="1783080"/>
            <a:ext cx="8412480" cy="1828800"/>
          </a:xfrm>
          <a:prstGeom prst="rect">
            <a:avLst/>
          </a:prstGeom>
          <a:noFill/>
        </p:spPr>
        <p:txBody>
          <a:bodyPr wrap="square">
            <a:spAutoFit/>
          </a:bodyPr>
          <a:lstStyle/>
          <a:p>
            <a:pPr algn="l"/>
            <a:r>
              <a:rPr b="1" i="0" sz="3400">
                <a:solidFill>
                  <a:srgbClr val="FFFFFF"/>
                </a:solidFill>
                <a:latin typeface="Calibri"/>
              </a:rPr>
              <a:t>Representing the Relationship Between
Two Quantitative Variables</a:t>
            </a:r>
          </a:p>
        </p:txBody>
      </p:sp>
      <p:sp>
        <p:nvSpPr>
          <p:cNvPr id="5" name="TextBox 4"/>
          <p:cNvSpPr txBox="1"/>
          <p:nvPr/>
        </p:nvSpPr>
        <p:spPr>
          <a:xfrm>
            <a:off x="365760" y="4434840"/>
            <a:ext cx="8412480" cy="457200"/>
          </a:xfrm>
          <a:prstGeom prst="rect">
            <a:avLst/>
          </a:prstGeom>
          <a:noFill/>
        </p:spPr>
        <p:txBody>
          <a:bodyPr wrap="square">
            <a:spAutoFit/>
          </a:bodyPr>
          <a:lstStyle/>
          <a:p>
            <a:pPr algn="l"/>
            <a:r>
              <a:rPr b="0" i="0" sz="1100">
                <a:solidFill>
                  <a:srgbClr val="C5DFF5"/>
                </a:solidFill>
                <a:latin typeface="Calibri"/>
              </a:rPr>
              <a:t>AP Statistics  ·  Unit 2: Exploring Two-Variable Data</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EAF3FB"/>
        </a:solidFill>
        <a:effectLst/>
      </p:bgPr>
    </p:bg>
    <p:spTree>
      <p:nvGrpSpPr>
        <p:cNvPr id="1" name=""/>
        <p:cNvGrpSpPr/>
        <p:nvPr/>
      </p:nvGrpSpPr>
      <p:grpSpPr/>
      <p:sp>
        <p:nvSpPr>
          <p:cNvPr id="2" name="Rectangle 1"/>
          <p:cNvSpPr/>
          <p:nvPr/>
        </p:nvSpPr>
        <p:spPr>
          <a:xfrm>
            <a:off x="457200" y="411480"/>
            <a:ext cx="8229600" cy="6400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21207"/>
            <a:ext cx="8229600" cy="365760"/>
          </a:xfrm>
          <a:prstGeom prst="rect">
            <a:avLst/>
          </a:prstGeom>
          <a:noFill/>
        </p:spPr>
        <p:txBody>
          <a:bodyPr wrap="square">
            <a:spAutoFit/>
          </a:bodyPr>
          <a:lstStyle/>
          <a:p>
            <a:pPr algn="l"/>
            <a:r>
              <a:rPr b="1" i="0" sz="1100" spc="400">
                <a:solidFill>
                  <a:srgbClr val="1F3A5F"/>
                </a:solidFill>
                <a:latin typeface="Calibri"/>
              </a:rPr>
              <a:t>PRIMARY OBJECTIVE</a:t>
            </a:r>
          </a:p>
        </p:txBody>
      </p:sp>
      <p:sp>
        <p:nvSpPr>
          <p:cNvPr id="4" name="TextBox 3"/>
          <p:cNvSpPr txBox="1"/>
          <p:nvPr/>
        </p:nvSpPr>
        <p:spPr>
          <a:xfrm>
            <a:off x="457200" y="960120"/>
            <a:ext cx="8229600" cy="3840480"/>
          </a:xfrm>
          <a:prstGeom prst="rect">
            <a:avLst/>
          </a:prstGeom>
          <a:noFill/>
        </p:spPr>
        <p:txBody>
          <a:bodyPr wrap="square">
            <a:spAutoFit/>
          </a:bodyPr>
          <a:lstStyle/>
          <a:p>
            <a:pPr algn="l"/>
            <a:r>
              <a:rPr b="0" i="0" sz="1700">
                <a:solidFill>
                  <a:srgbClr val="2C3E50"/>
                </a:solidFill>
                <a:latin typeface="Calibri"/>
              </a:rPr>
              <a:t>Students will construct and interpret scatterplots for two quantitative variables. Students will describe the relationship using the DOFS framework: Direction, Form, Strength, and Outliers, in context (Big Idea: UNC, DAT — Skills 2 &amp; 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A623"/>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D48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HOOK</a:t>
            </a:r>
          </a:p>
        </p:txBody>
      </p:sp>
      <p:sp>
        <p:nvSpPr>
          <p:cNvPr id="4" name="TextBox 3"/>
          <p:cNvSpPr txBox="1"/>
          <p:nvPr/>
        </p:nvSpPr>
        <p:spPr>
          <a:xfrm>
            <a:off x="457200" y="896112"/>
            <a:ext cx="8229600" cy="594360"/>
          </a:xfrm>
          <a:prstGeom prst="rect">
            <a:avLst/>
          </a:prstGeom>
          <a:noFill/>
        </p:spPr>
        <p:txBody>
          <a:bodyPr wrap="square">
            <a:spAutoFit/>
          </a:bodyPr>
          <a:lstStyle/>
          <a:p>
            <a:pPr algn="l"/>
            <a:r>
              <a:rPr b="1" i="0" sz="2000">
                <a:solidFill>
                  <a:srgbClr val="FFFFFF"/>
                </a:solidFill>
                <a:latin typeface="Calibri"/>
              </a:rPr>
              <a:t>Rank These Four Plots From Most to Least Useful for Prediction</a:t>
            </a:r>
          </a:p>
        </p:txBody>
      </p:sp>
      <p:sp>
        <p:nvSpPr>
          <p:cNvPr id="5" name="TextBox 4"/>
          <p:cNvSpPr txBox="1"/>
          <p:nvPr/>
        </p:nvSpPr>
        <p:spPr>
          <a:xfrm>
            <a:off x="457200" y="1554480"/>
            <a:ext cx="8229600" cy="685800"/>
          </a:xfrm>
          <a:prstGeom prst="rect">
            <a:avLst/>
          </a:prstGeom>
          <a:noFill/>
        </p:spPr>
        <p:txBody>
          <a:bodyPr wrap="square">
            <a:spAutoFit/>
          </a:bodyPr>
          <a:lstStyle/>
          <a:p>
            <a:pPr algn="l"/>
            <a:r>
              <a:rPr b="0" i="1" sz="1400">
                <a:solidFill>
                  <a:srgbClr val="C5DFF5"/>
                </a:solidFill>
                <a:latin typeface="Calibri"/>
              </a:rPr>
              <a:t>[Display four scatterplots: strong positive linear, weak negative linear, curved, no pattern]</a:t>
            </a:r>
          </a:p>
        </p:txBody>
      </p:sp>
      <p:sp>
        <p:nvSpPr>
          <p:cNvPr id="6" name="TextBox 5"/>
          <p:cNvSpPr txBox="1"/>
          <p:nvPr/>
        </p:nvSpPr>
        <p:spPr>
          <a:xfrm>
            <a:off x="457200" y="2331720"/>
            <a:ext cx="8229600" cy="365760"/>
          </a:xfrm>
          <a:prstGeom prst="rect">
            <a:avLst/>
          </a:prstGeom>
          <a:noFill/>
        </p:spPr>
        <p:txBody>
          <a:bodyPr wrap="square">
            <a:spAutoFit/>
          </a:bodyPr>
          <a:lstStyle/>
          <a:p>
            <a:pPr algn="l"/>
            <a:r>
              <a:rPr b="1" i="0" sz="1300">
                <a:solidFill>
                  <a:srgbClr val="FFFFFF"/>
                </a:solidFill>
                <a:latin typeface="Calibri"/>
              </a:rPr>
              <a:t>Discussion questions:</a:t>
            </a:r>
          </a:p>
        </p:txBody>
      </p:sp>
      <p:sp>
        <p:nvSpPr>
          <p:cNvPr id="7" name="TextBox 6"/>
          <p:cNvSpPr txBox="1"/>
          <p:nvPr/>
        </p:nvSpPr>
        <p:spPr>
          <a:xfrm>
            <a:off x="640080" y="2743200"/>
            <a:ext cx="8046720" cy="2468880"/>
          </a:xfrm>
          <a:prstGeom prst="rect">
            <a:avLst/>
          </a:prstGeom>
          <a:noFill/>
        </p:spPr>
        <p:txBody>
          <a:bodyPr wrap="square">
            <a:spAutoFit/>
          </a:bodyPr>
          <a:lstStyle/>
          <a:p>
            <a:pPr algn="l">
              <a:buChar char="•"/>
              <a:spcAft>
                <a:spcPts val="70"/>
              </a:spcAft>
            </a:pPr>
            <a:r>
              <a:rPr b="0" sz="1400">
                <a:solidFill>
                  <a:srgbClr val="FFFFFF"/>
                </a:solidFill>
                <a:latin typeface="Calibri"/>
              </a:rPr>
              <a:t>Rank the four plots from most to least useful for predicting y from x.</a:t>
            </a:r>
          </a:p>
          <a:p>
            <a:pPr algn="l">
              <a:buChar char="•"/>
              <a:spcAft>
                <a:spcPts val="70"/>
              </a:spcAft>
            </a:pPr>
            <a:r>
              <a:rPr b="0" sz="1400">
                <a:solidFill>
                  <a:srgbClr val="FFFFFF"/>
                </a:solidFill>
                <a:latin typeface="Calibri"/>
              </a:rPr>
              <a:t>What feature makes a scatterplot useful for prediction?</a:t>
            </a:r>
          </a:p>
          <a:p>
            <a:pPr algn="l">
              <a:buChar char="•"/>
              <a:spcAft>
                <a:spcPts val="70"/>
              </a:spcAft>
            </a:pPr>
            <a:r>
              <a:rPr b="0" sz="1400">
                <a:solidFill>
                  <a:srgbClr val="FFFFFF"/>
                </a:solidFill>
                <a:latin typeface="Calibri"/>
              </a:rPr>
              <a:t>→ The clearer the pattern, the better our predictions — and today we learn to describe those patterns precisely.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EDF8F0"/>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2D7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VOCABULARY &amp; KEY CONCEPTS</a:t>
            </a:r>
          </a:p>
        </p:txBody>
      </p:sp>
      <p:sp>
        <p:nvSpPr>
          <p:cNvPr id="4" name="TextBox 3"/>
          <p:cNvSpPr txBox="1"/>
          <p:nvPr/>
        </p:nvSpPr>
        <p:spPr>
          <a:xfrm>
            <a:off x="365760" y="914400"/>
            <a:ext cx="4023360" cy="320040"/>
          </a:xfrm>
          <a:prstGeom prst="rect">
            <a:avLst/>
          </a:prstGeom>
          <a:noFill/>
        </p:spPr>
        <p:txBody>
          <a:bodyPr wrap="square">
            <a:spAutoFit/>
          </a:bodyPr>
          <a:lstStyle/>
          <a:p>
            <a:pPr algn="l"/>
            <a:r>
              <a:rPr b="1" i="0" sz="1200">
                <a:solidFill>
                  <a:srgbClr val="2D7A4F"/>
                </a:solidFill>
                <a:latin typeface="Calibri"/>
              </a:rPr>
              <a:t>Scatterplot</a:t>
            </a:r>
          </a:p>
        </p:txBody>
      </p:sp>
      <p:sp>
        <p:nvSpPr>
          <p:cNvPr id="5" name="TextBox 4"/>
          <p:cNvSpPr txBox="1"/>
          <p:nvPr/>
        </p:nvSpPr>
        <p:spPr>
          <a:xfrm>
            <a:off x="365760" y="1216152"/>
            <a:ext cx="4023360" cy="530352"/>
          </a:xfrm>
          <a:prstGeom prst="rect">
            <a:avLst/>
          </a:prstGeom>
          <a:noFill/>
        </p:spPr>
        <p:txBody>
          <a:bodyPr wrap="square">
            <a:spAutoFit/>
          </a:bodyPr>
          <a:lstStyle/>
          <a:p>
            <a:pPr algn="l"/>
            <a:r>
              <a:rPr b="0" i="0" sz="1100">
                <a:solidFill>
                  <a:srgbClr val="2C3E50"/>
                </a:solidFill>
                <a:latin typeface="Calibri"/>
              </a:rPr>
              <a:t>Graph of ordered pairs (x, y) for two quantitative variables on the same individual</a:t>
            </a:r>
          </a:p>
        </p:txBody>
      </p:sp>
      <p:sp>
        <p:nvSpPr>
          <p:cNvPr id="6" name="TextBox 5"/>
          <p:cNvSpPr txBox="1"/>
          <p:nvPr/>
        </p:nvSpPr>
        <p:spPr>
          <a:xfrm>
            <a:off x="365760" y="1828800"/>
            <a:ext cx="4023360" cy="320040"/>
          </a:xfrm>
          <a:prstGeom prst="rect">
            <a:avLst/>
          </a:prstGeom>
          <a:noFill/>
        </p:spPr>
        <p:txBody>
          <a:bodyPr wrap="square">
            <a:spAutoFit/>
          </a:bodyPr>
          <a:lstStyle/>
          <a:p>
            <a:pPr algn="l"/>
            <a:r>
              <a:rPr b="1" i="0" sz="1200">
                <a:solidFill>
                  <a:srgbClr val="2D7A4F"/>
                </a:solidFill>
                <a:latin typeface="Calibri"/>
              </a:rPr>
              <a:t>Positive association</a:t>
            </a:r>
          </a:p>
        </p:txBody>
      </p:sp>
      <p:sp>
        <p:nvSpPr>
          <p:cNvPr id="7" name="TextBox 6"/>
          <p:cNvSpPr txBox="1"/>
          <p:nvPr/>
        </p:nvSpPr>
        <p:spPr>
          <a:xfrm>
            <a:off x="365760" y="2130552"/>
            <a:ext cx="4023360" cy="530352"/>
          </a:xfrm>
          <a:prstGeom prst="rect">
            <a:avLst/>
          </a:prstGeom>
          <a:noFill/>
        </p:spPr>
        <p:txBody>
          <a:bodyPr wrap="square">
            <a:spAutoFit/>
          </a:bodyPr>
          <a:lstStyle/>
          <a:p>
            <a:pPr algn="l"/>
            <a:r>
              <a:rPr b="0" i="0" sz="1100">
                <a:solidFill>
                  <a:srgbClr val="2C3E50"/>
                </a:solidFill>
                <a:latin typeface="Calibri"/>
              </a:rPr>
              <a:t>As x increases, y tends to increase</a:t>
            </a:r>
          </a:p>
        </p:txBody>
      </p:sp>
      <p:sp>
        <p:nvSpPr>
          <p:cNvPr id="8" name="TextBox 7"/>
          <p:cNvSpPr txBox="1"/>
          <p:nvPr/>
        </p:nvSpPr>
        <p:spPr>
          <a:xfrm>
            <a:off x="365760" y="2743200"/>
            <a:ext cx="4023360" cy="320040"/>
          </a:xfrm>
          <a:prstGeom prst="rect">
            <a:avLst/>
          </a:prstGeom>
          <a:noFill/>
        </p:spPr>
        <p:txBody>
          <a:bodyPr wrap="square">
            <a:spAutoFit/>
          </a:bodyPr>
          <a:lstStyle/>
          <a:p>
            <a:pPr algn="l"/>
            <a:r>
              <a:rPr b="1" i="0" sz="1200">
                <a:solidFill>
                  <a:srgbClr val="2D7A4F"/>
                </a:solidFill>
                <a:latin typeface="Calibri"/>
              </a:rPr>
              <a:t>Negative association</a:t>
            </a:r>
          </a:p>
        </p:txBody>
      </p:sp>
      <p:sp>
        <p:nvSpPr>
          <p:cNvPr id="9" name="TextBox 8"/>
          <p:cNvSpPr txBox="1"/>
          <p:nvPr/>
        </p:nvSpPr>
        <p:spPr>
          <a:xfrm>
            <a:off x="365760" y="3044952"/>
            <a:ext cx="4023360" cy="530352"/>
          </a:xfrm>
          <a:prstGeom prst="rect">
            <a:avLst/>
          </a:prstGeom>
          <a:noFill/>
        </p:spPr>
        <p:txBody>
          <a:bodyPr wrap="square">
            <a:spAutoFit/>
          </a:bodyPr>
          <a:lstStyle/>
          <a:p>
            <a:pPr algn="l"/>
            <a:r>
              <a:rPr b="0" i="0" sz="1100">
                <a:solidFill>
                  <a:srgbClr val="2C3E50"/>
                </a:solidFill>
                <a:latin typeface="Calibri"/>
              </a:rPr>
              <a:t>As x increases, y tends to decrease</a:t>
            </a:r>
          </a:p>
        </p:txBody>
      </p:sp>
      <p:sp>
        <p:nvSpPr>
          <p:cNvPr id="10" name="TextBox 9"/>
          <p:cNvSpPr txBox="1"/>
          <p:nvPr/>
        </p:nvSpPr>
        <p:spPr>
          <a:xfrm>
            <a:off x="4754880" y="914400"/>
            <a:ext cx="4023360" cy="320040"/>
          </a:xfrm>
          <a:prstGeom prst="rect">
            <a:avLst/>
          </a:prstGeom>
          <a:noFill/>
        </p:spPr>
        <p:txBody>
          <a:bodyPr wrap="square">
            <a:spAutoFit/>
          </a:bodyPr>
          <a:lstStyle/>
          <a:p>
            <a:pPr algn="l"/>
            <a:r>
              <a:rPr b="1" i="0" sz="1200">
                <a:solidFill>
                  <a:srgbClr val="2D7A4F"/>
                </a:solidFill>
                <a:latin typeface="Calibri"/>
              </a:rPr>
              <a:t>Form</a:t>
            </a:r>
          </a:p>
        </p:txBody>
      </p:sp>
      <p:sp>
        <p:nvSpPr>
          <p:cNvPr id="11" name="TextBox 10"/>
          <p:cNvSpPr txBox="1"/>
          <p:nvPr/>
        </p:nvSpPr>
        <p:spPr>
          <a:xfrm>
            <a:off x="4754880" y="1216152"/>
            <a:ext cx="4023360" cy="530352"/>
          </a:xfrm>
          <a:prstGeom prst="rect">
            <a:avLst/>
          </a:prstGeom>
          <a:noFill/>
        </p:spPr>
        <p:txBody>
          <a:bodyPr wrap="square">
            <a:spAutoFit/>
          </a:bodyPr>
          <a:lstStyle/>
          <a:p>
            <a:pPr algn="l"/>
            <a:r>
              <a:rPr b="0" i="0" sz="1100">
                <a:solidFill>
                  <a:srgbClr val="2C3E50"/>
                </a:solidFill>
                <a:latin typeface="Calibri"/>
              </a:rPr>
              <a:t>Overall shape of the pattern: linear, curved, or none</a:t>
            </a:r>
          </a:p>
        </p:txBody>
      </p:sp>
      <p:sp>
        <p:nvSpPr>
          <p:cNvPr id="12" name="TextBox 11"/>
          <p:cNvSpPr txBox="1"/>
          <p:nvPr/>
        </p:nvSpPr>
        <p:spPr>
          <a:xfrm>
            <a:off x="4754880" y="1828800"/>
            <a:ext cx="4023360" cy="320040"/>
          </a:xfrm>
          <a:prstGeom prst="rect">
            <a:avLst/>
          </a:prstGeom>
          <a:noFill/>
        </p:spPr>
        <p:txBody>
          <a:bodyPr wrap="square">
            <a:spAutoFit/>
          </a:bodyPr>
          <a:lstStyle/>
          <a:p>
            <a:pPr algn="l"/>
            <a:r>
              <a:rPr b="1" i="0" sz="1200">
                <a:solidFill>
                  <a:srgbClr val="2D7A4F"/>
                </a:solidFill>
                <a:latin typeface="Calibri"/>
              </a:rPr>
              <a:t>Strength</a:t>
            </a:r>
          </a:p>
        </p:txBody>
      </p:sp>
      <p:sp>
        <p:nvSpPr>
          <p:cNvPr id="13" name="TextBox 12"/>
          <p:cNvSpPr txBox="1"/>
          <p:nvPr/>
        </p:nvSpPr>
        <p:spPr>
          <a:xfrm>
            <a:off x="4754880" y="2130552"/>
            <a:ext cx="4023360" cy="530352"/>
          </a:xfrm>
          <a:prstGeom prst="rect">
            <a:avLst/>
          </a:prstGeom>
          <a:noFill/>
        </p:spPr>
        <p:txBody>
          <a:bodyPr wrap="square">
            <a:spAutoFit/>
          </a:bodyPr>
          <a:lstStyle/>
          <a:p>
            <a:pPr algn="l"/>
            <a:r>
              <a:rPr b="0" i="0" sz="1100">
                <a:solidFill>
                  <a:srgbClr val="2C3E50"/>
                </a:solidFill>
                <a:latin typeface="Calibri"/>
              </a:rPr>
              <a:t>How closely points follow the form: strong, moderate, or weak</a:t>
            </a:r>
          </a:p>
        </p:txBody>
      </p:sp>
      <p:sp>
        <p:nvSpPr>
          <p:cNvPr id="14" name="TextBox 13"/>
          <p:cNvSpPr txBox="1"/>
          <p:nvPr/>
        </p:nvSpPr>
        <p:spPr>
          <a:xfrm>
            <a:off x="4754880" y="2743200"/>
            <a:ext cx="4023360" cy="320040"/>
          </a:xfrm>
          <a:prstGeom prst="rect">
            <a:avLst/>
          </a:prstGeom>
          <a:noFill/>
        </p:spPr>
        <p:txBody>
          <a:bodyPr wrap="square">
            <a:spAutoFit/>
          </a:bodyPr>
          <a:lstStyle/>
          <a:p>
            <a:pPr algn="l"/>
            <a:r>
              <a:rPr b="1" i="0" sz="1200">
                <a:solidFill>
                  <a:srgbClr val="2D7A4F"/>
                </a:solidFill>
                <a:latin typeface="Calibri"/>
              </a:rPr>
              <a:t>Outlier (bivariate)</a:t>
            </a:r>
          </a:p>
        </p:txBody>
      </p:sp>
      <p:sp>
        <p:nvSpPr>
          <p:cNvPr id="15" name="TextBox 14"/>
          <p:cNvSpPr txBox="1"/>
          <p:nvPr/>
        </p:nvSpPr>
        <p:spPr>
          <a:xfrm>
            <a:off x="4754880" y="3044952"/>
            <a:ext cx="4023360" cy="530352"/>
          </a:xfrm>
          <a:prstGeom prst="rect">
            <a:avLst/>
          </a:prstGeom>
          <a:noFill/>
        </p:spPr>
        <p:txBody>
          <a:bodyPr wrap="square">
            <a:spAutoFit/>
          </a:bodyPr>
          <a:lstStyle/>
          <a:p>
            <a:pPr algn="l"/>
            <a:r>
              <a:rPr b="0" i="0" sz="1100">
                <a:solidFill>
                  <a:srgbClr val="2C3E50"/>
                </a:solidFill>
                <a:latin typeface="Calibri"/>
              </a:rPr>
              <a:t>A point that deviates from the overall pattern — may have extreme x, y, or both</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594360"/>
          </a:xfrm>
          <a:prstGeom prst="rect">
            <a:avLst/>
          </a:prstGeom>
          <a:noFill/>
        </p:spPr>
        <p:txBody>
          <a:bodyPr wrap="square">
            <a:spAutoFit/>
          </a:bodyPr>
          <a:lstStyle/>
          <a:p>
            <a:pPr algn="l"/>
            <a:r>
              <a:rPr b="1" i="0" sz="2000">
                <a:solidFill>
                  <a:srgbClr val="FFFFFF"/>
                </a:solidFill>
                <a:latin typeface="Calibri"/>
              </a:rPr>
              <a:t>Writing a Complete DOFS Description</a:t>
            </a:r>
          </a:p>
        </p:txBody>
      </p:sp>
      <p:sp>
        <p:nvSpPr>
          <p:cNvPr id="4" name="TextBox 3"/>
          <p:cNvSpPr txBox="1"/>
          <p:nvPr/>
        </p:nvSpPr>
        <p:spPr>
          <a:xfrm>
            <a:off x="457200" y="914400"/>
            <a:ext cx="8229600" cy="3931920"/>
          </a:xfrm>
          <a:prstGeom prst="rect">
            <a:avLst/>
          </a:prstGeom>
          <a:noFill/>
        </p:spPr>
        <p:txBody>
          <a:bodyPr wrap="square">
            <a:spAutoFit/>
          </a:bodyPr>
          <a:lstStyle/>
          <a:p>
            <a:pPr algn="l">
              <a:buChar char="•"/>
              <a:spcAft>
                <a:spcPts val="70"/>
              </a:spcAft>
            </a:pPr>
            <a:r>
              <a:rPr b="1" sz="1400">
                <a:solidFill>
                  <a:srgbClr val="2C3E50"/>
                </a:solidFill>
                <a:latin typeface="Calibri"/>
              </a:rPr>
              <a:t>Template:</a:t>
            </a:r>
          </a:p>
          <a:p>
            <a:pPr algn="l">
              <a:buChar char="•"/>
              <a:spcAft>
                <a:spcPts val="70"/>
              </a:spcAft>
            </a:pPr>
            <a:r>
              <a:rPr b="0" sz="1400">
                <a:solidFill>
                  <a:srgbClr val="2C3E50"/>
                </a:solidFill>
                <a:latin typeface="Calibri"/>
              </a:rPr>
              <a:t>"There is a [strong/moderate/weak] [positive/negative] [linear/curved] association</a:t>
            </a:r>
          </a:p>
          <a:p>
            <a:pPr algn="l">
              <a:buChar char="•"/>
              <a:spcAft>
                <a:spcPts val="70"/>
              </a:spcAft>
            </a:pPr>
            <a:r>
              <a:rPr b="0" sz="1400">
                <a:solidFill>
                  <a:srgbClr val="2C3E50"/>
                </a:solidFill>
                <a:latin typeface="Calibri"/>
              </a:rPr>
              <a:t> between [x-variable] and [y-variable] for these [individuals]."</a:t>
            </a:r>
          </a:p>
          <a:p>
            <a:pPr algn="l">
              <a:buChar char="•"/>
              <a:spcAft>
                <a:spcPts val="70"/>
              </a:spcAft>
            </a:pPr>
            <a:r>
              <a:rPr b="0" sz="1400">
                <a:solidFill>
                  <a:srgbClr val="2C3E50"/>
                </a:solidFill>
                <a:latin typeface="Calibri"/>
              </a:rPr>
              <a:t/>
            </a:r>
          </a:p>
          <a:p>
            <a:pPr algn="l">
              <a:buChar char="•"/>
              <a:spcAft>
                <a:spcPts val="70"/>
              </a:spcAft>
            </a:pPr>
            <a:r>
              <a:rPr b="1" sz="1400">
                <a:solidFill>
                  <a:srgbClr val="2C3E50"/>
                </a:solidFill>
                <a:latin typeface="Calibri"/>
              </a:rPr>
              <a:t>Then add:</a:t>
            </a:r>
          </a:p>
          <a:p>
            <a:pPr algn="l">
              <a:buChar char="•"/>
              <a:spcAft>
                <a:spcPts val="70"/>
              </a:spcAft>
            </a:pPr>
            <a:r>
              <a:rPr b="0" sz="1400">
                <a:solidFill>
                  <a:srgbClr val="2C3E50"/>
                </a:solidFill>
                <a:latin typeface="Calibri"/>
              </a:rPr>
              <a:t>Outliers: "One [individual] at [x = ___] appears to be an outlier, falling far from the overall pattern."</a:t>
            </a:r>
          </a:p>
          <a:p>
            <a:pPr algn="l">
              <a:buChar char="•"/>
              <a:spcAft>
                <a:spcPts val="70"/>
              </a:spcAft>
            </a:pPr>
            <a:r>
              <a:rPr b="0" sz="1400">
                <a:solidFill>
                  <a:srgbClr val="2C3E50"/>
                </a:solidFill>
                <a:latin typeface="Calibri"/>
              </a:rPr>
              <a:t/>
            </a:r>
          </a:p>
          <a:p>
            <a:pPr algn="l">
              <a:buChar char="•"/>
              <a:spcAft>
                <a:spcPts val="70"/>
              </a:spcAft>
            </a:pPr>
            <a:r>
              <a:rPr b="1" sz="1400">
                <a:solidFill>
                  <a:srgbClr val="2C3E50"/>
                </a:solidFill>
                <a:latin typeface="Calibri"/>
              </a:rPr>
              <a:t>AP rule:</a:t>
            </a:r>
          </a:p>
          <a:p>
            <a:pPr algn="l">
              <a:buChar char="•"/>
              <a:spcAft>
                <a:spcPts val="70"/>
              </a:spcAft>
            </a:pPr>
            <a:r>
              <a:rPr b="0" sz="1400">
                <a:solidFill>
                  <a:srgbClr val="2C3E50"/>
                </a:solidFill>
                <a:latin typeface="Calibri"/>
              </a:rPr>
              <a:t>Always include context — name both variables and the population in every sentence.</a:t>
            </a:r>
          </a:p>
          <a:p>
            <a:pPr algn="l">
              <a:buChar char="•"/>
              <a:spcAft>
                <a:spcPts val="70"/>
              </a:spcAft>
            </a:pPr>
            <a:r>
              <a:rPr b="0" sz="1400">
                <a:solidFill>
                  <a:srgbClr val="2C3E50"/>
                </a:solidFill>
                <a:latin typeface="Calibri"/>
              </a:rPr>
              <a:t>The word 'linear' is critical — it determines whether regression is appropriate.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CECEC"/>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GROUP ACTIVITY</a:t>
            </a:r>
          </a:p>
        </p:txBody>
      </p:sp>
      <p:sp>
        <p:nvSpPr>
          <p:cNvPr id="4" name="TextBox 3"/>
          <p:cNvSpPr txBox="1"/>
          <p:nvPr/>
        </p:nvSpPr>
        <p:spPr>
          <a:xfrm>
            <a:off x="457200" y="896112"/>
            <a:ext cx="8229600" cy="566928"/>
          </a:xfrm>
          <a:prstGeom prst="rect">
            <a:avLst/>
          </a:prstGeom>
          <a:noFill/>
        </p:spPr>
        <p:txBody>
          <a:bodyPr wrap="square">
            <a:spAutoFit/>
          </a:bodyPr>
          <a:lstStyle/>
          <a:p>
            <a:pPr algn="l"/>
            <a:r>
              <a:rPr b="1" i="0" sz="1900">
                <a:solidFill>
                  <a:srgbClr val="2C3E50"/>
                </a:solidFill>
                <a:latin typeface="Calibri"/>
              </a:rPr>
              <a:t>Construct and Describe a Scatterplot</a:t>
            </a:r>
          </a:p>
        </p:txBody>
      </p:sp>
      <p:sp>
        <p:nvSpPr>
          <p:cNvPr id="5" name="TextBox 4"/>
          <p:cNvSpPr txBox="1"/>
          <p:nvPr/>
        </p:nvSpPr>
        <p:spPr>
          <a:xfrm>
            <a:off x="548640" y="1554480"/>
            <a:ext cx="8046720" cy="2926080"/>
          </a:xfrm>
          <a:prstGeom prst="rect">
            <a:avLst/>
          </a:prstGeom>
          <a:noFill/>
        </p:spPr>
        <p:txBody>
          <a:bodyPr wrap="square">
            <a:spAutoFit/>
          </a:bodyPr>
          <a:lstStyle/>
          <a:p>
            <a:pPr algn="l">
              <a:spcAft>
                <a:spcPts val="80"/>
              </a:spcAft>
            </a:pPr>
            <a:r>
              <a:rPr b="0" sz="1400">
                <a:solidFill>
                  <a:srgbClr val="2C3E50"/>
                </a:solidFill>
                <a:latin typeface="Calibri"/>
              </a:rPr>
              <a:t>1.  Your group receives a dataset (car age vs. price / temperature vs. ice cream sales / study time vs. test score).</a:t>
            </a:r>
          </a:p>
          <a:p>
            <a:pPr algn="l">
              <a:spcAft>
                <a:spcPts val="80"/>
              </a:spcAft>
            </a:pPr>
            <a:r>
              <a:rPr b="0" sz="1400">
                <a:solidFill>
                  <a:srgbClr val="2C3E50"/>
                </a:solidFill>
                <a:latin typeface="Calibri"/>
              </a:rPr>
              <a:t>2.  Construct the scatterplot on graph paper: explanatory variable on x-axis, response on y-axis. Label both axes.</a:t>
            </a:r>
          </a:p>
          <a:p>
            <a:pPr algn="l">
              <a:spcAft>
                <a:spcPts val="80"/>
              </a:spcAft>
            </a:pPr>
            <a:r>
              <a:rPr b="0" sz="1400">
                <a:solidFill>
                  <a:srgbClr val="2C3E50"/>
                </a:solidFill>
                <a:latin typeface="Calibri"/>
              </a:rPr>
              <a:t>3.  Write a complete DOFS description (direction, form, strength, outliers — with context).</a:t>
            </a:r>
          </a:p>
          <a:p>
            <a:pPr algn="l">
              <a:spcAft>
                <a:spcPts val="80"/>
              </a:spcAft>
            </a:pPr>
            <a:r>
              <a:rPr b="0" sz="1400">
                <a:solidFill>
                  <a:srgbClr val="2C3E50"/>
                </a:solidFill>
                <a:latin typeface="Calibri"/>
              </a:rPr>
              <a:t>4.  Share with the class: compare the direction and strength across different datasets.</a:t>
            </a:r>
          </a:p>
        </p:txBody>
      </p:sp>
      <p:sp>
        <p:nvSpPr>
          <p:cNvPr id="6" name="TextBox 5"/>
          <p:cNvSpPr txBox="1"/>
          <p:nvPr/>
        </p:nvSpPr>
        <p:spPr>
          <a:xfrm>
            <a:off x="457200" y="4754880"/>
            <a:ext cx="8229600" cy="320040"/>
          </a:xfrm>
          <a:prstGeom prst="rect">
            <a:avLst/>
          </a:prstGeom>
          <a:noFill/>
        </p:spPr>
        <p:txBody>
          <a:bodyPr wrap="square">
            <a:spAutoFit/>
          </a:bodyPr>
          <a:lstStyle/>
          <a:p>
            <a:pPr algn="l"/>
            <a:r>
              <a:rPr b="1" i="0" sz="1100">
                <a:solidFill>
                  <a:srgbClr val="C0392B"/>
                </a:solidFill>
                <a:latin typeface="Calibri"/>
              </a:rPr>
              <a:t>TIME: 8–10 minutes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2E5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spc="400">
                <a:solidFill>
                  <a:srgbClr val="F5A623"/>
                </a:solidFill>
                <a:latin typeface="Calibri"/>
              </a:rPr>
              <a:t>EXIT TICKET</a:t>
            </a:r>
          </a:p>
        </p:txBody>
      </p:sp>
      <p:sp>
        <p:nvSpPr>
          <p:cNvPr id="4" name="TextBox 3"/>
          <p:cNvSpPr txBox="1"/>
          <p:nvPr/>
        </p:nvSpPr>
        <p:spPr>
          <a:xfrm>
            <a:off x="548640" y="914400"/>
            <a:ext cx="8046720" cy="3931920"/>
          </a:xfrm>
          <a:prstGeom prst="rect">
            <a:avLst/>
          </a:prstGeom>
          <a:noFill/>
        </p:spPr>
        <p:txBody>
          <a:bodyPr wrap="square">
            <a:spAutoFit/>
          </a:bodyPr>
          <a:lstStyle/>
          <a:p>
            <a:pPr algn="l">
              <a:spcAft>
                <a:spcPts val="100"/>
              </a:spcAft>
            </a:pPr>
            <a:r>
              <a:rPr b="0" sz="1500">
                <a:solidFill>
                  <a:srgbClr val="FFFFFF"/>
                </a:solidFill>
                <a:latin typeface="Calibri"/>
              </a:rPr>
              <a:t>1.  Display shows a scatterplot of hours of TV per day (x) vs. GPA (y) for 25 students.
    Write a complete DOFS description in 3–4 sentences with context.</a:t>
            </a:r>
          </a:p>
          <a:p>
            <a:pPr algn="l">
              <a:spcAft>
                <a:spcPts val="100"/>
              </a:spcAft>
            </a:pPr>
            <a:r>
              <a:rPr b="0" sz="1500">
                <a:solidFill>
                  <a:srgbClr val="FFFFFF"/>
                </a:solidFill>
                <a:latin typeface="Calibri"/>
              </a:rPr>
              <a:t>2.  Identify any apparent outlier(s). How would you describe where that point falls?</a:t>
            </a:r>
          </a:p>
          <a:p>
            <a:pPr algn="l">
              <a:spcAft>
                <a:spcPts val="100"/>
              </a:spcAft>
            </a:pPr>
            <a:r>
              <a:rPr b="0" sz="1500">
                <a:solidFill>
                  <a:srgbClr val="FFFFFF"/>
                </a:solidFill>
                <a:latin typeface="Calibri"/>
              </a:rPr>
              <a:t>3.  If x = 50 hours/week, would you predict a GPA from this scatterplot? What concern arises?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0" y="0"/>
            <a:ext cx="164592" cy="5143500"/>
          </a:xfrm>
          <a:prstGeom prst="rect">
            <a:avLst/>
          </a:prstGeom>
          <a:solidFill>
            <a:srgbClr val="D48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188720"/>
            <a:ext cx="8412480" cy="548640"/>
          </a:xfrm>
          <a:prstGeom prst="rect">
            <a:avLst/>
          </a:prstGeom>
          <a:noFill/>
        </p:spPr>
        <p:txBody>
          <a:bodyPr wrap="square">
            <a:spAutoFit/>
          </a:bodyPr>
          <a:lstStyle/>
          <a:p>
            <a:pPr algn="l"/>
            <a:r>
              <a:rPr b="1" i="0" sz="1300" spc="500">
                <a:solidFill>
                  <a:srgbClr val="D4820A"/>
                </a:solidFill>
                <a:latin typeface="Calibri"/>
              </a:rPr>
              <a:t>LESSON 2.5</a:t>
            </a:r>
          </a:p>
        </p:txBody>
      </p:sp>
      <p:sp>
        <p:nvSpPr>
          <p:cNvPr id="4" name="TextBox 3"/>
          <p:cNvSpPr txBox="1"/>
          <p:nvPr/>
        </p:nvSpPr>
        <p:spPr>
          <a:xfrm>
            <a:off x="365760" y="1783080"/>
            <a:ext cx="8412480" cy="1828800"/>
          </a:xfrm>
          <a:prstGeom prst="rect">
            <a:avLst/>
          </a:prstGeom>
          <a:noFill/>
        </p:spPr>
        <p:txBody>
          <a:bodyPr wrap="square">
            <a:spAutoFit/>
          </a:bodyPr>
          <a:lstStyle/>
          <a:p>
            <a:pPr algn="l"/>
            <a:r>
              <a:rPr b="1" i="0" sz="3400">
                <a:solidFill>
                  <a:srgbClr val="FFFFFF"/>
                </a:solidFill>
                <a:latin typeface="Calibri"/>
              </a:rPr>
              <a:t>Correlation</a:t>
            </a:r>
          </a:p>
        </p:txBody>
      </p:sp>
      <p:sp>
        <p:nvSpPr>
          <p:cNvPr id="5" name="TextBox 4"/>
          <p:cNvSpPr txBox="1"/>
          <p:nvPr/>
        </p:nvSpPr>
        <p:spPr>
          <a:xfrm>
            <a:off x="365760" y="4434840"/>
            <a:ext cx="8412480" cy="457200"/>
          </a:xfrm>
          <a:prstGeom prst="rect">
            <a:avLst/>
          </a:prstGeom>
          <a:noFill/>
        </p:spPr>
        <p:txBody>
          <a:bodyPr wrap="square">
            <a:spAutoFit/>
          </a:bodyPr>
          <a:lstStyle/>
          <a:p>
            <a:pPr algn="l"/>
            <a:r>
              <a:rPr b="0" i="0" sz="1100">
                <a:solidFill>
                  <a:srgbClr val="C5DFF5"/>
                </a:solidFill>
                <a:latin typeface="Calibri"/>
              </a:rPr>
              <a:t>AP Statistics  ·  Unit 2: Exploring Two-Variable Data</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EAF3FB"/>
        </a:solidFill>
        <a:effectLst/>
      </p:bgPr>
    </p:bg>
    <p:spTree>
      <p:nvGrpSpPr>
        <p:cNvPr id="1" name=""/>
        <p:cNvGrpSpPr/>
        <p:nvPr/>
      </p:nvGrpSpPr>
      <p:grpSpPr/>
      <p:sp>
        <p:nvSpPr>
          <p:cNvPr id="2" name="Rectangle 1"/>
          <p:cNvSpPr/>
          <p:nvPr/>
        </p:nvSpPr>
        <p:spPr>
          <a:xfrm>
            <a:off x="457200" y="411480"/>
            <a:ext cx="8229600" cy="6400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21207"/>
            <a:ext cx="8229600" cy="365760"/>
          </a:xfrm>
          <a:prstGeom prst="rect">
            <a:avLst/>
          </a:prstGeom>
          <a:noFill/>
        </p:spPr>
        <p:txBody>
          <a:bodyPr wrap="square">
            <a:spAutoFit/>
          </a:bodyPr>
          <a:lstStyle/>
          <a:p>
            <a:pPr algn="l"/>
            <a:r>
              <a:rPr b="1" i="0" sz="1100" spc="400">
                <a:solidFill>
                  <a:srgbClr val="1F3A5F"/>
                </a:solidFill>
                <a:latin typeface="Calibri"/>
              </a:rPr>
              <a:t>PRIMARY OBJECTIVE</a:t>
            </a:r>
          </a:p>
        </p:txBody>
      </p:sp>
      <p:sp>
        <p:nvSpPr>
          <p:cNvPr id="4" name="TextBox 3"/>
          <p:cNvSpPr txBox="1"/>
          <p:nvPr/>
        </p:nvSpPr>
        <p:spPr>
          <a:xfrm>
            <a:off x="457200" y="960120"/>
            <a:ext cx="8229600" cy="3840480"/>
          </a:xfrm>
          <a:prstGeom prst="rect">
            <a:avLst/>
          </a:prstGeom>
          <a:noFill/>
        </p:spPr>
        <p:txBody>
          <a:bodyPr wrap="square">
            <a:spAutoFit/>
          </a:bodyPr>
          <a:lstStyle/>
          <a:p>
            <a:pPr algn="l"/>
            <a:r>
              <a:rPr b="0" i="0" sz="1700">
                <a:solidFill>
                  <a:srgbClr val="2C3E50"/>
                </a:solidFill>
                <a:latin typeface="Calibri"/>
              </a:rPr>
              <a:t>Students will calculate and interpret the correlation coefficient r as a measure of the strength and direction of a linear association. Students will understand the key properties of r and recognize that correlation does not imply causation (Big Idea: DAT — Skills 2 &amp; 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A623"/>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D48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HOOK</a:t>
            </a:r>
          </a:p>
        </p:txBody>
      </p:sp>
      <p:sp>
        <p:nvSpPr>
          <p:cNvPr id="4" name="TextBox 3"/>
          <p:cNvSpPr txBox="1"/>
          <p:nvPr/>
        </p:nvSpPr>
        <p:spPr>
          <a:xfrm>
            <a:off x="457200" y="896112"/>
            <a:ext cx="8229600" cy="594360"/>
          </a:xfrm>
          <a:prstGeom prst="rect">
            <a:avLst/>
          </a:prstGeom>
          <a:noFill/>
        </p:spPr>
        <p:txBody>
          <a:bodyPr wrap="square">
            <a:spAutoFit/>
          </a:bodyPr>
          <a:lstStyle/>
          <a:p>
            <a:pPr algn="l"/>
            <a:r>
              <a:rPr b="1" i="0" sz="2000">
                <a:solidFill>
                  <a:srgbClr val="FFFFFF"/>
                </a:solidFill>
                <a:latin typeface="Calibri"/>
              </a:rPr>
              <a:t>Match Each Scatterplot to Its r Value</a:t>
            </a:r>
          </a:p>
        </p:txBody>
      </p:sp>
      <p:sp>
        <p:nvSpPr>
          <p:cNvPr id="5" name="TextBox 4"/>
          <p:cNvSpPr txBox="1"/>
          <p:nvPr/>
        </p:nvSpPr>
        <p:spPr>
          <a:xfrm>
            <a:off x="457200" y="1554480"/>
            <a:ext cx="8229600" cy="685800"/>
          </a:xfrm>
          <a:prstGeom prst="rect">
            <a:avLst/>
          </a:prstGeom>
          <a:noFill/>
        </p:spPr>
        <p:txBody>
          <a:bodyPr wrap="square">
            <a:spAutoFit/>
          </a:bodyPr>
          <a:lstStyle/>
          <a:p>
            <a:pPr algn="l"/>
            <a:r>
              <a:rPr b="0" i="1" sz="1400">
                <a:solidFill>
                  <a:srgbClr val="C5DFF5"/>
                </a:solidFill>
                <a:latin typeface="Calibri"/>
              </a:rPr>
              <a:t>Six scatterplots displayed — match each to an r value from this list: -0.95, -0.50, 0.00, 0.50, 0.85, 1.00</a:t>
            </a:r>
          </a:p>
        </p:txBody>
      </p:sp>
      <p:sp>
        <p:nvSpPr>
          <p:cNvPr id="6" name="TextBox 5"/>
          <p:cNvSpPr txBox="1"/>
          <p:nvPr/>
        </p:nvSpPr>
        <p:spPr>
          <a:xfrm>
            <a:off x="457200" y="2331720"/>
            <a:ext cx="8229600" cy="365760"/>
          </a:xfrm>
          <a:prstGeom prst="rect">
            <a:avLst/>
          </a:prstGeom>
          <a:noFill/>
        </p:spPr>
        <p:txBody>
          <a:bodyPr wrap="square">
            <a:spAutoFit/>
          </a:bodyPr>
          <a:lstStyle/>
          <a:p>
            <a:pPr algn="l"/>
            <a:r>
              <a:rPr b="1" i="0" sz="1300">
                <a:solidFill>
                  <a:srgbClr val="FFFFFF"/>
                </a:solidFill>
                <a:latin typeface="Calibri"/>
              </a:rPr>
              <a:t>Discussion questions:</a:t>
            </a:r>
          </a:p>
        </p:txBody>
      </p:sp>
      <p:sp>
        <p:nvSpPr>
          <p:cNvPr id="7" name="TextBox 6"/>
          <p:cNvSpPr txBox="1"/>
          <p:nvPr/>
        </p:nvSpPr>
        <p:spPr>
          <a:xfrm>
            <a:off x="640080" y="2743200"/>
            <a:ext cx="8046720" cy="2468880"/>
          </a:xfrm>
          <a:prstGeom prst="rect">
            <a:avLst/>
          </a:prstGeom>
          <a:noFill/>
        </p:spPr>
        <p:txBody>
          <a:bodyPr wrap="square">
            <a:spAutoFit/>
          </a:bodyPr>
          <a:lstStyle/>
          <a:p>
            <a:pPr algn="l">
              <a:buChar char="•"/>
              <a:spcAft>
                <a:spcPts val="70"/>
              </a:spcAft>
            </a:pPr>
            <a:r>
              <a:rPr b="0" sz="1400">
                <a:solidFill>
                  <a:srgbClr val="FFFFFF"/>
                </a:solidFill>
                <a:latin typeface="Calibri"/>
              </a:rPr>
              <a:t>What visual feature tells you the sign of r?</a:t>
            </a:r>
          </a:p>
          <a:p>
            <a:pPr algn="l">
              <a:buChar char="•"/>
              <a:spcAft>
                <a:spcPts val="70"/>
              </a:spcAft>
            </a:pPr>
            <a:r>
              <a:rPr b="0" sz="1400">
                <a:solidFill>
                  <a:srgbClr val="FFFFFF"/>
                </a:solidFill>
                <a:latin typeface="Calibri"/>
              </a:rPr>
              <a:t>What visual feature tells you the magnitude of r?</a:t>
            </a:r>
          </a:p>
          <a:p>
            <a:pPr algn="l">
              <a:buChar char="•"/>
              <a:spcAft>
                <a:spcPts val="70"/>
              </a:spcAft>
            </a:pPr>
            <a:r>
              <a:rPr b="0" sz="1400">
                <a:solidFill>
                  <a:srgbClr val="FFFFFF"/>
                </a:solidFill>
                <a:latin typeface="Calibri"/>
              </a:rPr>
              <a:t>→ Correlation formalizes the visual impression of linear tightness into a single number.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EDF8F0"/>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2D7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VOCABULARY &amp; KEY CONCEPTS</a:t>
            </a:r>
          </a:p>
        </p:txBody>
      </p:sp>
      <p:sp>
        <p:nvSpPr>
          <p:cNvPr id="4" name="TextBox 3"/>
          <p:cNvSpPr txBox="1"/>
          <p:nvPr/>
        </p:nvSpPr>
        <p:spPr>
          <a:xfrm>
            <a:off x="365760" y="914400"/>
            <a:ext cx="4023360" cy="320040"/>
          </a:xfrm>
          <a:prstGeom prst="rect">
            <a:avLst/>
          </a:prstGeom>
          <a:noFill/>
        </p:spPr>
        <p:txBody>
          <a:bodyPr wrap="square">
            <a:spAutoFit/>
          </a:bodyPr>
          <a:lstStyle/>
          <a:p>
            <a:pPr algn="l"/>
            <a:r>
              <a:rPr b="1" i="0" sz="1200">
                <a:solidFill>
                  <a:srgbClr val="2D7A4F"/>
                </a:solidFill>
                <a:latin typeface="Calibri"/>
              </a:rPr>
              <a:t>r (correlation coefficient)</a:t>
            </a:r>
          </a:p>
        </p:txBody>
      </p:sp>
      <p:sp>
        <p:nvSpPr>
          <p:cNvPr id="5" name="TextBox 4"/>
          <p:cNvSpPr txBox="1"/>
          <p:nvPr/>
        </p:nvSpPr>
        <p:spPr>
          <a:xfrm>
            <a:off x="365760" y="1216152"/>
            <a:ext cx="4023360" cy="530352"/>
          </a:xfrm>
          <a:prstGeom prst="rect">
            <a:avLst/>
          </a:prstGeom>
          <a:noFill/>
        </p:spPr>
        <p:txBody>
          <a:bodyPr wrap="square">
            <a:spAutoFit/>
          </a:bodyPr>
          <a:lstStyle/>
          <a:p>
            <a:pPr algn="l"/>
            <a:r>
              <a:rPr b="0" i="0" sz="1100">
                <a:solidFill>
                  <a:srgbClr val="2C3E50"/>
                </a:solidFill>
                <a:latin typeface="Calibri"/>
              </a:rPr>
              <a:t>Measures strength and direction of LINEAR association; -1 ≤ r ≤ 1</a:t>
            </a:r>
          </a:p>
        </p:txBody>
      </p:sp>
      <p:sp>
        <p:nvSpPr>
          <p:cNvPr id="6" name="TextBox 5"/>
          <p:cNvSpPr txBox="1"/>
          <p:nvPr/>
        </p:nvSpPr>
        <p:spPr>
          <a:xfrm>
            <a:off x="365760" y="1828800"/>
            <a:ext cx="4023360" cy="320040"/>
          </a:xfrm>
          <a:prstGeom prst="rect">
            <a:avLst/>
          </a:prstGeom>
          <a:noFill/>
        </p:spPr>
        <p:txBody>
          <a:bodyPr wrap="square">
            <a:spAutoFit/>
          </a:bodyPr>
          <a:lstStyle/>
          <a:p>
            <a:pPr algn="l"/>
            <a:r>
              <a:rPr b="1" i="0" sz="1200">
                <a:solidFill>
                  <a:srgbClr val="2D7A4F"/>
                </a:solidFill>
                <a:latin typeface="Calibri"/>
              </a:rPr>
              <a:t>r &gt; 0  /  r &lt; 0</a:t>
            </a:r>
          </a:p>
        </p:txBody>
      </p:sp>
      <p:sp>
        <p:nvSpPr>
          <p:cNvPr id="7" name="TextBox 6"/>
          <p:cNvSpPr txBox="1"/>
          <p:nvPr/>
        </p:nvSpPr>
        <p:spPr>
          <a:xfrm>
            <a:off x="365760" y="2130552"/>
            <a:ext cx="4023360" cy="530352"/>
          </a:xfrm>
          <a:prstGeom prst="rect">
            <a:avLst/>
          </a:prstGeom>
          <a:noFill/>
        </p:spPr>
        <p:txBody>
          <a:bodyPr wrap="square">
            <a:spAutoFit/>
          </a:bodyPr>
          <a:lstStyle/>
          <a:p>
            <a:pPr algn="l"/>
            <a:r>
              <a:rPr b="0" i="0" sz="1100">
                <a:solidFill>
                  <a:srgbClr val="2C3E50"/>
                </a:solidFill>
                <a:latin typeface="Calibri"/>
              </a:rPr>
              <a:t>Positive / negative linear association</a:t>
            </a:r>
          </a:p>
        </p:txBody>
      </p:sp>
      <p:sp>
        <p:nvSpPr>
          <p:cNvPr id="8" name="TextBox 7"/>
          <p:cNvSpPr txBox="1"/>
          <p:nvPr/>
        </p:nvSpPr>
        <p:spPr>
          <a:xfrm>
            <a:off x="365760" y="2743200"/>
            <a:ext cx="4023360" cy="320040"/>
          </a:xfrm>
          <a:prstGeom prst="rect">
            <a:avLst/>
          </a:prstGeom>
          <a:noFill/>
        </p:spPr>
        <p:txBody>
          <a:bodyPr wrap="square">
            <a:spAutoFit/>
          </a:bodyPr>
          <a:lstStyle/>
          <a:p>
            <a:pPr algn="l"/>
            <a:r>
              <a:rPr b="1" i="0" sz="1200">
                <a:solidFill>
                  <a:srgbClr val="2D7A4F"/>
                </a:solidFill>
                <a:latin typeface="Calibri"/>
              </a:rPr>
              <a:t>|r| close to 1</a:t>
            </a:r>
          </a:p>
        </p:txBody>
      </p:sp>
      <p:sp>
        <p:nvSpPr>
          <p:cNvPr id="9" name="TextBox 8"/>
          <p:cNvSpPr txBox="1"/>
          <p:nvPr/>
        </p:nvSpPr>
        <p:spPr>
          <a:xfrm>
            <a:off x="365760" y="3044952"/>
            <a:ext cx="4023360" cy="530352"/>
          </a:xfrm>
          <a:prstGeom prst="rect">
            <a:avLst/>
          </a:prstGeom>
          <a:noFill/>
        </p:spPr>
        <p:txBody>
          <a:bodyPr wrap="square">
            <a:spAutoFit/>
          </a:bodyPr>
          <a:lstStyle/>
          <a:p>
            <a:pPr algn="l"/>
            <a:r>
              <a:rPr b="0" i="0" sz="1100">
                <a:solidFill>
                  <a:srgbClr val="2C3E50"/>
                </a:solidFill>
                <a:latin typeface="Calibri"/>
              </a:rPr>
              <a:t>Strong linear association; |r| close to 0 = weak (rough: ≥0.8 strong, 0.5–0.8 moderate)</a:t>
            </a:r>
          </a:p>
        </p:txBody>
      </p:sp>
      <p:sp>
        <p:nvSpPr>
          <p:cNvPr id="10" name="TextBox 9"/>
          <p:cNvSpPr txBox="1"/>
          <p:nvPr/>
        </p:nvSpPr>
        <p:spPr>
          <a:xfrm>
            <a:off x="4754880" y="914400"/>
            <a:ext cx="4023360" cy="320040"/>
          </a:xfrm>
          <a:prstGeom prst="rect">
            <a:avLst/>
          </a:prstGeom>
          <a:noFill/>
        </p:spPr>
        <p:txBody>
          <a:bodyPr wrap="square">
            <a:spAutoFit/>
          </a:bodyPr>
          <a:lstStyle/>
          <a:p>
            <a:pPr algn="l"/>
            <a:r>
              <a:rPr b="1" i="0" sz="1200">
                <a:solidFill>
                  <a:srgbClr val="2D7A4F"/>
                </a:solidFill>
                <a:latin typeface="Calibri"/>
              </a:rPr>
              <a:t>r² (coeff. of determination)</a:t>
            </a:r>
          </a:p>
        </p:txBody>
      </p:sp>
      <p:sp>
        <p:nvSpPr>
          <p:cNvPr id="11" name="TextBox 10"/>
          <p:cNvSpPr txBox="1"/>
          <p:nvPr/>
        </p:nvSpPr>
        <p:spPr>
          <a:xfrm>
            <a:off x="4754880" y="1216152"/>
            <a:ext cx="4023360" cy="530352"/>
          </a:xfrm>
          <a:prstGeom prst="rect">
            <a:avLst/>
          </a:prstGeom>
          <a:noFill/>
        </p:spPr>
        <p:txBody>
          <a:bodyPr wrap="square">
            <a:spAutoFit/>
          </a:bodyPr>
          <a:lstStyle/>
          <a:p>
            <a:pPr algn="l"/>
            <a:r>
              <a:rPr b="0" i="0" sz="1100">
                <a:solidFill>
                  <a:srgbClr val="2C3E50"/>
                </a:solidFill>
                <a:latin typeface="Calibri"/>
              </a:rPr>
              <a:t>Proportion of variation in y explained by the linear relationship with x</a:t>
            </a:r>
          </a:p>
        </p:txBody>
      </p:sp>
      <p:sp>
        <p:nvSpPr>
          <p:cNvPr id="12" name="TextBox 11"/>
          <p:cNvSpPr txBox="1"/>
          <p:nvPr/>
        </p:nvSpPr>
        <p:spPr>
          <a:xfrm>
            <a:off x="4754880" y="1828800"/>
            <a:ext cx="4023360" cy="320040"/>
          </a:xfrm>
          <a:prstGeom prst="rect">
            <a:avLst/>
          </a:prstGeom>
          <a:noFill/>
        </p:spPr>
        <p:txBody>
          <a:bodyPr wrap="square">
            <a:spAutoFit/>
          </a:bodyPr>
          <a:lstStyle/>
          <a:p>
            <a:pPr algn="l"/>
            <a:r>
              <a:rPr b="1" i="0" sz="1200">
                <a:solidFill>
                  <a:srgbClr val="2D7A4F"/>
                </a:solidFill>
                <a:latin typeface="Calibri"/>
              </a:rPr>
              <a:t>Properties of r</a:t>
            </a:r>
          </a:p>
        </p:txBody>
      </p:sp>
      <p:sp>
        <p:nvSpPr>
          <p:cNvPr id="13" name="TextBox 12"/>
          <p:cNvSpPr txBox="1"/>
          <p:nvPr/>
        </p:nvSpPr>
        <p:spPr>
          <a:xfrm>
            <a:off x="4754880" y="2130552"/>
            <a:ext cx="4023360" cy="530352"/>
          </a:xfrm>
          <a:prstGeom prst="rect">
            <a:avLst/>
          </a:prstGeom>
          <a:noFill/>
        </p:spPr>
        <p:txBody>
          <a:bodyPr wrap="square">
            <a:spAutoFit/>
          </a:bodyPr>
          <a:lstStyle/>
          <a:p>
            <a:pPr algn="l"/>
            <a:r>
              <a:rPr b="0" i="0" sz="1100">
                <a:solidFill>
                  <a:srgbClr val="2C3E50"/>
                </a:solidFill>
                <a:latin typeface="Calibri"/>
              </a:rPr>
              <a:t>Unitless; symmetric (r_xy = r_yx); sensitive to outliers; meaningful only for LINEAR relationships</a:t>
            </a:r>
          </a:p>
        </p:txBody>
      </p:sp>
      <p:sp>
        <p:nvSpPr>
          <p:cNvPr id="14" name="TextBox 13"/>
          <p:cNvSpPr txBox="1"/>
          <p:nvPr/>
        </p:nvSpPr>
        <p:spPr>
          <a:xfrm>
            <a:off x="4754880" y="2743200"/>
            <a:ext cx="4023360" cy="320040"/>
          </a:xfrm>
          <a:prstGeom prst="rect">
            <a:avLst/>
          </a:prstGeom>
          <a:noFill/>
        </p:spPr>
        <p:txBody>
          <a:bodyPr wrap="square">
            <a:spAutoFit/>
          </a:bodyPr>
          <a:lstStyle/>
          <a:p>
            <a:pPr algn="l"/>
            <a:r>
              <a:rPr b="1" i="0" sz="1200">
                <a:solidFill>
                  <a:srgbClr val="2D7A4F"/>
                </a:solidFill>
                <a:latin typeface="Calibri"/>
              </a:rPr>
              <a:t>r = 0</a:t>
            </a:r>
          </a:p>
        </p:txBody>
      </p:sp>
      <p:sp>
        <p:nvSpPr>
          <p:cNvPr id="15" name="TextBox 14"/>
          <p:cNvSpPr txBox="1"/>
          <p:nvPr/>
        </p:nvSpPr>
        <p:spPr>
          <a:xfrm>
            <a:off x="4754880" y="3044952"/>
            <a:ext cx="4023360" cy="530352"/>
          </a:xfrm>
          <a:prstGeom prst="rect">
            <a:avLst/>
          </a:prstGeom>
          <a:noFill/>
        </p:spPr>
        <p:txBody>
          <a:bodyPr wrap="square">
            <a:spAutoFit/>
          </a:bodyPr>
          <a:lstStyle/>
          <a:p>
            <a:pPr algn="l"/>
            <a:r>
              <a:rPr b="0" i="0" sz="1100">
                <a:solidFill>
                  <a:srgbClr val="2C3E50"/>
                </a:solidFill>
                <a:latin typeface="Calibri"/>
              </a:rPr>
              <a:t>No LINEAR association — but a strong CURVED relationship can still exist!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594360"/>
          </a:xfrm>
          <a:prstGeom prst="rect">
            <a:avLst/>
          </a:prstGeom>
          <a:noFill/>
        </p:spPr>
        <p:txBody>
          <a:bodyPr wrap="square">
            <a:spAutoFit/>
          </a:bodyPr>
          <a:lstStyle/>
          <a:p>
            <a:pPr algn="l"/>
            <a:r>
              <a:rPr b="1" i="0" sz="2000">
                <a:solidFill>
                  <a:srgbClr val="FFFFFF"/>
                </a:solidFill>
                <a:latin typeface="Calibri"/>
              </a:rPr>
              <a:t>Properties of r — Common AP Pitfalls</a:t>
            </a:r>
          </a:p>
        </p:txBody>
      </p:sp>
      <p:sp>
        <p:nvSpPr>
          <p:cNvPr id="4" name="TextBox 3"/>
          <p:cNvSpPr txBox="1"/>
          <p:nvPr/>
        </p:nvSpPr>
        <p:spPr>
          <a:xfrm>
            <a:off x="457200" y="914400"/>
            <a:ext cx="8229600" cy="3931920"/>
          </a:xfrm>
          <a:prstGeom prst="rect">
            <a:avLst/>
          </a:prstGeom>
          <a:noFill/>
        </p:spPr>
        <p:txBody>
          <a:bodyPr wrap="square">
            <a:spAutoFit/>
          </a:bodyPr>
          <a:lstStyle/>
          <a:p>
            <a:pPr algn="l">
              <a:buChar char="•"/>
              <a:spcAft>
                <a:spcPts val="70"/>
              </a:spcAft>
            </a:pPr>
            <a:r>
              <a:rPr b="1" sz="1400">
                <a:solidFill>
                  <a:srgbClr val="2C3E50"/>
                </a:solidFill>
                <a:latin typeface="Calibri"/>
              </a:rPr>
              <a:t>r does NOT have units</a:t>
            </a:r>
          </a:p>
          <a:p>
            <a:pPr algn="l">
              <a:buChar char="•"/>
              <a:spcAft>
                <a:spcPts val="70"/>
              </a:spcAft>
            </a:pPr>
            <a:r>
              <a:rPr b="0" sz="1400">
                <a:solidFill>
                  <a:srgbClr val="2C3E50"/>
                </a:solidFill>
                <a:latin typeface="Calibri"/>
              </a:rPr>
              <a:t>    Swapping x and y gives the same r value</a:t>
            </a:r>
          </a:p>
          <a:p>
            <a:pPr algn="l">
              <a:buChar char="•"/>
              <a:spcAft>
                <a:spcPts val="70"/>
              </a:spcAft>
            </a:pPr>
            <a:r>
              <a:rPr b="1" sz="1400">
                <a:solidFill>
                  <a:srgbClr val="2C3E50"/>
                </a:solidFill>
                <a:latin typeface="Calibri"/>
              </a:rPr>
              <a:t>r is NOT resistant to outliers</a:t>
            </a:r>
          </a:p>
          <a:p>
            <a:pPr algn="l">
              <a:buChar char="•"/>
              <a:spcAft>
                <a:spcPts val="70"/>
              </a:spcAft>
            </a:pPr>
            <a:r>
              <a:rPr b="0" sz="1400">
                <a:solidFill>
                  <a:srgbClr val="2C3E50"/>
                </a:solidFill>
                <a:latin typeface="Calibri"/>
              </a:rPr>
              <a:t>    One influential point can dramatically change r — always check the scatterplot</a:t>
            </a:r>
          </a:p>
          <a:p>
            <a:pPr algn="l">
              <a:buChar char="•"/>
              <a:spcAft>
                <a:spcPts val="70"/>
              </a:spcAft>
            </a:pPr>
            <a:r>
              <a:rPr b="1" sz="1400">
                <a:solidFill>
                  <a:srgbClr val="2C3E50"/>
                </a:solidFill>
                <a:latin typeface="Calibri"/>
              </a:rPr>
              <a:t>r = 0 does NOT mean no relationship</a:t>
            </a:r>
          </a:p>
          <a:p>
            <a:pPr algn="l">
              <a:buChar char="•"/>
              <a:spcAft>
                <a:spcPts val="70"/>
              </a:spcAft>
            </a:pPr>
            <a:r>
              <a:rPr b="0" sz="1400">
                <a:solidFill>
                  <a:srgbClr val="2C3E50"/>
                </a:solidFill>
                <a:latin typeface="Calibri"/>
              </a:rPr>
              <a:t>    A curved relationship can have r ≈ 0 yet be very strong</a:t>
            </a:r>
          </a:p>
          <a:p>
            <a:pPr algn="l">
              <a:buChar char="•"/>
              <a:spcAft>
                <a:spcPts val="70"/>
              </a:spcAft>
            </a:pPr>
            <a:r>
              <a:rPr b="1" sz="1400">
                <a:solidFill>
                  <a:srgbClr val="2C3E50"/>
                </a:solidFill>
                <a:latin typeface="Calibri"/>
              </a:rPr>
              <a:t>r measures LINEAR association ONLY</a:t>
            </a:r>
          </a:p>
          <a:p>
            <a:pPr algn="l">
              <a:buChar char="•"/>
              <a:spcAft>
                <a:spcPts val="70"/>
              </a:spcAft>
            </a:pPr>
            <a:r>
              <a:rPr b="0" sz="1400">
                <a:solidFill>
                  <a:srgbClr val="2C3E50"/>
                </a:solidFill>
                <a:latin typeface="Calibri"/>
              </a:rPr>
              <a:t>    Always look at the scatterplot — never rely on r alone</a:t>
            </a:r>
          </a:p>
          <a:p>
            <a:pPr algn="l">
              <a:buChar char="•"/>
              <a:spcAft>
                <a:spcPts val="70"/>
              </a:spcAft>
            </a:pPr>
            <a:r>
              <a:rPr b="1" sz="1400">
                <a:solidFill>
                  <a:srgbClr val="2C3E50"/>
                </a:solidFill>
                <a:latin typeface="Calibri"/>
              </a:rPr>
              <a:t>r² interpretation (most tested on AP):</a:t>
            </a:r>
          </a:p>
          <a:p>
            <a:pPr algn="l">
              <a:buChar char="•"/>
              <a:spcAft>
                <a:spcPts val="70"/>
              </a:spcAft>
            </a:pPr>
            <a:r>
              <a:rPr b="0" sz="1400">
                <a:solidFill>
                  <a:srgbClr val="2C3E50"/>
                </a:solidFill>
                <a:latin typeface="Calibri"/>
              </a:rPr>
              <a:t>    "About r²% of the variation in [y] is explained by the linear relationship with [x]."</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CECEC"/>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GROUP ACTIVITY</a:t>
            </a:r>
          </a:p>
        </p:txBody>
      </p:sp>
      <p:sp>
        <p:nvSpPr>
          <p:cNvPr id="4" name="TextBox 3"/>
          <p:cNvSpPr txBox="1"/>
          <p:nvPr/>
        </p:nvSpPr>
        <p:spPr>
          <a:xfrm>
            <a:off x="457200" y="896112"/>
            <a:ext cx="8229600" cy="566928"/>
          </a:xfrm>
          <a:prstGeom prst="rect">
            <a:avLst/>
          </a:prstGeom>
          <a:noFill/>
        </p:spPr>
        <p:txBody>
          <a:bodyPr wrap="square">
            <a:spAutoFit/>
          </a:bodyPr>
          <a:lstStyle/>
          <a:p>
            <a:pPr algn="l"/>
            <a:r>
              <a:rPr b="1" i="0" sz="1900">
                <a:solidFill>
                  <a:srgbClr val="2C3E50"/>
                </a:solidFill>
                <a:latin typeface="Calibri"/>
              </a:rPr>
              <a:t>Compute r, Interpret, and Test the Outlier Effect</a:t>
            </a:r>
          </a:p>
        </p:txBody>
      </p:sp>
      <p:sp>
        <p:nvSpPr>
          <p:cNvPr id="5" name="TextBox 4"/>
          <p:cNvSpPr txBox="1"/>
          <p:nvPr/>
        </p:nvSpPr>
        <p:spPr>
          <a:xfrm>
            <a:off x="548640" y="1554480"/>
            <a:ext cx="8046720" cy="2926080"/>
          </a:xfrm>
          <a:prstGeom prst="rect">
            <a:avLst/>
          </a:prstGeom>
          <a:noFill/>
        </p:spPr>
        <p:txBody>
          <a:bodyPr wrap="square">
            <a:spAutoFit/>
          </a:bodyPr>
          <a:lstStyle/>
          <a:p>
            <a:pPr algn="l">
              <a:spcAft>
                <a:spcPts val="80"/>
              </a:spcAft>
            </a:pPr>
            <a:r>
              <a:rPr b="0" sz="1400">
                <a:solidFill>
                  <a:srgbClr val="2C3E50"/>
                </a:solidFill>
                <a:latin typeface="Calibri"/>
              </a:rPr>
              <a:t>1.  Using the provided dataset, compute r using your calculator (LinReg output). Interpret r in context.</a:t>
            </a:r>
          </a:p>
          <a:p>
            <a:pPr algn="l">
              <a:spcAft>
                <a:spcPts val="80"/>
              </a:spcAft>
            </a:pPr>
            <a:r>
              <a:rPr b="0" sz="1400">
                <a:solidFill>
                  <a:srgbClr val="2C3E50"/>
                </a:solidFill>
                <a:latin typeface="Calibri"/>
              </a:rPr>
              <a:t>2.  Compute r² and write a sentence interpreting it in context.</a:t>
            </a:r>
          </a:p>
          <a:p>
            <a:pPr algn="l">
              <a:spcAft>
                <a:spcPts val="80"/>
              </a:spcAft>
            </a:pPr>
            <a:r>
              <a:rPr b="0" sz="1400">
                <a:solidFill>
                  <a:srgbClr val="2C3E50"/>
                </a:solidFill>
                <a:latin typeface="Calibri"/>
              </a:rPr>
              <a:t>3.  Remove the one apparent outlier from the dataset and recompute r. Describe the change.</a:t>
            </a:r>
          </a:p>
          <a:p>
            <a:pPr algn="l">
              <a:spcAft>
                <a:spcPts val="80"/>
              </a:spcAft>
            </a:pPr>
            <a:r>
              <a:rPr b="0" sz="1400">
                <a:solidFill>
                  <a:srgbClr val="2C3E50"/>
                </a:solidFill>
                <a:latin typeface="Calibri"/>
              </a:rPr>
              <a:t>4.  Discuss: does the correlation establish a causal relationship between these two variables?</a:t>
            </a:r>
          </a:p>
        </p:txBody>
      </p:sp>
      <p:sp>
        <p:nvSpPr>
          <p:cNvPr id="6" name="TextBox 5"/>
          <p:cNvSpPr txBox="1"/>
          <p:nvPr/>
        </p:nvSpPr>
        <p:spPr>
          <a:xfrm>
            <a:off x="457200" y="4754880"/>
            <a:ext cx="8229600" cy="320040"/>
          </a:xfrm>
          <a:prstGeom prst="rect">
            <a:avLst/>
          </a:prstGeom>
          <a:noFill/>
        </p:spPr>
        <p:txBody>
          <a:bodyPr wrap="square">
            <a:spAutoFit/>
          </a:bodyPr>
          <a:lstStyle/>
          <a:p>
            <a:pPr algn="l"/>
            <a:r>
              <a:rPr b="1" i="0" sz="1100">
                <a:solidFill>
                  <a:srgbClr val="C0392B"/>
                </a:solidFill>
                <a:latin typeface="Calibri"/>
              </a:rPr>
              <a:t>TIME: 8–10 minutes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2E5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spc="400">
                <a:solidFill>
                  <a:srgbClr val="F5A623"/>
                </a:solidFill>
                <a:latin typeface="Calibri"/>
              </a:rPr>
              <a:t>EXIT TICKET</a:t>
            </a:r>
          </a:p>
        </p:txBody>
      </p:sp>
      <p:sp>
        <p:nvSpPr>
          <p:cNvPr id="4" name="TextBox 3"/>
          <p:cNvSpPr txBox="1"/>
          <p:nvPr/>
        </p:nvSpPr>
        <p:spPr>
          <a:xfrm>
            <a:off x="548640" y="914400"/>
            <a:ext cx="8046720" cy="3931920"/>
          </a:xfrm>
          <a:prstGeom prst="rect">
            <a:avLst/>
          </a:prstGeom>
          <a:noFill/>
        </p:spPr>
        <p:txBody>
          <a:bodyPr wrap="square">
            <a:spAutoFit/>
          </a:bodyPr>
          <a:lstStyle/>
          <a:p>
            <a:pPr algn="l">
              <a:spcAft>
                <a:spcPts val="100"/>
              </a:spcAft>
            </a:pPr>
            <a:r>
              <a:rPr b="0" sz="1500">
                <a:solidFill>
                  <a:srgbClr val="FFFFFF"/>
                </a:solidFill>
                <a:latin typeface="Calibri"/>
              </a:rPr>
              <a:t>1.  The correlation between daily temperature and hot chocolate sales is r = -0.74.
    Describe the association in context (direction, strength, form).</a:t>
            </a:r>
          </a:p>
          <a:p>
            <a:pPr algn="l">
              <a:spcAft>
                <a:spcPts val="100"/>
              </a:spcAft>
            </a:pPr>
            <a:r>
              <a:rPr b="0" sz="1500">
                <a:solidFill>
                  <a:srgbClr val="FFFFFF"/>
                </a:solidFill>
                <a:latin typeface="Calibri"/>
              </a:rPr>
              <a:t>2.  Compute r² and interpret it in context.</a:t>
            </a:r>
          </a:p>
          <a:p>
            <a:pPr algn="l">
              <a:spcAft>
                <a:spcPts val="100"/>
              </a:spcAft>
            </a:pPr>
            <a:r>
              <a:rPr b="0" sz="1500">
                <a:solidFill>
                  <a:srgbClr val="FFFFFF"/>
                </a:solidFill>
                <a:latin typeface="Calibri"/>
              </a:rPr>
              <a:t>3.  A classmate says r = -0.74 means 74% of the data shows a negative pattern. Correct this misinterpretation.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0" y="0"/>
            <a:ext cx="164592" cy="5143500"/>
          </a:xfrm>
          <a:prstGeom prst="rect">
            <a:avLst/>
          </a:prstGeom>
          <a:solidFill>
            <a:srgbClr val="D48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188720"/>
            <a:ext cx="8412480" cy="548640"/>
          </a:xfrm>
          <a:prstGeom prst="rect">
            <a:avLst/>
          </a:prstGeom>
          <a:noFill/>
        </p:spPr>
        <p:txBody>
          <a:bodyPr wrap="square">
            <a:spAutoFit/>
          </a:bodyPr>
          <a:lstStyle/>
          <a:p>
            <a:pPr algn="l"/>
            <a:r>
              <a:rPr b="1" i="0" sz="1300" spc="500">
                <a:solidFill>
                  <a:srgbClr val="D4820A"/>
                </a:solidFill>
                <a:latin typeface="Calibri"/>
              </a:rPr>
              <a:t>LESSON 2.6</a:t>
            </a:r>
          </a:p>
        </p:txBody>
      </p:sp>
      <p:sp>
        <p:nvSpPr>
          <p:cNvPr id="4" name="TextBox 3"/>
          <p:cNvSpPr txBox="1"/>
          <p:nvPr/>
        </p:nvSpPr>
        <p:spPr>
          <a:xfrm>
            <a:off x="365760" y="1783080"/>
            <a:ext cx="8412480" cy="1828800"/>
          </a:xfrm>
          <a:prstGeom prst="rect">
            <a:avLst/>
          </a:prstGeom>
          <a:noFill/>
        </p:spPr>
        <p:txBody>
          <a:bodyPr wrap="square">
            <a:spAutoFit/>
          </a:bodyPr>
          <a:lstStyle/>
          <a:p>
            <a:pPr algn="l"/>
            <a:r>
              <a:rPr b="1" i="0" sz="3400">
                <a:solidFill>
                  <a:srgbClr val="FFFFFF"/>
                </a:solidFill>
                <a:latin typeface="Calibri"/>
              </a:rPr>
              <a:t>Linear Regression Models</a:t>
            </a:r>
          </a:p>
        </p:txBody>
      </p:sp>
      <p:sp>
        <p:nvSpPr>
          <p:cNvPr id="5" name="TextBox 4"/>
          <p:cNvSpPr txBox="1"/>
          <p:nvPr/>
        </p:nvSpPr>
        <p:spPr>
          <a:xfrm>
            <a:off x="365760" y="4434840"/>
            <a:ext cx="8412480" cy="457200"/>
          </a:xfrm>
          <a:prstGeom prst="rect">
            <a:avLst/>
          </a:prstGeom>
          <a:noFill/>
        </p:spPr>
        <p:txBody>
          <a:bodyPr wrap="square">
            <a:spAutoFit/>
          </a:bodyPr>
          <a:lstStyle/>
          <a:p>
            <a:pPr algn="l"/>
            <a:r>
              <a:rPr b="0" i="0" sz="1100">
                <a:solidFill>
                  <a:srgbClr val="C5DFF5"/>
                </a:solidFill>
                <a:latin typeface="Calibri"/>
              </a:rPr>
              <a:t>AP Statistics  ·  Unit 2: Exploring Two-Variable Data</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EAF3FB"/>
        </a:solidFill>
        <a:effectLst/>
      </p:bgPr>
    </p:bg>
    <p:spTree>
      <p:nvGrpSpPr>
        <p:cNvPr id="1" name=""/>
        <p:cNvGrpSpPr/>
        <p:nvPr/>
      </p:nvGrpSpPr>
      <p:grpSpPr/>
      <p:sp>
        <p:nvSpPr>
          <p:cNvPr id="2" name="Rectangle 1"/>
          <p:cNvSpPr/>
          <p:nvPr/>
        </p:nvSpPr>
        <p:spPr>
          <a:xfrm>
            <a:off x="457200" y="411480"/>
            <a:ext cx="8229600" cy="6400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21207"/>
            <a:ext cx="8229600" cy="365760"/>
          </a:xfrm>
          <a:prstGeom prst="rect">
            <a:avLst/>
          </a:prstGeom>
          <a:noFill/>
        </p:spPr>
        <p:txBody>
          <a:bodyPr wrap="square">
            <a:spAutoFit/>
          </a:bodyPr>
          <a:lstStyle/>
          <a:p>
            <a:pPr algn="l"/>
            <a:r>
              <a:rPr b="1" i="0" sz="1100" spc="400">
                <a:solidFill>
                  <a:srgbClr val="1F3A5F"/>
                </a:solidFill>
                <a:latin typeface="Calibri"/>
              </a:rPr>
              <a:t>PRIMARY OBJECTIVE</a:t>
            </a:r>
          </a:p>
        </p:txBody>
      </p:sp>
      <p:sp>
        <p:nvSpPr>
          <p:cNvPr id="4" name="TextBox 3"/>
          <p:cNvSpPr txBox="1"/>
          <p:nvPr/>
        </p:nvSpPr>
        <p:spPr>
          <a:xfrm>
            <a:off x="457200" y="960120"/>
            <a:ext cx="8229600" cy="3840480"/>
          </a:xfrm>
          <a:prstGeom prst="rect">
            <a:avLst/>
          </a:prstGeom>
          <a:noFill/>
        </p:spPr>
        <p:txBody>
          <a:bodyPr wrap="square">
            <a:spAutoFit/>
          </a:bodyPr>
          <a:lstStyle/>
          <a:p>
            <a:pPr algn="l"/>
            <a:r>
              <a:rPr b="0" i="0" sz="1700">
                <a:solidFill>
                  <a:srgbClr val="2C3E50"/>
                </a:solidFill>
                <a:latin typeface="Calibri"/>
              </a:rPr>
              <a:t>Students will write and interpret a linear regression equation y-hat = a + bx, including slope and y-intercept in context. Students will use the equation to make predictions and will understand the limitations of extrapolation (Big Idea: DAT — Skill 2).</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sp>
        <p:nvSpPr>
          <p:cNvPr id="2" name="Rectangle 1"/>
          <p:cNvSpPr/>
          <p:nvPr/>
        </p:nvSpPr>
        <p:spPr>
          <a:xfrm>
            <a:off x="0" y="0"/>
            <a:ext cx="9144000" cy="868680"/>
          </a:xfrm>
          <a:prstGeom prst="rect">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8229600" cy="502920"/>
          </a:xfrm>
          <a:prstGeom prst="rect">
            <a:avLst/>
          </a:prstGeom>
          <a:noFill/>
        </p:spPr>
        <p:txBody>
          <a:bodyPr wrap="square">
            <a:spAutoFit/>
          </a:bodyPr>
          <a:lstStyle/>
          <a:p>
            <a:pPr algn="l"/>
            <a:r>
              <a:rPr b="1" i="0" sz="1300">
                <a:solidFill>
                  <a:srgbClr val="1F3A5F"/>
                </a:solidFill>
                <a:latin typeface="Calibri"/>
              </a:rPr>
              <a:t>ACTIVATE PRIOR KNOWLEDGE</a:t>
            </a:r>
          </a:p>
        </p:txBody>
      </p:sp>
      <p:sp>
        <p:nvSpPr>
          <p:cNvPr id="4" name="TextBox 3"/>
          <p:cNvSpPr txBox="1"/>
          <p:nvPr/>
        </p:nvSpPr>
        <p:spPr>
          <a:xfrm>
            <a:off x="457200" y="1005840"/>
            <a:ext cx="8229600" cy="502920"/>
          </a:xfrm>
          <a:prstGeom prst="rect">
            <a:avLst/>
          </a:prstGeom>
          <a:noFill/>
        </p:spPr>
        <p:txBody>
          <a:bodyPr wrap="square">
            <a:spAutoFit/>
          </a:bodyPr>
          <a:lstStyle/>
          <a:p>
            <a:pPr algn="l"/>
            <a:r>
              <a:rPr b="1" i="0" sz="2000">
                <a:solidFill>
                  <a:srgbClr val="2C3E50"/>
                </a:solidFill>
                <a:latin typeface="Calibri"/>
              </a:rPr>
              <a:t>From Algebra to Statistics</a:t>
            </a:r>
          </a:p>
        </p:txBody>
      </p:sp>
      <p:sp>
        <p:nvSpPr>
          <p:cNvPr id="5" name="TextBox 4"/>
          <p:cNvSpPr txBox="1"/>
          <p:nvPr/>
        </p:nvSpPr>
        <p:spPr>
          <a:xfrm>
            <a:off x="640080" y="1600200"/>
            <a:ext cx="8046720" cy="3200400"/>
          </a:xfrm>
          <a:prstGeom prst="rect">
            <a:avLst/>
          </a:prstGeom>
          <a:noFill/>
        </p:spPr>
        <p:txBody>
          <a:bodyPr wrap="square">
            <a:spAutoFit/>
          </a:bodyPr>
          <a:lstStyle/>
          <a:p>
            <a:pPr algn="l">
              <a:buChar char="•"/>
              <a:spcAft>
                <a:spcPts val="80"/>
              </a:spcAft>
            </a:pPr>
            <a:r>
              <a:rPr b="0" sz="1500">
                <a:solidFill>
                  <a:srgbClr val="2C3E50"/>
                </a:solidFill>
                <a:latin typeface="Calibri"/>
              </a:rPr>
              <a:t>Recall slope-intercept form y = mx + b from Algebra.</a:t>
            </a:r>
          </a:p>
          <a:p>
            <a:pPr algn="l">
              <a:buChar char="•"/>
              <a:spcAft>
                <a:spcPts val="80"/>
              </a:spcAft>
            </a:pPr>
            <a:r>
              <a:rPr b="0" sz="1500">
                <a:solidFill>
                  <a:srgbClr val="2C3E50"/>
                </a:solidFill>
                <a:latin typeface="Calibri"/>
              </a:rPr>
              <a:t>What does the slope tell you about a real-world relationship?</a:t>
            </a:r>
          </a:p>
          <a:p>
            <a:pPr algn="l">
              <a:buChar char="•"/>
              <a:spcAft>
                <a:spcPts val="80"/>
              </a:spcAft>
            </a:pPr>
            <a:r>
              <a:rPr b="0" sz="1500">
                <a:solidFill>
                  <a:srgbClr val="2C3E50"/>
                </a:solidFill>
                <a:latin typeface="Calibri"/>
              </a:rPr>
              <a:t>In statistics: the hat on y-hat signals it is a PREDICTED value, not exact.</a:t>
            </a:r>
          </a:p>
          <a:p>
            <a:pPr algn="l">
              <a:buChar char="•"/>
              <a:spcAft>
                <a:spcPts val="80"/>
              </a:spcAft>
            </a:pPr>
            <a:r>
              <a:rPr b="0" sz="1500">
                <a:solidFill>
                  <a:srgbClr val="2C3E50"/>
                </a:solidFill>
                <a:latin typeface="Calibri"/>
              </a:rPr>
              <a:t>The slope answers: 'How does y change, on average, for each one-unit increase in x?'</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A623"/>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D48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HOOK</a:t>
            </a:r>
          </a:p>
        </p:txBody>
      </p:sp>
      <p:sp>
        <p:nvSpPr>
          <p:cNvPr id="4" name="TextBox 3"/>
          <p:cNvSpPr txBox="1"/>
          <p:nvPr/>
        </p:nvSpPr>
        <p:spPr>
          <a:xfrm>
            <a:off x="457200" y="896112"/>
            <a:ext cx="8229600" cy="594360"/>
          </a:xfrm>
          <a:prstGeom prst="rect">
            <a:avLst/>
          </a:prstGeom>
          <a:noFill/>
        </p:spPr>
        <p:txBody>
          <a:bodyPr wrap="square">
            <a:spAutoFit/>
          </a:bodyPr>
          <a:lstStyle/>
          <a:p>
            <a:pPr algn="l"/>
            <a:r>
              <a:rPr b="1" i="0" sz="2000">
                <a:solidFill>
                  <a:srgbClr val="FFFFFF"/>
                </a:solidFill>
                <a:latin typeface="Calibri"/>
              </a:rPr>
              <a:t>Can We Predict Shoe Size From Height?</a:t>
            </a:r>
          </a:p>
        </p:txBody>
      </p:sp>
      <p:sp>
        <p:nvSpPr>
          <p:cNvPr id="5" name="TextBox 4"/>
          <p:cNvSpPr txBox="1"/>
          <p:nvPr/>
        </p:nvSpPr>
        <p:spPr>
          <a:xfrm>
            <a:off x="457200" y="1554480"/>
            <a:ext cx="8229600" cy="685800"/>
          </a:xfrm>
          <a:prstGeom prst="rect">
            <a:avLst/>
          </a:prstGeom>
          <a:noFill/>
        </p:spPr>
        <p:txBody>
          <a:bodyPr wrap="square">
            <a:spAutoFit/>
          </a:bodyPr>
          <a:lstStyle/>
          <a:p>
            <a:pPr algn="l"/>
            <a:r>
              <a:rPr b="0" i="1" sz="1400">
                <a:solidFill>
                  <a:srgbClr val="C5DFF5"/>
                </a:solidFill>
                <a:latin typeface="Calibri"/>
              </a:rPr>
              <a:t>Scatterplot of height (inches) vs. shoe size for 30 adults</a:t>
            </a:r>
          </a:p>
        </p:txBody>
      </p:sp>
      <p:sp>
        <p:nvSpPr>
          <p:cNvPr id="6" name="TextBox 5"/>
          <p:cNvSpPr txBox="1"/>
          <p:nvPr/>
        </p:nvSpPr>
        <p:spPr>
          <a:xfrm>
            <a:off x="457200" y="2331720"/>
            <a:ext cx="8229600" cy="365760"/>
          </a:xfrm>
          <a:prstGeom prst="rect">
            <a:avLst/>
          </a:prstGeom>
          <a:noFill/>
        </p:spPr>
        <p:txBody>
          <a:bodyPr wrap="square">
            <a:spAutoFit/>
          </a:bodyPr>
          <a:lstStyle/>
          <a:p>
            <a:pPr algn="l"/>
            <a:r>
              <a:rPr b="1" i="0" sz="1300">
                <a:solidFill>
                  <a:srgbClr val="FFFFFF"/>
                </a:solidFill>
                <a:latin typeface="Calibri"/>
              </a:rPr>
              <a:t>Discussion questions:</a:t>
            </a:r>
          </a:p>
        </p:txBody>
      </p:sp>
      <p:sp>
        <p:nvSpPr>
          <p:cNvPr id="7" name="TextBox 6"/>
          <p:cNvSpPr txBox="1"/>
          <p:nvPr/>
        </p:nvSpPr>
        <p:spPr>
          <a:xfrm>
            <a:off x="640080" y="2743200"/>
            <a:ext cx="8046720" cy="2468880"/>
          </a:xfrm>
          <a:prstGeom prst="rect">
            <a:avLst/>
          </a:prstGeom>
          <a:noFill/>
        </p:spPr>
        <p:txBody>
          <a:bodyPr wrap="square">
            <a:spAutoFit/>
          </a:bodyPr>
          <a:lstStyle/>
          <a:p>
            <a:pPr algn="l">
              <a:buChar char="•"/>
              <a:spcAft>
                <a:spcPts val="70"/>
              </a:spcAft>
            </a:pPr>
            <a:r>
              <a:rPr b="0" sz="1400">
                <a:solidFill>
                  <a:srgbClr val="FFFFFF"/>
                </a:solidFill>
                <a:latin typeface="Calibri"/>
              </a:rPr>
              <a:t>Informally draw a trend line on the scatterplot and predict shoe size for height = 68 inches.</a:t>
            </a:r>
          </a:p>
          <a:p>
            <a:pPr algn="l">
              <a:buChar char="•"/>
              <a:spcAft>
                <a:spcPts val="70"/>
              </a:spcAft>
            </a:pPr>
            <a:r>
              <a:rPr b="0" sz="1400">
                <a:solidFill>
                  <a:srgbClr val="FFFFFF"/>
                </a:solidFill>
                <a:latin typeface="Calibri"/>
              </a:rPr>
              <a:t>How confident are you in that prediction? What about height = 68.5? Height = 150?</a:t>
            </a:r>
          </a:p>
          <a:p>
            <a:pPr algn="l">
              <a:buChar char="•"/>
              <a:spcAft>
                <a:spcPts val="70"/>
              </a:spcAft>
            </a:pPr>
            <a:r>
              <a:rPr b="0" sz="1400">
                <a:solidFill>
                  <a:srgbClr val="FFFFFF"/>
                </a:solidFill>
                <a:latin typeface="Calibri"/>
              </a:rPr>
              <a:t>→ Today we formalize that line and learn exactly when predictions are and are not reliable.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EDF8F0"/>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2D7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VOCABULARY &amp; KEY CONCEPTS</a:t>
            </a:r>
          </a:p>
        </p:txBody>
      </p:sp>
      <p:sp>
        <p:nvSpPr>
          <p:cNvPr id="4" name="TextBox 3"/>
          <p:cNvSpPr txBox="1"/>
          <p:nvPr/>
        </p:nvSpPr>
        <p:spPr>
          <a:xfrm>
            <a:off x="365760" y="914400"/>
            <a:ext cx="4023360" cy="320040"/>
          </a:xfrm>
          <a:prstGeom prst="rect">
            <a:avLst/>
          </a:prstGeom>
          <a:noFill/>
        </p:spPr>
        <p:txBody>
          <a:bodyPr wrap="square">
            <a:spAutoFit/>
          </a:bodyPr>
          <a:lstStyle/>
          <a:p>
            <a:pPr algn="l"/>
            <a:r>
              <a:rPr b="1" i="0" sz="1200">
                <a:solidFill>
                  <a:srgbClr val="2D7A4F"/>
                </a:solidFill>
                <a:latin typeface="Calibri"/>
              </a:rPr>
              <a:t>Regression line</a:t>
            </a:r>
          </a:p>
        </p:txBody>
      </p:sp>
      <p:sp>
        <p:nvSpPr>
          <p:cNvPr id="5" name="TextBox 4"/>
          <p:cNvSpPr txBox="1"/>
          <p:nvPr/>
        </p:nvSpPr>
        <p:spPr>
          <a:xfrm>
            <a:off x="365760" y="1216152"/>
            <a:ext cx="4023360" cy="530352"/>
          </a:xfrm>
          <a:prstGeom prst="rect">
            <a:avLst/>
          </a:prstGeom>
          <a:noFill/>
        </p:spPr>
        <p:txBody>
          <a:bodyPr wrap="square">
            <a:spAutoFit/>
          </a:bodyPr>
          <a:lstStyle/>
          <a:p>
            <a:pPr algn="l"/>
            <a:r>
              <a:rPr b="0" i="0" sz="1100">
                <a:solidFill>
                  <a:srgbClr val="2C3E50"/>
                </a:solidFill>
                <a:latin typeface="Calibri"/>
              </a:rPr>
              <a:t>y-hat = a + bx; the line that best summarizes the linear relationship</a:t>
            </a:r>
          </a:p>
        </p:txBody>
      </p:sp>
      <p:sp>
        <p:nvSpPr>
          <p:cNvPr id="6" name="TextBox 5"/>
          <p:cNvSpPr txBox="1"/>
          <p:nvPr/>
        </p:nvSpPr>
        <p:spPr>
          <a:xfrm>
            <a:off x="365760" y="1828800"/>
            <a:ext cx="4023360" cy="320040"/>
          </a:xfrm>
          <a:prstGeom prst="rect">
            <a:avLst/>
          </a:prstGeom>
          <a:noFill/>
        </p:spPr>
        <p:txBody>
          <a:bodyPr wrap="square">
            <a:spAutoFit/>
          </a:bodyPr>
          <a:lstStyle/>
          <a:p>
            <a:pPr algn="l"/>
            <a:r>
              <a:rPr b="1" i="0" sz="1200">
                <a:solidFill>
                  <a:srgbClr val="2D7A4F"/>
                </a:solidFill>
                <a:latin typeface="Calibri"/>
              </a:rPr>
              <a:t>Slope b</a:t>
            </a:r>
          </a:p>
        </p:txBody>
      </p:sp>
      <p:sp>
        <p:nvSpPr>
          <p:cNvPr id="7" name="TextBox 6"/>
          <p:cNvSpPr txBox="1"/>
          <p:nvPr/>
        </p:nvSpPr>
        <p:spPr>
          <a:xfrm>
            <a:off x="365760" y="2130552"/>
            <a:ext cx="4023360" cy="530352"/>
          </a:xfrm>
          <a:prstGeom prst="rect">
            <a:avLst/>
          </a:prstGeom>
          <a:noFill/>
        </p:spPr>
        <p:txBody>
          <a:bodyPr wrap="square">
            <a:spAutoFit/>
          </a:bodyPr>
          <a:lstStyle/>
          <a:p>
            <a:pPr algn="l"/>
            <a:r>
              <a:rPr b="0" i="0" sz="1100">
                <a:solidFill>
                  <a:srgbClr val="2C3E50"/>
                </a:solidFill>
                <a:latin typeface="Calibri"/>
              </a:rPr>
              <a:t>Predicted change in y-hat for a one-unit INCREASE in x; includes direction and units</a:t>
            </a:r>
          </a:p>
        </p:txBody>
      </p:sp>
      <p:sp>
        <p:nvSpPr>
          <p:cNvPr id="8" name="TextBox 7"/>
          <p:cNvSpPr txBox="1"/>
          <p:nvPr/>
        </p:nvSpPr>
        <p:spPr>
          <a:xfrm>
            <a:off x="365760" y="2743200"/>
            <a:ext cx="4023360" cy="320040"/>
          </a:xfrm>
          <a:prstGeom prst="rect">
            <a:avLst/>
          </a:prstGeom>
          <a:noFill/>
        </p:spPr>
        <p:txBody>
          <a:bodyPr wrap="square">
            <a:spAutoFit/>
          </a:bodyPr>
          <a:lstStyle/>
          <a:p>
            <a:pPr algn="l"/>
            <a:r>
              <a:rPr b="1" i="0" sz="1200">
                <a:solidFill>
                  <a:srgbClr val="2D7A4F"/>
                </a:solidFill>
                <a:latin typeface="Calibri"/>
              </a:rPr>
              <a:t>y-intercept a</a:t>
            </a:r>
          </a:p>
        </p:txBody>
      </p:sp>
      <p:sp>
        <p:nvSpPr>
          <p:cNvPr id="9" name="TextBox 8"/>
          <p:cNvSpPr txBox="1"/>
          <p:nvPr/>
        </p:nvSpPr>
        <p:spPr>
          <a:xfrm>
            <a:off x="365760" y="3044952"/>
            <a:ext cx="4023360" cy="530352"/>
          </a:xfrm>
          <a:prstGeom prst="rect">
            <a:avLst/>
          </a:prstGeom>
          <a:noFill/>
        </p:spPr>
        <p:txBody>
          <a:bodyPr wrap="square">
            <a:spAutoFit/>
          </a:bodyPr>
          <a:lstStyle/>
          <a:p>
            <a:pPr algn="l"/>
            <a:r>
              <a:rPr b="0" i="0" sz="1100">
                <a:solidFill>
                  <a:srgbClr val="2C3E50"/>
                </a:solidFill>
                <a:latin typeface="Calibri"/>
              </a:rPr>
              <a:t>Predicted value of y when x = 0; not always meaningful in context</a:t>
            </a:r>
          </a:p>
        </p:txBody>
      </p:sp>
      <p:sp>
        <p:nvSpPr>
          <p:cNvPr id="10" name="TextBox 9"/>
          <p:cNvSpPr txBox="1"/>
          <p:nvPr/>
        </p:nvSpPr>
        <p:spPr>
          <a:xfrm>
            <a:off x="4754880" y="914400"/>
            <a:ext cx="4023360" cy="320040"/>
          </a:xfrm>
          <a:prstGeom prst="rect">
            <a:avLst/>
          </a:prstGeom>
          <a:noFill/>
        </p:spPr>
        <p:txBody>
          <a:bodyPr wrap="square">
            <a:spAutoFit/>
          </a:bodyPr>
          <a:lstStyle/>
          <a:p>
            <a:pPr algn="l"/>
            <a:r>
              <a:rPr b="1" i="0" sz="1200">
                <a:solidFill>
                  <a:srgbClr val="2D7A4F"/>
                </a:solidFill>
                <a:latin typeface="Calibri"/>
              </a:rPr>
              <a:t>y-hat</a:t>
            </a:r>
          </a:p>
        </p:txBody>
      </p:sp>
      <p:sp>
        <p:nvSpPr>
          <p:cNvPr id="11" name="TextBox 10"/>
          <p:cNvSpPr txBox="1"/>
          <p:nvPr/>
        </p:nvSpPr>
        <p:spPr>
          <a:xfrm>
            <a:off x="4754880" y="1216152"/>
            <a:ext cx="4023360" cy="530352"/>
          </a:xfrm>
          <a:prstGeom prst="rect">
            <a:avLst/>
          </a:prstGeom>
          <a:noFill/>
        </p:spPr>
        <p:txBody>
          <a:bodyPr wrap="square">
            <a:spAutoFit/>
          </a:bodyPr>
          <a:lstStyle/>
          <a:p>
            <a:pPr algn="l"/>
            <a:r>
              <a:rPr b="0" i="0" sz="1100">
                <a:solidFill>
                  <a:srgbClr val="2C3E50"/>
                </a:solidFill>
                <a:latin typeface="Calibri"/>
              </a:rPr>
              <a:t>Predicted value of y for a given x; actual values will differ from predictions</a:t>
            </a:r>
          </a:p>
        </p:txBody>
      </p:sp>
      <p:sp>
        <p:nvSpPr>
          <p:cNvPr id="12" name="TextBox 11"/>
          <p:cNvSpPr txBox="1"/>
          <p:nvPr/>
        </p:nvSpPr>
        <p:spPr>
          <a:xfrm>
            <a:off x="4754880" y="1828800"/>
            <a:ext cx="4023360" cy="320040"/>
          </a:xfrm>
          <a:prstGeom prst="rect">
            <a:avLst/>
          </a:prstGeom>
          <a:noFill/>
        </p:spPr>
        <p:txBody>
          <a:bodyPr wrap="square">
            <a:spAutoFit/>
          </a:bodyPr>
          <a:lstStyle/>
          <a:p>
            <a:pPr algn="l"/>
            <a:r>
              <a:rPr b="1" i="0" sz="1200">
                <a:solidFill>
                  <a:srgbClr val="2D7A4F"/>
                </a:solidFill>
                <a:latin typeface="Calibri"/>
              </a:rPr>
              <a:t>Interpolation</a:t>
            </a:r>
          </a:p>
        </p:txBody>
      </p:sp>
      <p:sp>
        <p:nvSpPr>
          <p:cNvPr id="13" name="TextBox 12"/>
          <p:cNvSpPr txBox="1"/>
          <p:nvPr/>
        </p:nvSpPr>
        <p:spPr>
          <a:xfrm>
            <a:off x="4754880" y="2130552"/>
            <a:ext cx="4023360" cy="530352"/>
          </a:xfrm>
          <a:prstGeom prst="rect">
            <a:avLst/>
          </a:prstGeom>
          <a:noFill/>
        </p:spPr>
        <p:txBody>
          <a:bodyPr wrap="square">
            <a:spAutoFit/>
          </a:bodyPr>
          <a:lstStyle/>
          <a:p>
            <a:pPr algn="l"/>
            <a:r>
              <a:rPr b="0" i="0" sz="1100">
                <a:solidFill>
                  <a:srgbClr val="2C3E50"/>
                </a:solidFill>
                <a:latin typeface="Calibri"/>
              </a:rPr>
              <a:t>Predicting within the data range — generally reliable</a:t>
            </a:r>
          </a:p>
        </p:txBody>
      </p:sp>
      <p:sp>
        <p:nvSpPr>
          <p:cNvPr id="14" name="TextBox 13"/>
          <p:cNvSpPr txBox="1"/>
          <p:nvPr/>
        </p:nvSpPr>
        <p:spPr>
          <a:xfrm>
            <a:off x="4754880" y="2743200"/>
            <a:ext cx="4023360" cy="320040"/>
          </a:xfrm>
          <a:prstGeom prst="rect">
            <a:avLst/>
          </a:prstGeom>
          <a:noFill/>
        </p:spPr>
        <p:txBody>
          <a:bodyPr wrap="square">
            <a:spAutoFit/>
          </a:bodyPr>
          <a:lstStyle/>
          <a:p>
            <a:pPr algn="l"/>
            <a:r>
              <a:rPr b="1" i="0" sz="1200">
                <a:solidFill>
                  <a:srgbClr val="2D7A4F"/>
                </a:solidFill>
                <a:latin typeface="Calibri"/>
              </a:rPr>
              <a:t>Extrapolation</a:t>
            </a:r>
          </a:p>
        </p:txBody>
      </p:sp>
      <p:sp>
        <p:nvSpPr>
          <p:cNvPr id="15" name="TextBox 14"/>
          <p:cNvSpPr txBox="1"/>
          <p:nvPr/>
        </p:nvSpPr>
        <p:spPr>
          <a:xfrm>
            <a:off x="4754880" y="3044952"/>
            <a:ext cx="4023360" cy="530352"/>
          </a:xfrm>
          <a:prstGeom prst="rect">
            <a:avLst/>
          </a:prstGeom>
          <a:noFill/>
        </p:spPr>
        <p:txBody>
          <a:bodyPr wrap="square">
            <a:spAutoFit/>
          </a:bodyPr>
          <a:lstStyle/>
          <a:p>
            <a:pPr algn="l"/>
            <a:r>
              <a:rPr b="0" i="0" sz="1100">
                <a:solidFill>
                  <a:srgbClr val="2C3E50"/>
                </a:solidFill>
                <a:latin typeface="Calibri"/>
              </a:rPr>
              <a:t>Predicting OUTSIDE the data range — unreliable; should always be flagged</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594360"/>
          </a:xfrm>
          <a:prstGeom prst="rect">
            <a:avLst/>
          </a:prstGeom>
          <a:noFill/>
        </p:spPr>
        <p:txBody>
          <a:bodyPr wrap="square">
            <a:spAutoFit/>
          </a:bodyPr>
          <a:lstStyle/>
          <a:p>
            <a:pPr algn="l"/>
            <a:r>
              <a:rPr b="1" i="0" sz="2000">
                <a:solidFill>
                  <a:srgbClr val="FFFFFF"/>
                </a:solidFill>
                <a:latin typeface="Calibri"/>
              </a:rPr>
              <a:t>AP Interpretation Templates</a:t>
            </a:r>
          </a:p>
        </p:txBody>
      </p:sp>
      <p:sp>
        <p:nvSpPr>
          <p:cNvPr id="4" name="TextBox 3"/>
          <p:cNvSpPr txBox="1"/>
          <p:nvPr/>
        </p:nvSpPr>
        <p:spPr>
          <a:xfrm>
            <a:off x="457200" y="886968"/>
            <a:ext cx="3931920" cy="384048"/>
          </a:xfrm>
          <a:prstGeom prst="rect">
            <a:avLst/>
          </a:prstGeom>
          <a:noFill/>
        </p:spPr>
        <p:txBody>
          <a:bodyPr wrap="square">
            <a:spAutoFit/>
          </a:bodyPr>
          <a:lstStyle/>
          <a:p>
            <a:pPr algn="l"/>
            <a:r>
              <a:rPr b="1" i="0" sz="1300">
                <a:solidFill>
                  <a:srgbClr val="1F3A5F"/>
                </a:solidFill>
                <a:latin typeface="Calibri"/>
              </a:rPr>
              <a:t>Slope Interpretation</a:t>
            </a:r>
          </a:p>
        </p:txBody>
      </p:sp>
      <p:sp>
        <p:nvSpPr>
          <p:cNvPr id="5" name="TextBox 4"/>
          <p:cNvSpPr txBox="1"/>
          <p:nvPr/>
        </p:nvSpPr>
        <p:spPr>
          <a:xfrm>
            <a:off x="4754880" y="886968"/>
            <a:ext cx="3931920" cy="384048"/>
          </a:xfrm>
          <a:prstGeom prst="rect">
            <a:avLst/>
          </a:prstGeom>
          <a:noFill/>
        </p:spPr>
        <p:txBody>
          <a:bodyPr wrap="square">
            <a:spAutoFit/>
          </a:bodyPr>
          <a:lstStyle/>
          <a:p>
            <a:pPr algn="l"/>
            <a:r>
              <a:rPr b="1" i="0" sz="1300">
                <a:solidFill>
                  <a:srgbClr val="1F3A5F"/>
                </a:solidFill>
                <a:latin typeface="Calibri"/>
              </a:rPr>
              <a:t>y-Intercept Interpretation</a:t>
            </a:r>
          </a:p>
        </p:txBody>
      </p:sp>
      <p:sp>
        <p:nvSpPr>
          <p:cNvPr id="6" name="Rectangle 5"/>
          <p:cNvSpPr/>
          <p:nvPr/>
        </p:nvSpPr>
        <p:spPr>
          <a:xfrm>
            <a:off x="4462272" y="886968"/>
            <a:ext cx="36576" cy="3977639"/>
          </a:xfrm>
          <a:prstGeom prst="rect">
            <a:avLst/>
          </a:prstGeom>
          <a:solidFill>
            <a:srgbClr val="C5D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25880"/>
            <a:ext cx="3886200" cy="3520440"/>
          </a:xfrm>
          <a:prstGeom prst="rect">
            <a:avLst/>
          </a:prstGeom>
          <a:noFill/>
        </p:spPr>
        <p:txBody>
          <a:bodyPr wrap="square">
            <a:spAutoFit/>
          </a:bodyPr>
          <a:lstStyle/>
          <a:p>
            <a:pPr algn="l">
              <a:buChar char="•"/>
              <a:spcAft>
                <a:spcPts val="70"/>
              </a:spcAft>
            </a:pPr>
            <a:r>
              <a:rPr b="0" sz="1300">
                <a:solidFill>
                  <a:srgbClr val="2C3E50"/>
                </a:solidFill>
                <a:latin typeface="Calibri"/>
              </a:rPr>
              <a:t>"For each additional [one unit of x], the predicted [y-variable] [increases/decreases] by approximately [|slope|] [units of y]."</a:t>
            </a:r>
          </a:p>
          <a:p>
            <a:pPr algn="l">
              <a:buChar char="•"/>
              <a:spcAft>
                <a:spcPts val="70"/>
              </a:spcAft>
            </a:pPr>
            <a:r>
              <a:rPr b="0" sz="1300">
                <a:solidFill>
                  <a:srgbClr val="2C3E50"/>
                </a:solidFill>
                <a:latin typeface="Calibri"/>
              </a:rPr>
              <a:t/>
            </a:r>
          </a:p>
          <a:p>
            <a:pPr algn="l">
              <a:buChar char="•"/>
              <a:spcAft>
                <a:spcPts val="70"/>
              </a:spcAft>
            </a:pPr>
            <a:r>
              <a:rPr b="0" sz="1300">
                <a:solidFill>
                  <a:srgbClr val="2C3E50"/>
                </a:solidFill>
                <a:latin typeface="Calibri"/>
              </a:rPr>
              <a:t>Example: 'For each additional year of age, the predicted price of a used car decreases by approximately $1,800.'</a:t>
            </a:r>
          </a:p>
          <a:p>
            <a:pPr algn="l">
              <a:buChar char="•"/>
              <a:spcAft>
                <a:spcPts val="70"/>
              </a:spcAft>
            </a:pPr>
            <a:r>
              <a:rPr b="0" sz="1300">
                <a:solidFill>
                  <a:srgbClr val="2C3E50"/>
                </a:solidFill>
                <a:latin typeface="Calibri"/>
              </a:rPr>
              <a:t/>
            </a:r>
          </a:p>
          <a:p>
            <a:pPr algn="l">
              <a:buChar char="•"/>
              <a:spcAft>
                <a:spcPts val="70"/>
              </a:spcAft>
            </a:pPr>
            <a:r>
              <a:rPr b="0" sz="1300">
                <a:solidFill>
                  <a:srgbClr val="2C3E50"/>
                </a:solidFill>
                <a:latin typeface="Calibri"/>
              </a:rPr>
              <a:t>Must include: direction, units, context.</a:t>
            </a:r>
          </a:p>
        </p:txBody>
      </p:sp>
      <p:sp>
        <p:nvSpPr>
          <p:cNvPr id="8" name="TextBox 7"/>
          <p:cNvSpPr txBox="1"/>
          <p:nvPr/>
        </p:nvSpPr>
        <p:spPr>
          <a:xfrm>
            <a:off x="4754880" y="1325880"/>
            <a:ext cx="3977639" cy="3520440"/>
          </a:xfrm>
          <a:prstGeom prst="rect">
            <a:avLst/>
          </a:prstGeom>
          <a:noFill/>
        </p:spPr>
        <p:txBody>
          <a:bodyPr wrap="square">
            <a:spAutoFit/>
          </a:bodyPr>
          <a:lstStyle/>
          <a:p>
            <a:pPr algn="l">
              <a:buChar char="•"/>
              <a:spcAft>
                <a:spcPts val="70"/>
              </a:spcAft>
            </a:pPr>
            <a:r>
              <a:rPr b="0" sz="1300">
                <a:solidFill>
                  <a:srgbClr val="2C3E50"/>
                </a:solidFill>
                <a:latin typeface="Calibri"/>
              </a:rPr>
              <a:t>"When [x-variable] = 0, the predicted [y-variable] is [intercept value]."</a:t>
            </a:r>
          </a:p>
          <a:p>
            <a:pPr algn="l">
              <a:buChar char="•"/>
              <a:spcAft>
                <a:spcPts val="70"/>
              </a:spcAft>
            </a:pPr>
            <a:r>
              <a:rPr b="0" sz="1300">
                <a:solidFill>
                  <a:srgbClr val="2C3E50"/>
                </a:solidFill>
                <a:latin typeface="Calibri"/>
              </a:rPr>
              <a:t/>
            </a:r>
          </a:p>
          <a:p>
            <a:pPr algn="l">
              <a:buChar char="•"/>
              <a:spcAft>
                <a:spcPts val="70"/>
              </a:spcAft>
            </a:pPr>
            <a:r>
              <a:rPr b="0" sz="1300">
                <a:solidFill>
                  <a:srgbClr val="2C3E50"/>
                </a:solidFill>
                <a:latin typeface="Calibri"/>
              </a:rPr>
              <a:t>Then assess: Is x = 0 in the data range? Is x = 0 physically possible?</a:t>
            </a:r>
          </a:p>
          <a:p>
            <a:pPr algn="l">
              <a:buChar char="•"/>
              <a:spcAft>
                <a:spcPts val="70"/>
              </a:spcAft>
            </a:pPr>
            <a:r>
              <a:rPr b="0" sz="1300">
                <a:solidFill>
                  <a:srgbClr val="2C3E50"/>
                </a:solidFill>
                <a:latin typeface="Calibri"/>
              </a:rPr>
              <a:t/>
            </a:r>
          </a:p>
          <a:p>
            <a:pPr algn="l">
              <a:buChar char="•"/>
              <a:spcAft>
                <a:spcPts val="70"/>
              </a:spcAft>
            </a:pPr>
            <a:r>
              <a:rPr b="0" sz="1300">
                <a:solidFill>
                  <a:srgbClr val="2C3E50"/>
                </a:solidFill>
                <a:latin typeface="Calibri"/>
              </a:rPr>
              <a:t>If NO: 'The y-intercept is not meaningful in context because [x-variable] cannot equal 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CECEC"/>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GROUP ACTIVITY</a:t>
            </a:r>
          </a:p>
        </p:txBody>
      </p:sp>
      <p:sp>
        <p:nvSpPr>
          <p:cNvPr id="4" name="TextBox 3"/>
          <p:cNvSpPr txBox="1"/>
          <p:nvPr/>
        </p:nvSpPr>
        <p:spPr>
          <a:xfrm>
            <a:off x="457200" y="896112"/>
            <a:ext cx="8229600" cy="566928"/>
          </a:xfrm>
          <a:prstGeom prst="rect">
            <a:avLst/>
          </a:prstGeom>
          <a:noFill/>
        </p:spPr>
        <p:txBody>
          <a:bodyPr wrap="square">
            <a:spAutoFit/>
          </a:bodyPr>
          <a:lstStyle/>
          <a:p>
            <a:pPr algn="l"/>
            <a:r>
              <a:rPr b="1" i="0" sz="1900">
                <a:solidFill>
                  <a:srgbClr val="2C3E50"/>
                </a:solidFill>
                <a:latin typeface="Calibri"/>
              </a:rPr>
              <a:t>Used Car Price Regression</a:t>
            </a:r>
          </a:p>
        </p:txBody>
      </p:sp>
      <p:sp>
        <p:nvSpPr>
          <p:cNvPr id="5" name="TextBox 4"/>
          <p:cNvSpPr txBox="1"/>
          <p:nvPr/>
        </p:nvSpPr>
        <p:spPr>
          <a:xfrm>
            <a:off x="548640" y="1554480"/>
            <a:ext cx="8046720" cy="2926080"/>
          </a:xfrm>
          <a:prstGeom prst="rect">
            <a:avLst/>
          </a:prstGeom>
          <a:noFill/>
        </p:spPr>
        <p:txBody>
          <a:bodyPr wrap="square">
            <a:spAutoFit/>
          </a:bodyPr>
          <a:lstStyle/>
          <a:p>
            <a:pPr algn="l">
              <a:spcAft>
                <a:spcPts val="80"/>
              </a:spcAft>
            </a:pPr>
            <a:r>
              <a:rPr b="0" sz="1400">
                <a:solidFill>
                  <a:srgbClr val="2C3E50"/>
                </a:solidFill>
                <a:latin typeface="Calibri"/>
              </a:rPr>
              <a:t>1.  Regression equation: price-hat = 24,500 - 1,800 (age in years)</a:t>
            </a:r>
          </a:p>
          <a:p>
            <a:pPr algn="l">
              <a:spcAft>
                <a:spcPts val="80"/>
              </a:spcAft>
            </a:pPr>
            <a:r>
              <a:rPr b="0" sz="1400">
                <a:solidFill>
                  <a:srgbClr val="2C3E50"/>
                </a:solidFill>
                <a:latin typeface="Calibri"/>
              </a:rPr>
              <a:t>2.  Interpret the slope in context (include direction, magnitude, units).</a:t>
            </a:r>
          </a:p>
          <a:p>
            <a:pPr algn="l">
              <a:spcAft>
                <a:spcPts val="80"/>
              </a:spcAft>
            </a:pPr>
            <a:r>
              <a:rPr b="0" sz="1400">
                <a:solidFill>
                  <a:srgbClr val="2C3E50"/>
                </a:solidFill>
                <a:latin typeface="Calibri"/>
              </a:rPr>
              <a:t>3.  Interpret the y-intercept. Is it meaningful in context? Explain.</a:t>
            </a:r>
          </a:p>
          <a:p>
            <a:pPr algn="l">
              <a:spcAft>
                <a:spcPts val="80"/>
              </a:spcAft>
            </a:pPr>
            <a:r>
              <a:rPr b="0" sz="1400">
                <a:solidFill>
                  <a:srgbClr val="2C3E50"/>
                </a:solidFill>
                <a:latin typeface="Calibri"/>
              </a:rPr>
              <a:t>4.  Predict the price for a 3-year-old car. Predict for a 20-year-old car. Flag any extrapolation.</a:t>
            </a:r>
          </a:p>
          <a:p>
            <a:pPr algn="l">
              <a:spcAft>
                <a:spcPts val="80"/>
              </a:spcAft>
            </a:pPr>
            <a:r>
              <a:rPr b="0" sz="1400">
                <a:solidFill>
                  <a:srgbClr val="2C3E50"/>
                </a:solidFill>
                <a:latin typeface="Calibri"/>
              </a:rPr>
              <a:t>5.  Identify one limitation of using this model for all used cars.</a:t>
            </a:r>
          </a:p>
        </p:txBody>
      </p:sp>
      <p:sp>
        <p:nvSpPr>
          <p:cNvPr id="6" name="TextBox 5"/>
          <p:cNvSpPr txBox="1"/>
          <p:nvPr/>
        </p:nvSpPr>
        <p:spPr>
          <a:xfrm>
            <a:off x="457200" y="4754880"/>
            <a:ext cx="8229600" cy="320040"/>
          </a:xfrm>
          <a:prstGeom prst="rect">
            <a:avLst/>
          </a:prstGeom>
          <a:noFill/>
        </p:spPr>
        <p:txBody>
          <a:bodyPr wrap="square">
            <a:spAutoFit/>
          </a:bodyPr>
          <a:lstStyle/>
          <a:p>
            <a:pPr algn="l"/>
            <a:r>
              <a:rPr b="1" i="0" sz="1100">
                <a:solidFill>
                  <a:srgbClr val="C0392B"/>
                </a:solidFill>
                <a:latin typeface="Calibri"/>
              </a:rPr>
              <a:t>TIME: 8–10 minutes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2E5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spc="400">
                <a:solidFill>
                  <a:srgbClr val="F5A623"/>
                </a:solidFill>
                <a:latin typeface="Calibri"/>
              </a:rPr>
              <a:t>EXIT TICKET</a:t>
            </a:r>
          </a:p>
        </p:txBody>
      </p:sp>
      <p:sp>
        <p:nvSpPr>
          <p:cNvPr id="4" name="TextBox 3"/>
          <p:cNvSpPr txBox="1"/>
          <p:nvPr/>
        </p:nvSpPr>
        <p:spPr>
          <a:xfrm>
            <a:off x="548640" y="914400"/>
            <a:ext cx="8046720" cy="3931920"/>
          </a:xfrm>
          <a:prstGeom prst="rect">
            <a:avLst/>
          </a:prstGeom>
          <a:noFill/>
        </p:spPr>
        <p:txBody>
          <a:bodyPr wrap="square">
            <a:spAutoFit/>
          </a:bodyPr>
          <a:lstStyle/>
          <a:p>
            <a:pPr algn="l">
              <a:spcAft>
                <a:spcPts val="100"/>
              </a:spcAft>
            </a:pPr>
            <a:r>
              <a:rPr b="0" sz="1500">
                <a:solidFill>
                  <a:srgbClr val="FFFFFF"/>
                </a:solidFill>
                <a:latin typeface="Calibri"/>
              </a:rPr>
              <a:t>1.  Regression: score-hat = 40 + 5(hours studied).
    Interpret the slope in context.</a:t>
            </a:r>
          </a:p>
          <a:p>
            <a:pPr algn="l">
              <a:spcAft>
                <a:spcPts val="100"/>
              </a:spcAft>
            </a:pPr>
            <a:r>
              <a:rPr b="0" sz="1500">
                <a:solidFill>
                  <a:srgbClr val="FFFFFF"/>
                </a:solidFill>
                <a:latin typeface="Calibri"/>
              </a:rPr>
              <a:t>2.  Interpret the y-intercept. Is it meaningful here? Explain.</a:t>
            </a:r>
          </a:p>
          <a:p>
            <a:pPr algn="l">
              <a:spcAft>
                <a:spcPts val="100"/>
              </a:spcAft>
            </a:pPr>
            <a:r>
              <a:rPr b="0" sz="1500">
                <a:solidFill>
                  <a:srgbClr val="FFFFFF"/>
                </a:solidFill>
                <a:latin typeface="Calibri"/>
              </a:rPr>
              <a:t>3.  Predict score for 6 hours of studying. Then explain why predicting for 30 hours is problematic.</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0" y="0"/>
            <a:ext cx="164592" cy="5143500"/>
          </a:xfrm>
          <a:prstGeom prst="rect">
            <a:avLst/>
          </a:prstGeom>
          <a:solidFill>
            <a:srgbClr val="D48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188720"/>
            <a:ext cx="8412480" cy="548640"/>
          </a:xfrm>
          <a:prstGeom prst="rect">
            <a:avLst/>
          </a:prstGeom>
          <a:noFill/>
        </p:spPr>
        <p:txBody>
          <a:bodyPr wrap="square">
            <a:spAutoFit/>
          </a:bodyPr>
          <a:lstStyle/>
          <a:p>
            <a:pPr algn="l"/>
            <a:r>
              <a:rPr b="1" i="0" sz="1300" spc="500">
                <a:solidFill>
                  <a:srgbClr val="D4820A"/>
                </a:solidFill>
                <a:latin typeface="Calibri"/>
              </a:rPr>
              <a:t>LESSON 2.7</a:t>
            </a:r>
          </a:p>
        </p:txBody>
      </p:sp>
      <p:sp>
        <p:nvSpPr>
          <p:cNvPr id="4" name="TextBox 3"/>
          <p:cNvSpPr txBox="1"/>
          <p:nvPr/>
        </p:nvSpPr>
        <p:spPr>
          <a:xfrm>
            <a:off x="365760" y="1783080"/>
            <a:ext cx="8412480" cy="1828800"/>
          </a:xfrm>
          <a:prstGeom prst="rect">
            <a:avLst/>
          </a:prstGeom>
          <a:noFill/>
        </p:spPr>
        <p:txBody>
          <a:bodyPr wrap="square">
            <a:spAutoFit/>
          </a:bodyPr>
          <a:lstStyle/>
          <a:p>
            <a:pPr algn="l"/>
            <a:r>
              <a:rPr b="1" i="0" sz="3400">
                <a:solidFill>
                  <a:srgbClr val="FFFFFF"/>
                </a:solidFill>
                <a:latin typeface="Calibri"/>
              </a:rPr>
              <a:t>Residuals</a:t>
            </a:r>
          </a:p>
        </p:txBody>
      </p:sp>
      <p:sp>
        <p:nvSpPr>
          <p:cNvPr id="5" name="TextBox 4"/>
          <p:cNvSpPr txBox="1"/>
          <p:nvPr/>
        </p:nvSpPr>
        <p:spPr>
          <a:xfrm>
            <a:off x="365760" y="4434840"/>
            <a:ext cx="8412480" cy="457200"/>
          </a:xfrm>
          <a:prstGeom prst="rect">
            <a:avLst/>
          </a:prstGeom>
          <a:noFill/>
        </p:spPr>
        <p:txBody>
          <a:bodyPr wrap="square">
            <a:spAutoFit/>
          </a:bodyPr>
          <a:lstStyle/>
          <a:p>
            <a:pPr algn="l"/>
            <a:r>
              <a:rPr b="0" i="0" sz="1100">
                <a:solidFill>
                  <a:srgbClr val="C5DFF5"/>
                </a:solidFill>
                <a:latin typeface="Calibri"/>
              </a:rPr>
              <a:t>AP Statistics  ·  Unit 2: Exploring Two-Variable Data</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EAF3FB"/>
        </a:solidFill>
        <a:effectLst/>
      </p:bgPr>
    </p:bg>
    <p:spTree>
      <p:nvGrpSpPr>
        <p:cNvPr id="1" name=""/>
        <p:cNvGrpSpPr/>
        <p:nvPr/>
      </p:nvGrpSpPr>
      <p:grpSpPr/>
      <p:sp>
        <p:nvSpPr>
          <p:cNvPr id="2" name="Rectangle 1"/>
          <p:cNvSpPr/>
          <p:nvPr/>
        </p:nvSpPr>
        <p:spPr>
          <a:xfrm>
            <a:off x="457200" y="411480"/>
            <a:ext cx="8229600" cy="6400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21207"/>
            <a:ext cx="8229600" cy="365760"/>
          </a:xfrm>
          <a:prstGeom prst="rect">
            <a:avLst/>
          </a:prstGeom>
          <a:noFill/>
        </p:spPr>
        <p:txBody>
          <a:bodyPr wrap="square">
            <a:spAutoFit/>
          </a:bodyPr>
          <a:lstStyle/>
          <a:p>
            <a:pPr algn="l"/>
            <a:r>
              <a:rPr b="1" i="0" sz="1100" spc="400">
                <a:solidFill>
                  <a:srgbClr val="1F3A5F"/>
                </a:solidFill>
                <a:latin typeface="Calibri"/>
              </a:rPr>
              <a:t>PRIMARY OBJECTIVE</a:t>
            </a:r>
          </a:p>
        </p:txBody>
      </p:sp>
      <p:sp>
        <p:nvSpPr>
          <p:cNvPr id="4" name="TextBox 3"/>
          <p:cNvSpPr txBox="1"/>
          <p:nvPr/>
        </p:nvSpPr>
        <p:spPr>
          <a:xfrm>
            <a:off x="457200" y="960120"/>
            <a:ext cx="8229600" cy="3840480"/>
          </a:xfrm>
          <a:prstGeom prst="rect">
            <a:avLst/>
          </a:prstGeom>
          <a:noFill/>
        </p:spPr>
        <p:txBody>
          <a:bodyPr wrap="square">
            <a:spAutoFit/>
          </a:bodyPr>
          <a:lstStyle/>
          <a:p>
            <a:pPr algn="l"/>
            <a:r>
              <a:rPr b="0" i="0" sz="1700">
                <a:solidFill>
                  <a:srgbClr val="2C3E50"/>
                </a:solidFill>
                <a:latin typeface="Calibri"/>
              </a:rPr>
              <a:t>Students will calculate and interpret residuals, construct and analyze residual plots, and use residual plots to assess whether a linear model is appropriate for a dataset (Big Idea: DAT — Skills 2 &amp; 4).</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A623"/>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D48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HOOK</a:t>
            </a:r>
          </a:p>
        </p:txBody>
      </p:sp>
      <p:sp>
        <p:nvSpPr>
          <p:cNvPr id="4" name="TextBox 3"/>
          <p:cNvSpPr txBox="1"/>
          <p:nvPr/>
        </p:nvSpPr>
        <p:spPr>
          <a:xfrm>
            <a:off x="457200" y="896112"/>
            <a:ext cx="8229600" cy="594360"/>
          </a:xfrm>
          <a:prstGeom prst="rect">
            <a:avLst/>
          </a:prstGeom>
          <a:noFill/>
        </p:spPr>
        <p:txBody>
          <a:bodyPr wrap="square">
            <a:spAutoFit/>
          </a:bodyPr>
          <a:lstStyle/>
          <a:p>
            <a:pPr algn="l"/>
            <a:r>
              <a:rPr b="1" i="0" sz="2000">
                <a:solidFill>
                  <a:srgbClr val="FFFFFF"/>
                </a:solidFill>
                <a:latin typeface="Calibri"/>
              </a:rPr>
              <a:t>How Far Off Was Our Prediction?</a:t>
            </a:r>
          </a:p>
        </p:txBody>
      </p:sp>
      <p:sp>
        <p:nvSpPr>
          <p:cNvPr id="5" name="TextBox 4"/>
          <p:cNvSpPr txBox="1"/>
          <p:nvPr/>
        </p:nvSpPr>
        <p:spPr>
          <a:xfrm>
            <a:off x="457200" y="1554480"/>
            <a:ext cx="8229600" cy="685800"/>
          </a:xfrm>
          <a:prstGeom prst="rect">
            <a:avLst/>
          </a:prstGeom>
          <a:noFill/>
        </p:spPr>
        <p:txBody>
          <a:bodyPr wrap="square">
            <a:spAutoFit/>
          </a:bodyPr>
          <a:lstStyle/>
          <a:p>
            <a:pPr algn="l"/>
            <a:r>
              <a:rPr b="0" i="1" sz="1400">
                <a:solidFill>
                  <a:srgbClr val="C5DFF5"/>
                </a:solidFill>
                <a:latin typeface="Calibri"/>
              </a:rPr>
              <a:t>Scatterplot with the regression line drawn. One point sits noticeably ABOVE the line.</a:t>
            </a:r>
          </a:p>
        </p:txBody>
      </p:sp>
      <p:sp>
        <p:nvSpPr>
          <p:cNvPr id="6" name="TextBox 5"/>
          <p:cNvSpPr txBox="1"/>
          <p:nvPr/>
        </p:nvSpPr>
        <p:spPr>
          <a:xfrm>
            <a:off x="457200" y="2331720"/>
            <a:ext cx="8229600" cy="365760"/>
          </a:xfrm>
          <a:prstGeom prst="rect">
            <a:avLst/>
          </a:prstGeom>
          <a:noFill/>
        </p:spPr>
        <p:txBody>
          <a:bodyPr wrap="square">
            <a:spAutoFit/>
          </a:bodyPr>
          <a:lstStyle/>
          <a:p>
            <a:pPr algn="l"/>
            <a:r>
              <a:rPr b="1" i="0" sz="1300">
                <a:solidFill>
                  <a:srgbClr val="FFFFFF"/>
                </a:solidFill>
                <a:latin typeface="Calibri"/>
              </a:rPr>
              <a:t>Discussion questions:</a:t>
            </a:r>
          </a:p>
        </p:txBody>
      </p:sp>
      <p:sp>
        <p:nvSpPr>
          <p:cNvPr id="7" name="TextBox 6"/>
          <p:cNvSpPr txBox="1"/>
          <p:nvPr/>
        </p:nvSpPr>
        <p:spPr>
          <a:xfrm>
            <a:off x="640080" y="2743200"/>
            <a:ext cx="8046720" cy="2468880"/>
          </a:xfrm>
          <a:prstGeom prst="rect">
            <a:avLst/>
          </a:prstGeom>
          <a:noFill/>
        </p:spPr>
        <p:txBody>
          <a:bodyPr wrap="square">
            <a:spAutoFit/>
          </a:bodyPr>
          <a:lstStyle/>
          <a:p>
            <a:pPr algn="l">
              <a:buChar char="•"/>
              <a:spcAft>
                <a:spcPts val="70"/>
              </a:spcAft>
            </a:pPr>
            <a:r>
              <a:rPr b="0" sz="1400">
                <a:solidFill>
                  <a:srgbClr val="FFFFFF"/>
                </a:solidFill>
                <a:latin typeface="Calibri"/>
              </a:rPr>
              <a:t>This person's actual value is higher than our prediction. By how much?</a:t>
            </a:r>
          </a:p>
          <a:p>
            <a:pPr algn="l">
              <a:buChar char="•"/>
              <a:spcAft>
                <a:spcPts val="70"/>
              </a:spcAft>
            </a:pPr>
            <a:r>
              <a:rPr b="0" sz="1400">
                <a:solidFill>
                  <a:srgbClr val="FFFFFF"/>
                </a:solidFill>
                <a:latin typeface="Calibri"/>
              </a:rPr>
              <a:t>Is a positive residual good or bad — for the person? For the model?</a:t>
            </a:r>
          </a:p>
          <a:p>
            <a:pPr algn="l">
              <a:buChar char="•"/>
              <a:spcAft>
                <a:spcPts val="70"/>
              </a:spcAft>
            </a:pPr>
            <a:r>
              <a:rPr b="0" sz="1400">
                <a:solidFill>
                  <a:srgbClr val="FFFFFF"/>
                </a:solidFill>
                <a:latin typeface="Calibri"/>
              </a:rPr>
              <a:t>→ The vertical gap between a data point and the regression line is the residual — it measures prediction error.</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EDF8F0"/>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2D7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VOCABULARY &amp; KEY CONCEPTS</a:t>
            </a:r>
          </a:p>
        </p:txBody>
      </p:sp>
      <p:sp>
        <p:nvSpPr>
          <p:cNvPr id="4" name="TextBox 3"/>
          <p:cNvSpPr txBox="1"/>
          <p:nvPr/>
        </p:nvSpPr>
        <p:spPr>
          <a:xfrm>
            <a:off x="365760" y="914400"/>
            <a:ext cx="4023360" cy="320040"/>
          </a:xfrm>
          <a:prstGeom prst="rect">
            <a:avLst/>
          </a:prstGeom>
          <a:noFill/>
        </p:spPr>
        <p:txBody>
          <a:bodyPr wrap="square">
            <a:spAutoFit/>
          </a:bodyPr>
          <a:lstStyle/>
          <a:p>
            <a:pPr algn="l"/>
            <a:r>
              <a:rPr b="1" i="0" sz="1200">
                <a:solidFill>
                  <a:srgbClr val="2D7A4F"/>
                </a:solidFill>
                <a:latin typeface="Calibri"/>
              </a:rPr>
              <a:t>Residual</a:t>
            </a:r>
          </a:p>
        </p:txBody>
      </p:sp>
      <p:sp>
        <p:nvSpPr>
          <p:cNvPr id="5" name="TextBox 4"/>
          <p:cNvSpPr txBox="1"/>
          <p:nvPr/>
        </p:nvSpPr>
        <p:spPr>
          <a:xfrm>
            <a:off x="365760" y="1216152"/>
            <a:ext cx="4023360" cy="530352"/>
          </a:xfrm>
          <a:prstGeom prst="rect">
            <a:avLst/>
          </a:prstGeom>
          <a:noFill/>
        </p:spPr>
        <p:txBody>
          <a:bodyPr wrap="square">
            <a:spAutoFit/>
          </a:bodyPr>
          <a:lstStyle/>
          <a:p>
            <a:pPr algn="l"/>
            <a:r>
              <a:rPr b="0" i="0" sz="1100">
                <a:solidFill>
                  <a:srgbClr val="2C3E50"/>
                </a:solidFill>
                <a:latin typeface="Calibri"/>
              </a:rPr>
              <a:t>e = y - y-hat; actual minus predicted; the vertical distance from a point to the line</a:t>
            </a:r>
          </a:p>
        </p:txBody>
      </p:sp>
      <p:sp>
        <p:nvSpPr>
          <p:cNvPr id="6" name="TextBox 5"/>
          <p:cNvSpPr txBox="1"/>
          <p:nvPr/>
        </p:nvSpPr>
        <p:spPr>
          <a:xfrm>
            <a:off x="365760" y="1828800"/>
            <a:ext cx="4023360" cy="320040"/>
          </a:xfrm>
          <a:prstGeom prst="rect">
            <a:avLst/>
          </a:prstGeom>
          <a:noFill/>
        </p:spPr>
        <p:txBody>
          <a:bodyPr wrap="square">
            <a:spAutoFit/>
          </a:bodyPr>
          <a:lstStyle/>
          <a:p>
            <a:pPr algn="l"/>
            <a:r>
              <a:rPr b="1" i="0" sz="1200">
                <a:solidFill>
                  <a:srgbClr val="2D7A4F"/>
                </a:solidFill>
                <a:latin typeface="Calibri"/>
              </a:rPr>
              <a:t>Positive residual</a:t>
            </a:r>
          </a:p>
        </p:txBody>
      </p:sp>
      <p:sp>
        <p:nvSpPr>
          <p:cNvPr id="7" name="TextBox 6"/>
          <p:cNvSpPr txBox="1"/>
          <p:nvPr/>
        </p:nvSpPr>
        <p:spPr>
          <a:xfrm>
            <a:off x="365760" y="2130552"/>
            <a:ext cx="4023360" cy="530352"/>
          </a:xfrm>
          <a:prstGeom prst="rect">
            <a:avLst/>
          </a:prstGeom>
          <a:noFill/>
        </p:spPr>
        <p:txBody>
          <a:bodyPr wrap="square">
            <a:spAutoFit/>
          </a:bodyPr>
          <a:lstStyle/>
          <a:p>
            <a:pPr algn="l"/>
            <a:r>
              <a:rPr b="0" i="0" sz="1100">
                <a:solidFill>
                  <a:srgbClr val="2C3E50"/>
                </a:solidFill>
                <a:latin typeface="Calibri"/>
              </a:rPr>
              <a:t>Actual value is ABOVE the line — model underpredicted</a:t>
            </a:r>
          </a:p>
        </p:txBody>
      </p:sp>
      <p:sp>
        <p:nvSpPr>
          <p:cNvPr id="8" name="TextBox 7"/>
          <p:cNvSpPr txBox="1"/>
          <p:nvPr/>
        </p:nvSpPr>
        <p:spPr>
          <a:xfrm>
            <a:off x="365760" y="2743200"/>
            <a:ext cx="4023360" cy="320040"/>
          </a:xfrm>
          <a:prstGeom prst="rect">
            <a:avLst/>
          </a:prstGeom>
          <a:noFill/>
        </p:spPr>
        <p:txBody>
          <a:bodyPr wrap="square">
            <a:spAutoFit/>
          </a:bodyPr>
          <a:lstStyle/>
          <a:p>
            <a:pPr algn="l"/>
            <a:r>
              <a:rPr b="1" i="0" sz="1200">
                <a:solidFill>
                  <a:srgbClr val="2D7A4F"/>
                </a:solidFill>
                <a:latin typeface="Calibri"/>
              </a:rPr>
              <a:t>Negative residual</a:t>
            </a:r>
          </a:p>
        </p:txBody>
      </p:sp>
      <p:sp>
        <p:nvSpPr>
          <p:cNvPr id="9" name="TextBox 8"/>
          <p:cNvSpPr txBox="1"/>
          <p:nvPr/>
        </p:nvSpPr>
        <p:spPr>
          <a:xfrm>
            <a:off x="365760" y="3044952"/>
            <a:ext cx="4023360" cy="530352"/>
          </a:xfrm>
          <a:prstGeom prst="rect">
            <a:avLst/>
          </a:prstGeom>
          <a:noFill/>
        </p:spPr>
        <p:txBody>
          <a:bodyPr wrap="square">
            <a:spAutoFit/>
          </a:bodyPr>
          <a:lstStyle/>
          <a:p>
            <a:pPr algn="l"/>
            <a:r>
              <a:rPr b="0" i="0" sz="1100">
                <a:solidFill>
                  <a:srgbClr val="2C3E50"/>
                </a:solidFill>
                <a:latin typeface="Calibri"/>
              </a:rPr>
              <a:t>Actual value is BELOW the line — model overpredicted</a:t>
            </a:r>
          </a:p>
        </p:txBody>
      </p:sp>
      <p:sp>
        <p:nvSpPr>
          <p:cNvPr id="10" name="TextBox 9"/>
          <p:cNvSpPr txBox="1"/>
          <p:nvPr/>
        </p:nvSpPr>
        <p:spPr>
          <a:xfrm>
            <a:off x="4754880" y="914400"/>
            <a:ext cx="4023360" cy="320040"/>
          </a:xfrm>
          <a:prstGeom prst="rect">
            <a:avLst/>
          </a:prstGeom>
          <a:noFill/>
        </p:spPr>
        <p:txBody>
          <a:bodyPr wrap="square">
            <a:spAutoFit/>
          </a:bodyPr>
          <a:lstStyle/>
          <a:p>
            <a:pPr algn="l"/>
            <a:r>
              <a:rPr b="1" i="0" sz="1200">
                <a:solidFill>
                  <a:srgbClr val="2D7A4F"/>
                </a:solidFill>
                <a:latin typeface="Calibri"/>
              </a:rPr>
              <a:t>Sum of residuals</a:t>
            </a:r>
          </a:p>
        </p:txBody>
      </p:sp>
      <p:sp>
        <p:nvSpPr>
          <p:cNvPr id="11" name="TextBox 10"/>
          <p:cNvSpPr txBox="1"/>
          <p:nvPr/>
        </p:nvSpPr>
        <p:spPr>
          <a:xfrm>
            <a:off x="4754880" y="1216152"/>
            <a:ext cx="4023360" cy="530352"/>
          </a:xfrm>
          <a:prstGeom prst="rect">
            <a:avLst/>
          </a:prstGeom>
          <a:noFill/>
        </p:spPr>
        <p:txBody>
          <a:bodyPr wrap="square">
            <a:spAutoFit/>
          </a:bodyPr>
          <a:lstStyle/>
          <a:p>
            <a:pPr algn="l"/>
            <a:r>
              <a:rPr b="0" i="0" sz="1100">
                <a:solidFill>
                  <a:srgbClr val="2C3E50"/>
                </a:solidFill>
                <a:latin typeface="Calibri"/>
              </a:rPr>
              <a:t>Always equals 0 for a least-squares line — useful error-check</a:t>
            </a:r>
          </a:p>
        </p:txBody>
      </p:sp>
      <p:sp>
        <p:nvSpPr>
          <p:cNvPr id="12" name="TextBox 11"/>
          <p:cNvSpPr txBox="1"/>
          <p:nvPr/>
        </p:nvSpPr>
        <p:spPr>
          <a:xfrm>
            <a:off x="4754880" y="1828800"/>
            <a:ext cx="4023360" cy="320040"/>
          </a:xfrm>
          <a:prstGeom prst="rect">
            <a:avLst/>
          </a:prstGeom>
          <a:noFill/>
        </p:spPr>
        <p:txBody>
          <a:bodyPr wrap="square">
            <a:spAutoFit/>
          </a:bodyPr>
          <a:lstStyle/>
          <a:p>
            <a:pPr algn="l"/>
            <a:r>
              <a:rPr b="1" i="0" sz="1200">
                <a:solidFill>
                  <a:srgbClr val="2D7A4F"/>
                </a:solidFill>
                <a:latin typeface="Calibri"/>
              </a:rPr>
              <a:t>Residual plot</a:t>
            </a:r>
          </a:p>
        </p:txBody>
      </p:sp>
      <p:sp>
        <p:nvSpPr>
          <p:cNvPr id="13" name="TextBox 12"/>
          <p:cNvSpPr txBox="1"/>
          <p:nvPr/>
        </p:nvSpPr>
        <p:spPr>
          <a:xfrm>
            <a:off x="4754880" y="2130552"/>
            <a:ext cx="4023360" cy="530352"/>
          </a:xfrm>
          <a:prstGeom prst="rect">
            <a:avLst/>
          </a:prstGeom>
          <a:noFill/>
        </p:spPr>
        <p:txBody>
          <a:bodyPr wrap="square">
            <a:spAutoFit/>
          </a:bodyPr>
          <a:lstStyle/>
          <a:p>
            <a:pPr algn="l"/>
            <a:r>
              <a:rPr b="0" i="0" sz="1100">
                <a:solidFill>
                  <a:srgbClr val="2C3E50"/>
                </a:solidFill>
                <a:latin typeface="Calibri"/>
              </a:rPr>
              <a:t>Scatterplot of residuals (y-axis) vs. x or y-hat (x-axis); used to assess model fit</a:t>
            </a:r>
          </a:p>
        </p:txBody>
      </p:sp>
      <p:sp>
        <p:nvSpPr>
          <p:cNvPr id="14" name="TextBox 13"/>
          <p:cNvSpPr txBox="1"/>
          <p:nvPr/>
        </p:nvSpPr>
        <p:spPr>
          <a:xfrm>
            <a:off x="4754880" y="2743200"/>
            <a:ext cx="4023360" cy="320040"/>
          </a:xfrm>
          <a:prstGeom prst="rect">
            <a:avLst/>
          </a:prstGeom>
          <a:noFill/>
        </p:spPr>
        <p:txBody>
          <a:bodyPr wrap="square">
            <a:spAutoFit/>
          </a:bodyPr>
          <a:lstStyle/>
          <a:p>
            <a:pPr algn="l"/>
            <a:r>
              <a:rPr b="1" i="0" sz="1200">
                <a:solidFill>
                  <a:srgbClr val="2D7A4F"/>
                </a:solidFill>
                <a:latin typeface="Calibri"/>
              </a:rPr>
              <a:t>Random scatter</a:t>
            </a:r>
          </a:p>
        </p:txBody>
      </p:sp>
      <p:sp>
        <p:nvSpPr>
          <p:cNvPr id="15" name="TextBox 14"/>
          <p:cNvSpPr txBox="1"/>
          <p:nvPr/>
        </p:nvSpPr>
        <p:spPr>
          <a:xfrm>
            <a:off x="4754880" y="3044952"/>
            <a:ext cx="4023360" cy="530352"/>
          </a:xfrm>
          <a:prstGeom prst="rect">
            <a:avLst/>
          </a:prstGeom>
          <a:noFill/>
        </p:spPr>
        <p:txBody>
          <a:bodyPr wrap="square">
            <a:spAutoFit/>
          </a:bodyPr>
          <a:lstStyle/>
          <a:p>
            <a:pPr algn="l"/>
            <a:r>
              <a:rPr b="0" i="0" sz="1100">
                <a:solidFill>
                  <a:srgbClr val="2C3E50"/>
                </a:solidFill>
                <a:latin typeface="Calibri"/>
              </a:rPr>
              <a:t>No pattern in residual plot → linear model IS appropriate for the data</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594360"/>
          </a:xfrm>
          <a:prstGeom prst="rect">
            <a:avLst/>
          </a:prstGeom>
          <a:noFill/>
        </p:spPr>
        <p:txBody>
          <a:bodyPr wrap="square">
            <a:spAutoFit/>
          </a:bodyPr>
          <a:lstStyle/>
          <a:p>
            <a:pPr algn="l"/>
            <a:r>
              <a:rPr b="1" i="0" sz="2000">
                <a:solidFill>
                  <a:srgbClr val="FFFFFF"/>
                </a:solidFill>
                <a:latin typeface="Calibri"/>
              </a:rPr>
              <a:t>Reading Residual Plots — What to Look For</a:t>
            </a:r>
          </a:p>
        </p:txBody>
      </p:sp>
      <p:sp>
        <p:nvSpPr>
          <p:cNvPr id="4" name="TextBox 3"/>
          <p:cNvSpPr txBox="1"/>
          <p:nvPr/>
        </p:nvSpPr>
        <p:spPr>
          <a:xfrm>
            <a:off x="457200" y="914400"/>
            <a:ext cx="8229600" cy="3931920"/>
          </a:xfrm>
          <a:prstGeom prst="rect">
            <a:avLst/>
          </a:prstGeom>
          <a:noFill/>
        </p:spPr>
        <p:txBody>
          <a:bodyPr wrap="square">
            <a:spAutoFit/>
          </a:bodyPr>
          <a:lstStyle/>
          <a:p>
            <a:pPr algn="l">
              <a:buChar char="•"/>
              <a:spcAft>
                <a:spcPts val="70"/>
              </a:spcAft>
            </a:pPr>
            <a:r>
              <a:rPr b="1" sz="1400">
                <a:solidFill>
                  <a:srgbClr val="2C3E50"/>
                </a:solidFill>
                <a:latin typeface="Calibri"/>
              </a:rPr>
              <a:t>Random scatter around y = 0:</a:t>
            </a:r>
          </a:p>
          <a:p>
            <a:pPr algn="l">
              <a:buChar char="•"/>
              <a:spcAft>
                <a:spcPts val="70"/>
              </a:spcAft>
            </a:pPr>
            <a:r>
              <a:rPr b="0" sz="1400">
                <a:solidFill>
                  <a:srgbClr val="2C3E50"/>
                </a:solidFill>
                <a:latin typeface="Calibri"/>
              </a:rPr>
              <a:t>    No pattern visible — a linear model IS appropriate. Proceed with regression.</a:t>
            </a:r>
          </a:p>
          <a:p>
            <a:pPr algn="l">
              <a:buChar char="•"/>
              <a:spcAft>
                <a:spcPts val="70"/>
              </a:spcAft>
            </a:pPr>
            <a:r>
              <a:rPr b="1" sz="1400">
                <a:solidFill>
                  <a:srgbClr val="2C3E50"/>
                </a:solidFill>
                <a:latin typeface="Calibri"/>
              </a:rPr>
              <a:t>Curved (U-shaped or arch) pattern:</a:t>
            </a:r>
          </a:p>
          <a:p>
            <a:pPr algn="l">
              <a:buChar char="•"/>
              <a:spcAft>
                <a:spcPts val="70"/>
              </a:spcAft>
            </a:pPr>
            <a:r>
              <a:rPr b="0" sz="1400">
                <a:solidFill>
                  <a:srgbClr val="2C3E50"/>
                </a:solidFill>
                <a:latin typeface="Calibri"/>
              </a:rPr>
              <a:t>    Linear model is NOT appropriate. A nonlinear model fits better.</a:t>
            </a:r>
          </a:p>
          <a:p>
            <a:pPr algn="l">
              <a:buChar char="•"/>
              <a:spcAft>
                <a:spcPts val="70"/>
              </a:spcAft>
            </a:pPr>
            <a:r>
              <a:rPr b="1" sz="1400">
                <a:solidFill>
                  <a:srgbClr val="2C3E50"/>
                </a:solidFill>
                <a:latin typeface="Calibri"/>
              </a:rPr>
              <a:t>Fanning (spread increases with x):</a:t>
            </a:r>
          </a:p>
          <a:p>
            <a:pPr algn="l">
              <a:buChar char="•"/>
              <a:spcAft>
                <a:spcPts val="70"/>
              </a:spcAft>
            </a:pPr>
            <a:r>
              <a:rPr b="0" sz="1400">
                <a:solidFill>
                  <a:srgbClr val="2C3E50"/>
                </a:solidFill>
                <a:latin typeface="Calibri"/>
              </a:rPr>
              <a:t>    Variability is not constant — linear model is questionable.</a:t>
            </a:r>
          </a:p>
          <a:p>
            <a:pPr algn="l">
              <a:buChar char="•"/>
              <a:spcAft>
                <a:spcPts val="70"/>
              </a:spcAft>
            </a:pPr>
            <a:r>
              <a:rPr b="0" sz="1400">
                <a:solidFill>
                  <a:srgbClr val="2C3E50"/>
                </a:solidFill>
                <a:latin typeface="Calibri"/>
              </a:rPr>
              <a:t/>
            </a:r>
          </a:p>
          <a:p>
            <a:pPr algn="l">
              <a:buChar char="•"/>
              <a:spcAft>
                <a:spcPts val="70"/>
              </a:spcAft>
            </a:pPr>
            <a:r>
              <a:rPr b="1" sz="1400">
                <a:solidFill>
                  <a:srgbClr val="2C3E50"/>
                </a:solidFill>
                <a:latin typeface="Calibri"/>
              </a:rPr>
              <a:t>AP response template:</a:t>
            </a:r>
          </a:p>
          <a:p>
            <a:pPr algn="l">
              <a:buChar char="•"/>
              <a:spcAft>
                <a:spcPts val="70"/>
              </a:spcAft>
            </a:pPr>
            <a:r>
              <a:rPr b="0" sz="1400">
                <a:solidFill>
                  <a:srgbClr val="2C3E50"/>
                </a:solidFill>
                <a:latin typeface="Calibri"/>
              </a:rPr>
              <a:t>    'The residual plot shows a [random/curved/fanning] pattern, indicating that a linear model</a:t>
            </a:r>
          </a:p>
          <a:p>
            <a:pPr algn="l">
              <a:buChar char="•"/>
              <a:spcAft>
                <a:spcPts val="70"/>
              </a:spcAft>
            </a:pPr>
            <a:r>
              <a:rPr b="0" sz="1400">
                <a:solidFill>
                  <a:srgbClr val="2C3E50"/>
                </a:solidFill>
                <a:latin typeface="Calibri"/>
              </a:rPr>
              <a:t>    [is / is not] appropriate for predicting [y] from [x].'</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594360"/>
          </a:xfrm>
          <a:prstGeom prst="rect">
            <a:avLst/>
          </a:prstGeom>
          <a:noFill/>
        </p:spPr>
        <p:txBody>
          <a:bodyPr wrap="square">
            <a:spAutoFit/>
          </a:bodyPr>
          <a:lstStyle/>
          <a:p>
            <a:pPr algn="l"/>
            <a:r>
              <a:rPr b="1" i="0" sz="2000">
                <a:solidFill>
                  <a:srgbClr val="FFFFFF"/>
                </a:solidFill>
                <a:latin typeface="Calibri"/>
              </a:rPr>
              <a:t>Computing Residuals and Constructing a Residual Plot</a:t>
            </a:r>
          </a:p>
        </p:txBody>
      </p:sp>
      <p:sp>
        <p:nvSpPr>
          <p:cNvPr id="4" name="Rectangle 3"/>
          <p:cNvSpPr/>
          <p:nvPr/>
        </p:nvSpPr>
        <p:spPr>
          <a:xfrm>
            <a:off x="320040" y="932688"/>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50976"/>
            <a:ext cx="347472" cy="310896"/>
          </a:xfrm>
          <a:prstGeom prst="rect">
            <a:avLst/>
          </a:prstGeom>
          <a:noFill/>
        </p:spPr>
        <p:txBody>
          <a:bodyPr wrap="square">
            <a:spAutoFit/>
          </a:bodyPr>
          <a:lstStyle/>
          <a:p>
            <a:pPr algn="ctr"/>
            <a:r>
              <a:rPr b="1" i="0" sz="1200">
                <a:solidFill>
                  <a:srgbClr val="FFFFFF"/>
                </a:solidFill>
                <a:latin typeface="Calibri"/>
              </a:rPr>
              <a:t>1</a:t>
            </a:r>
          </a:p>
        </p:txBody>
      </p:sp>
      <p:sp>
        <p:nvSpPr>
          <p:cNvPr id="6" name="TextBox 5"/>
          <p:cNvSpPr txBox="1"/>
          <p:nvPr/>
        </p:nvSpPr>
        <p:spPr>
          <a:xfrm>
            <a:off x="804672" y="941832"/>
            <a:ext cx="7955279" cy="475488"/>
          </a:xfrm>
          <a:prstGeom prst="rect">
            <a:avLst/>
          </a:prstGeom>
          <a:noFill/>
        </p:spPr>
        <p:txBody>
          <a:bodyPr wrap="square">
            <a:spAutoFit/>
          </a:bodyPr>
          <a:lstStyle/>
          <a:p>
            <a:pPr algn="l"/>
            <a:r>
              <a:rPr b="0" i="0" sz="1300">
                <a:solidFill>
                  <a:srgbClr val="2C3E50"/>
                </a:solidFill>
                <a:latin typeface="Calibri"/>
              </a:rPr>
              <a:t>For each data point, compute y-hat by substituting its x value into the regression equation.</a:t>
            </a:r>
          </a:p>
        </p:txBody>
      </p:sp>
      <p:sp>
        <p:nvSpPr>
          <p:cNvPr id="7" name="Rectangle 6"/>
          <p:cNvSpPr/>
          <p:nvPr/>
        </p:nvSpPr>
        <p:spPr>
          <a:xfrm>
            <a:off x="320040" y="1545336"/>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563624"/>
            <a:ext cx="347472" cy="310896"/>
          </a:xfrm>
          <a:prstGeom prst="rect">
            <a:avLst/>
          </a:prstGeom>
          <a:noFill/>
        </p:spPr>
        <p:txBody>
          <a:bodyPr wrap="square">
            <a:spAutoFit/>
          </a:bodyPr>
          <a:lstStyle/>
          <a:p>
            <a:pPr algn="ctr"/>
            <a:r>
              <a:rPr b="1" i="0" sz="1200">
                <a:solidFill>
                  <a:srgbClr val="FFFFFF"/>
                </a:solidFill>
                <a:latin typeface="Calibri"/>
              </a:rPr>
              <a:t>2</a:t>
            </a:r>
          </a:p>
        </p:txBody>
      </p:sp>
      <p:sp>
        <p:nvSpPr>
          <p:cNvPr id="9" name="TextBox 8"/>
          <p:cNvSpPr txBox="1"/>
          <p:nvPr/>
        </p:nvSpPr>
        <p:spPr>
          <a:xfrm>
            <a:off x="804672" y="1554480"/>
            <a:ext cx="7955279" cy="475488"/>
          </a:xfrm>
          <a:prstGeom prst="rect">
            <a:avLst/>
          </a:prstGeom>
          <a:noFill/>
        </p:spPr>
        <p:txBody>
          <a:bodyPr wrap="square">
            <a:spAutoFit/>
          </a:bodyPr>
          <a:lstStyle/>
          <a:p>
            <a:pPr algn="l"/>
            <a:r>
              <a:rPr b="0" i="0" sz="1300">
                <a:solidFill>
                  <a:srgbClr val="2C3E50"/>
                </a:solidFill>
                <a:latin typeface="Calibri"/>
              </a:rPr>
              <a:t>Compute each residual: e = y - y-hat.</a:t>
            </a:r>
          </a:p>
        </p:txBody>
      </p:sp>
      <p:sp>
        <p:nvSpPr>
          <p:cNvPr id="10" name="Rectangle 9"/>
          <p:cNvSpPr/>
          <p:nvPr/>
        </p:nvSpPr>
        <p:spPr>
          <a:xfrm>
            <a:off x="320040" y="2157984"/>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2176272"/>
            <a:ext cx="347472" cy="310896"/>
          </a:xfrm>
          <a:prstGeom prst="rect">
            <a:avLst/>
          </a:prstGeom>
          <a:noFill/>
        </p:spPr>
        <p:txBody>
          <a:bodyPr wrap="square">
            <a:spAutoFit/>
          </a:bodyPr>
          <a:lstStyle/>
          <a:p>
            <a:pPr algn="ctr"/>
            <a:r>
              <a:rPr b="1" i="0" sz="1200">
                <a:solidFill>
                  <a:srgbClr val="FFFFFF"/>
                </a:solidFill>
                <a:latin typeface="Calibri"/>
              </a:rPr>
              <a:t>3</a:t>
            </a:r>
          </a:p>
        </p:txBody>
      </p:sp>
      <p:sp>
        <p:nvSpPr>
          <p:cNvPr id="12" name="TextBox 11"/>
          <p:cNvSpPr txBox="1"/>
          <p:nvPr/>
        </p:nvSpPr>
        <p:spPr>
          <a:xfrm>
            <a:off x="804672" y="2167127"/>
            <a:ext cx="7955279" cy="475488"/>
          </a:xfrm>
          <a:prstGeom prst="rect">
            <a:avLst/>
          </a:prstGeom>
          <a:noFill/>
        </p:spPr>
        <p:txBody>
          <a:bodyPr wrap="square">
            <a:spAutoFit/>
          </a:bodyPr>
          <a:lstStyle/>
          <a:p>
            <a:pPr algn="l"/>
            <a:r>
              <a:rPr b="0" i="0" sz="1300">
                <a:solidFill>
                  <a:srgbClr val="2C3E50"/>
                </a:solidFill>
                <a:latin typeface="Calibri"/>
              </a:rPr>
              <a:t>Verify: the sum of all residuals equals 0 (within rounding).</a:t>
            </a:r>
          </a:p>
        </p:txBody>
      </p:sp>
      <p:sp>
        <p:nvSpPr>
          <p:cNvPr id="13" name="Rectangle 12"/>
          <p:cNvSpPr/>
          <p:nvPr/>
        </p:nvSpPr>
        <p:spPr>
          <a:xfrm>
            <a:off x="320040" y="2770632"/>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2788920"/>
            <a:ext cx="347472" cy="310896"/>
          </a:xfrm>
          <a:prstGeom prst="rect">
            <a:avLst/>
          </a:prstGeom>
          <a:noFill/>
        </p:spPr>
        <p:txBody>
          <a:bodyPr wrap="square">
            <a:spAutoFit/>
          </a:bodyPr>
          <a:lstStyle/>
          <a:p>
            <a:pPr algn="ctr"/>
            <a:r>
              <a:rPr b="1" i="0" sz="1200">
                <a:solidFill>
                  <a:srgbClr val="FFFFFF"/>
                </a:solidFill>
                <a:latin typeface="Calibri"/>
              </a:rPr>
              <a:t>4</a:t>
            </a:r>
          </a:p>
        </p:txBody>
      </p:sp>
      <p:sp>
        <p:nvSpPr>
          <p:cNvPr id="15" name="TextBox 14"/>
          <p:cNvSpPr txBox="1"/>
          <p:nvPr/>
        </p:nvSpPr>
        <p:spPr>
          <a:xfrm>
            <a:off x="804672" y="2779776"/>
            <a:ext cx="7955279" cy="475488"/>
          </a:xfrm>
          <a:prstGeom prst="rect">
            <a:avLst/>
          </a:prstGeom>
          <a:noFill/>
        </p:spPr>
        <p:txBody>
          <a:bodyPr wrap="square">
            <a:spAutoFit/>
          </a:bodyPr>
          <a:lstStyle/>
          <a:p>
            <a:pPr algn="l"/>
            <a:r>
              <a:rPr b="0" i="0" sz="1300">
                <a:solidFill>
                  <a:srgbClr val="2C3E50"/>
                </a:solidFill>
                <a:latin typeface="Calibri"/>
              </a:rPr>
              <a:t>Create the residual plot: plot each (x, e) pair on a new coordinate plane.</a:t>
            </a:r>
          </a:p>
        </p:txBody>
      </p:sp>
      <p:sp>
        <p:nvSpPr>
          <p:cNvPr id="16" name="Rectangle 15"/>
          <p:cNvSpPr/>
          <p:nvPr/>
        </p:nvSpPr>
        <p:spPr>
          <a:xfrm>
            <a:off x="320040" y="3383280"/>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3401568"/>
            <a:ext cx="347472" cy="310896"/>
          </a:xfrm>
          <a:prstGeom prst="rect">
            <a:avLst/>
          </a:prstGeom>
          <a:noFill/>
        </p:spPr>
        <p:txBody>
          <a:bodyPr wrap="square">
            <a:spAutoFit/>
          </a:bodyPr>
          <a:lstStyle/>
          <a:p>
            <a:pPr algn="ctr"/>
            <a:r>
              <a:rPr b="1" i="0" sz="1200">
                <a:solidFill>
                  <a:srgbClr val="FFFFFF"/>
                </a:solidFill>
                <a:latin typeface="Calibri"/>
              </a:rPr>
              <a:t>5</a:t>
            </a:r>
          </a:p>
        </p:txBody>
      </p:sp>
      <p:sp>
        <p:nvSpPr>
          <p:cNvPr id="18" name="TextBox 17"/>
          <p:cNvSpPr txBox="1"/>
          <p:nvPr/>
        </p:nvSpPr>
        <p:spPr>
          <a:xfrm>
            <a:off x="804672" y="3392424"/>
            <a:ext cx="7955279" cy="475488"/>
          </a:xfrm>
          <a:prstGeom prst="rect">
            <a:avLst/>
          </a:prstGeom>
          <a:noFill/>
        </p:spPr>
        <p:txBody>
          <a:bodyPr wrap="square">
            <a:spAutoFit/>
          </a:bodyPr>
          <a:lstStyle/>
          <a:p>
            <a:pPr algn="l"/>
            <a:r>
              <a:rPr b="0" i="0" sz="1300">
                <a:solidFill>
                  <a:srgbClr val="2C3E50"/>
                </a:solidFill>
                <a:latin typeface="Calibri"/>
              </a:rPr>
              <a:t>Draw a horizontal reference line at e = 0.</a:t>
            </a:r>
          </a:p>
        </p:txBody>
      </p:sp>
      <p:sp>
        <p:nvSpPr>
          <p:cNvPr id="19" name="Rectangle 18"/>
          <p:cNvSpPr/>
          <p:nvPr/>
        </p:nvSpPr>
        <p:spPr>
          <a:xfrm>
            <a:off x="320040" y="3995927"/>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0040" y="4014215"/>
            <a:ext cx="347472" cy="310896"/>
          </a:xfrm>
          <a:prstGeom prst="rect">
            <a:avLst/>
          </a:prstGeom>
          <a:noFill/>
        </p:spPr>
        <p:txBody>
          <a:bodyPr wrap="square">
            <a:spAutoFit/>
          </a:bodyPr>
          <a:lstStyle/>
          <a:p>
            <a:pPr algn="ctr"/>
            <a:r>
              <a:rPr b="1" i="0" sz="1200">
                <a:solidFill>
                  <a:srgbClr val="FFFFFF"/>
                </a:solidFill>
                <a:latin typeface="Calibri"/>
              </a:rPr>
              <a:t>6</a:t>
            </a:r>
          </a:p>
        </p:txBody>
      </p:sp>
      <p:sp>
        <p:nvSpPr>
          <p:cNvPr id="21" name="TextBox 20"/>
          <p:cNvSpPr txBox="1"/>
          <p:nvPr/>
        </p:nvSpPr>
        <p:spPr>
          <a:xfrm>
            <a:off x="804672" y="4005072"/>
            <a:ext cx="7955279" cy="475488"/>
          </a:xfrm>
          <a:prstGeom prst="rect">
            <a:avLst/>
          </a:prstGeom>
          <a:noFill/>
        </p:spPr>
        <p:txBody>
          <a:bodyPr wrap="square">
            <a:spAutoFit/>
          </a:bodyPr>
          <a:lstStyle/>
          <a:p>
            <a:pPr algn="l"/>
            <a:r>
              <a:rPr b="0" i="0" sz="1300">
                <a:solidFill>
                  <a:srgbClr val="2C3E50"/>
                </a:solidFill>
                <a:latin typeface="Calibri"/>
              </a:rPr>
              <a:t>Examine the plot for patterns. Describe what you see and state your conclusion about model fit.</a:t>
            </a:r>
          </a:p>
        </p:txBody>
      </p:sp>
      <p:sp>
        <p:nvSpPr>
          <p:cNvPr id="22" name="TextBox 21"/>
          <p:cNvSpPr txBox="1"/>
          <p:nvPr/>
        </p:nvSpPr>
        <p:spPr>
          <a:xfrm>
            <a:off x="457200" y="4754880"/>
            <a:ext cx="8229600" cy="320040"/>
          </a:xfrm>
          <a:prstGeom prst="rect">
            <a:avLst/>
          </a:prstGeom>
          <a:noFill/>
        </p:spPr>
        <p:txBody>
          <a:bodyPr wrap="square">
            <a:spAutoFit/>
          </a:bodyPr>
          <a:lstStyle/>
          <a:p>
            <a:pPr algn="l"/>
            <a:r>
              <a:rPr b="0" i="1" sz="1100">
                <a:solidFill>
                  <a:srgbClr val="64748B"/>
                </a:solidFill>
                <a:latin typeface="Calibri"/>
              </a:rPr>
              <a:t>NOTE: The residual plot is built on x (or y-hat) vs. residuals — NOT the original scatterplot.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CECEC"/>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GROUP ACTIVITY</a:t>
            </a:r>
          </a:p>
        </p:txBody>
      </p:sp>
      <p:sp>
        <p:nvSpPr>
          <p:cNvPr id="4" name="TextBox 3"/>
          <p:cNvSpPr txBox="1"/>
          <p:nvPr/>
        </p:nvSpPr>
        <p:spPr>
          <a:xfrm>
            <a:off x="457200" y="896112"/>
            <a:ext cx="8229600" cy="566928"/>
          </a:xfrm>
          <a:prstGeom prst="rect">
            <a:avLst/>
          </a:prstGeom>
          <a:noFill/>
        </p:spPr>
        <p:txBody>
          <a:bodyPr wrap="square">
            <a:spAutoFit/>
          </a:bodyPr>
          <a:lstStyle/>
          <a:p>
            <a:pPr algn="l"/>
            <a:r>
              <a:rPr b="1" i="0" sz="1900">
                <a:solidFill>
                  <a:srgbClr val="2C3E50"/>
                </a:solidFill>
                <a:latin typeface="Calibri"/>
              </a:rPr>
              <a:t>Compute Residuals and Assess Model Fit</a:t>
            </a:r>
          </a:p>
        </p:txBody>
      </p:sp>
      <p:sp>
        <p:nvSpPr>
          <p:cNvPr id="5" name="TextBox 4"/>
          <p:cNvSpPr txBox="1"/>
          <p:nvPr/>
        </p:nvSpPr>
        <p:spPr>
          <a:xfrm>
            <a:off x="548640" y="1554480"/>
            <a:ext cx="8046720" cy="2926080"/>
          </a:xfrm>
          <a:prstGeom prst="rect">
            <a:avLst/>
          </a:prstGeom>
          <a:noFill/>
        </p:spPr>
        <p:txBody>
          <a:bodyPr wrap="square">
            <a:spAutoFit/>
          </a:bodyPr>
          <a:lstStyle/>
          <a:p>
            <a:pPr algn="l">
              <a:spcAft>
                <a:spcPts val="80"/>
              </a:spcAft>
            </a:pPr>
            <a:r>
              <a:rPr b="0" sz="1400">
                <a:solidFill>
                  <a:srgbClr val="2C3E50"/>
                </a:solidFill>
                <a:latin typeface="Calibri"/>
              </a:rPr>
              <a:t>1.  Using the provided dataset (8 data points) and its regression equation, compute all residuals. Verify they sum to 0.</a:t>
            </a:r>
          </a:p>
          <a:p>
            <a:pPr algn="l">
              <a:spcAft>
                <a:spcPts val="80"/>
              </a:spcAft>
            </a:pPr>
            <a:r>
              <a:rPr b="0" sz="1400">
                <a:solidFill>
                  <a:srgbClr val="2C3E50"/>
                </a:solidFill>
                <a:latin typeface="Calibri"/>
              </a:rPr>
              <a:t>2.  Construct the residual plot on the provided axes.</a:t>
            </a:r>
          </a:p>
          <a:p>
            <a:pPr algn="l">
              <a:spcAft>
                <a:spcPts val="80"/>
              </a:spcAft>
            </a:pPr>
            <a:r>
              <a:rPr b="0" sz="1400">
                <a:solidFill>
                  <a:srgbClr val="2C3E50"/>
                </a:solidFill>
                <a:latin typeface="Calibri"/>
              </a:rPr>
              <a:t>3.  Describe the pattern in the residual plot and state whether a linear model is appropriate.</a:t>
            </a:r>
          </a:p>
          <a:p>
            <a:pPr algn="l">
              <a:spcAft>
                <a:spcPts val="80"/>
              </a:spcAft>
            </a:pPr>
            <a:r>
              <a:rPr b="0" sz="1400">
                <a:solidFill>
                  <a:srgbClr val="2C3E50"/>
                </a:solidFill>
                <a:latin typeface="Calibri"/>
              </a:rPr>
              <a:t>4.  Identify the point with the largest absolute residual and interpret it in context.</a:t>
            </a:r>
          </a:p>
        </p:txBody>
      </p:sp>
      <p:sp>
        <p:nvSpPr>
          <p:cNvPr id="6" name="TextBox 5"/>
          <p:cNvSpPr txBox="1"/>
          <p:nvPr/>
        </p:nvSpPr>
        <p:spPr>
          <a:xfrm>
            <a:off x="457200" y="4754880"/>
            <a:ext cx="8229600" cy="320040"/>
          </a:xfrm>
          <a:prstGeom prst="rect">
            <a:avLst/>
          </a:prstGeom>
          <a:noFill/>
        </p:spPr>
        <p:txBody>
          <a:bodyPr wrap="square">
            <a:spAutoFit/>
          </a:bodyPr>
          <a:lstStyle/>
          <a:p>
            <a:pPr algn="l"/>
            <a:r>
              <a:rPr b="1" i="0" sz="1100">
                <a:solidFill>
                  <a:srgbClr val="C0392B"/>
                </a:solidFill>
                <a:latin typeface="Calibri"/>
              </a:rPr>
              <a:t>TIME: 8–10 minutes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2E5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spc="400">
                <a:solidFill>
                  <a:srgbClr val="F5A623"/>
                </a:solidFill>
                <a:latin typeface="Calibri"/>
              </a:rPr>
              <a:t>EXIT TICKET</a:t>
            </a:r>
          </a:p>
        </p:txBody>
      </p:sp>
      <p:sp>
        <p:nvSpPr>
          <p:cNvPr id="4" name="TextBox 3"/>
          <p:cNvSpPr txBox="1"/>
          <p:nvPr/>
        </p:nvSpPr>
        <p:spPr>
          <a:xfrm>
            <a:off x="548640" y="914400"/>
            <a:ext cx="8046720" cy="3931920"/>
          </a:xfrm>
          <a:prstGeom prst="rect">
            <a:avLst/>
          </a:prstGeom>
          <a:noFill/>
        </p:spPr>
        <p:txBody>
          <a:bodyPr wrap="square">
            <a:spAutoFit/>
          </a:bodyPr>
          <a:lstStyle/>
          <a:p>
            <a:pPr algn="l">
              <a:spcAft>
                <a:spcPts val="100"/>
              </a:spcAft>
            </a:pPr>
            <a:r>
              <a:rPr b="0" sz="1500">
                <a:solidFill>
                  <a:srgbClr val="FFFFFF"/>
                </a:solidFill>
                <a:latin typeface="Calibri"/>
              </a:rPr>
              <a:t>1.  Given: x = 10, actual y = 45, predicted y-hat = 38.
    Calculate the residual and interpret it in context.</a:t>
            </a:r>
          </a:p>
          <a:p>
            <a:pPr algn="l">
              <a:spcAft>
                <a:spcPts val="100"/>
              </a:spcAft>
            </a:pPr>
            <a:r>
              <a:rPr b="0" sz="1500">
                <a:solidFill>
                  <a:srgbClr val="FFFFFF"/>
                </a:solidFill>
                <a:latin typeface="Calibri"/>
              </a:rPr>
              <a:t>2.  A residual plot for a regression model shows a clear U-shaped pattern. What does this indicate about the linear model?</a:t>
            </a:r>
          </a:p>
          <a:p>
            <a:pPr algn="l">
              <a:spcAft>
                <a:spcPts val="100"/>
              </a:spcAft>
            </a:pPr>
            <a:r>
              <a:rPr b="0" sz="1500">
                <a:solidFill>
                  <a:srgbClr val="FFFFFF"/>
                </a:solidFill>
                <a:latin typeface="Calibri"/>
              </a:rPr>
              <a:t>3.  True or False: A residual plot that shows random scatter around y = 0 guarantees the regression model is correct. Explain.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0" y="0"/>
            <a:ext cx="164592" cy="5143500"/>
          </a:xfrm>
          <a:prstGeom prst="rect">
            <a:avLst/>
          </a:prstGeom>
          <a:solidFill>
            <a:srgbClr val="D48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188720"/>
            <a:ext cx="8412480" cy="548640"/>
          </a:xfrm>
          <a:prstGeom prst="rect">
            <a:avLst/>
          </a:prstGeom>
          <a:noFill/>
        </p:spPr>
        <p:txBody>
          <a:bodyPr wrap="square">
            <a:spAutoFit/>
          </a:bodyPr>
          <a:lstStyle/>
          <a:p>
            <a:pPr algn="l"/>
            <a:r>
              <a:rPr b="1" i="0" sz="1300" spc="500">
                <a:solidFill>
                  <a:srgbClr val="D4820A"/>
                </a:solidFill>
                <a:latin typeface="Calibri"/>
              </a:rPr>
              <a:t>LESSON 2.8</a:t>
            </a:r>
          </a:p>
        </p:txBody>
      </p:sp>
      <p:sp>
        <p:nvSpPr>
          <p:cNvPr id="4" name="TextBox 3"/>
          <p:cNvSpPr txBox="1"/>
          <p:nvPr/>
        </p:nvSpPr>
        <p:spPr>
          <a:xfrm>
            <a:off x="365760" y="1783080"/>
            <a:ext cx="8412480" cy="1828800"/>
          </a:xfrm>
          <a:prstGeom prst="rect">
            <a:avLst/>
          </a:prstGeom>
          <a:noFill/>
        </p:spPr>
        <p:txBody>
          <a:bodyPr wrap="square">
            <a:spAutoFit/>
          </a:bodyPr>
          <a:lstStyle/>
          <a:p>
            <a:pPr algn="l"/>
            <a:r>
              <a:rPr b="1" i="0" sz="3400">
                <a:solidFill>
                  <a:srgbClr val="FFFFFF"/>
                </a:solidFill>
                <a:latin typeface="Calibri"/>
              </a:rPr>
              <a:t>Least Squares Regression</a:t>
            </a:r>
          </a:p>
        </p:txBody>
      </p:sp>
      <p:sp>
        <p:nvSpPr>
          <p:cNvPr id="5" name="TextBox 4"/>
          <p:cNvSpPr txBox="1"/>
          <p:nvPr/>
        </p:nvSpPr>
        <p:spPr>
          <a:xfrm>
            <a:off x="365760" y="4434840"/>
            <a:ext cx="8412480" cy="457200"/>
          </a:xfrm>
          <a:prstGeom prst="rect">
            <a:avLst/>
          </a:prstGeom>
          <a:noFill/>
        </p:spPr>
        <p:txBody>
          <a:bodyPr wrap="square">
            <a:spAutoFit/>
          </a:bodyPr>
          <a:lstStyle/>
          <a:p>
            <a:pPr algn="l"/>
            <a:r>
              <a:rPr b="0" i="0" sz="1100">
                <a:solidFill>
                  <a:srgbClr val="C5DFF5"/>
                </a:solidFill>
                <a:latin typeface="Calibri"/>
              </a:rPr>
              <a:t>AP Statistics  ·  Unit 2: Exploring Two-Variable Data</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EAF3FB"/>
        </a:solidFill>
        <a:effectLst/>
      </p:bgPr>
    </p:bg>
    <p:spTree>
      <p:nvGrpSpPr>
        <p:cNvPr id="1" name=""/>
        <p:cNvGrpSpPr/>
        <p:nvPr/>
      </p:nvGrpSpPr>
      <p:grpSpPr/>
      <p:sp>
        <p:nvSpPr>
          <p:cNvPr id="2" name="Rectangle 1"/>
          <p:cNvSpPr/>
          <p:nvPr/>
        </p:nvSpPr>
        <p:spPr>
          <a:xfrm>
            <a:off x="457200" y="411480"/>
            <a:ext cx="8229600" cy="6400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21207"/>
            <a:ext cx="8229600" cy="365760"/>
          </a:xfrm>
          <a:prstGeom prst="rect">
            <a:avLst/>
          </a:prstGeom>
          <a:noFill/>
        </p:spPr>
        <p:txBody>
          <a:bodyPr wrap="square">
            <a:spAutoFit/>
          </a:bodyPr>
          <a:lstStyle/>
          <a:p>
            <a:pPr algn="l"/>
            <a:r>
              <a:rPr b="1" i="0" sz="1100" spc="400">
                <a:solidFill>
                  <a:srgbClr val="1F3A5F"/>
                </a:solidFill>
                <a:latin typeface="Calibri"/>
              </a:rPr>
              <a:t>PRIMARY OBJECTIVE</a:t>
            </a:r>
          </a:p>
        </p:txBody>
      </p:sp>
      <p:sp>
        <p:nvSpPr>
          <p:cNvPr id="4" name="TextBox 3"/>
          <p:cNvSpPr txBox="1"/>
          <p:nvPr/>
        </p:nvSpPr>
        <p:spPr>
          <a:xfrm>
            <a:off x="457200" y="960120"/>
            <a:ext cx="8229600" cy="3840480"/>
          </a:xfrm>
          <a:prstGeom prst="rect">
            <a:avLst/>
          </a:prstGeom>
          <a:noFill/>
        </p:spPr>
        <p:txBody>
          <a:bodyPr wrap="square">
            <a:spAutoFit/>
          </a:bodyPr>
          <a:lstStyle/>
          <a:p>
            <a:pPr algn="l"/>
            <a:r>
              <a:rPr b="0" i="0" sz="1700">
                <a:solidFill>
                  <a:srgbClr val="2C3E50"/>
                </a:solidFill>
                <a:latin typeface="Calibri"/>
              </a:rPr>
              <a:t>Students will understand the least-squares criterion, derive slope and intercept formulas from summary statistics, and compute and interpret r² in context. Students will evaluate the effect of influential points on the regression line (Big Idea: DAT — Skills 2 &amp; 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A623"/>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D48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HOOK</a:t>
            </a:r>
          </a:p>
        </p:txBody>
      </p:sp>
      <p:sp>
        <p:nvSpPr>
          <p:cNvPr id="4" name="TextBox 3"/>
          <p:cNvSpPr txBox="1"/>
          <p:nvPr/>
        </p:nvSpPr>
        <p:spPr>
          <a:xfrm>
            <a:off x="457200" y="896112"/>
            <a:ext cx="8229600" cy="594360"/>
          </a:xfrm>
          <a:prstGeom prst="rect">
            <a:avLst/>
          </a:prstGeom>
          <a:noFill/>
        </p:spPr>
        <p:txBody>
          <a:bodyPr wrap="square">
            <a:spAutoFit/>
          </a:bodyPr>
          <a:lstStyle/>
          <a:p>
            <a:pPr algn="l"/>
            <a:r>
              <a:rPr b="1" i="0" sz="2000">
                <a:solidFill>
                  <a:srgbClr val="FFFFFF"/>
                </a:solidFill>
                <a:latin typeface="Calibri"/>
              </a:rPr>
              <a:t>Find the Line That Minimizes the Sum of Squared Residuals</a:t>
            </a:r>
          </a:p>
        </p:txBody>
      </p:sp>
      <p:sp>
        <p:nvSpPr>
          <p:cNvPr id="5" name="TextBox 4"/>
          <p:cNvSpPr txBox="1"/>
          <p:nvPr/>
        </p:nvSpPr>
        <p:spPr>
          <a:xfrm>
            <a:off x="457200" y="1554480"/>
            <a:ext cx="8229600" cy="685800"/>
          </a:xfrm>
          <a:prstGeom prst="rect">
            <a:avLst/>
          </a:prstGeom>
          <a:noFill/>
        </p:spPr>
        <p:txBody>
          <a:bodyPr wrap="square">
            <a:spAutoFit/>
          </a:bodyPr>
          <a:lstStyle/>
          <a:p>
            <a:pPr algn="l"/>
            <a:r>
              <a:rPr b="0" i="1" sz="1400">
                <a:solidFill>
                  <a:srgbClr val="C5DFF5"/>
                </a:solidFill>
                <a:latin typeface="Calibri"/>
              </a:rPr>
              <a:t>Interactive Desmos demo: a movable regression line with sum of squared residuals displayed</a:t>
            </a:r>
          </a:p>
        </p:txBody>
      </p:sp>
      <p:sp>
        <p:nvSpPr>
          <p:cNvPr id="6" name="TextBox 5"/>
          <p:cNvSpPr txBox="1"/>
          <p:nvPr/>
        </p:nvSpPr>
        <p:spPr>
          <a:xfrm>
            <a:off x="457200" y="2331720"/>
            <a:ext cx="8229600" cy="365760"/>
          </a:xfrm>
          <a:prstGeom prst="rect">
            <a:avLst/>
          </a:prstGeom>
          <a:noFill/>
        </p:spPr>
        <p:txBody>
          <a:bodyPr wrap="square">
            <a:spAutoFit/>
          </a:bodyPr>
          <a:lstStyle/>
          <a:p>
            <a:pPr algn="l"/>
            <a:r>
              <a:rPr b="1" i="0" sz="1300">
                <a:solidFill>
                  <a:srgbClr val="FFFFFF"/>
                </a:solidFill>
                <a:latin typeface="Calibri"/>
              </a:rPr>
              <a:t>Discussion questions:</a:t>
            </a:r>
          </a:p>
        </p:txBody>
      </p:sp>
      <p:sp>
        <p:nvSpPr>
          <p:cNvPr id="7" name="TextBox 6"/>
          <p:cNvSpPr txBox="1"/>
          <p:nvPr/>
        </p:nvSpPr>
        <p:spPr>
          <a:xfrm>
            <a:off x="640080" y="2743200"/>
            <a:ext cx="8046720" cy="2468880"/>
          </a:xfrm>
          <a:prstGeom prst="rect">
            <a:avLst/>
          </a:prstGeom>
          <a:noFill/>
        </p:spPr>
        <p:txBody>
          <a:bodyPr wrap="square">
            <a:spAutoFit/>
          </a:bodyPr>
          <a:lstStyle/>
          <a:p>
            <a:pPr algn="l">
              <a:buChar char="•"/>
              <a:spcAft>
                <a:spcPts val="70"/>
              </a:spcAft>
            </a:pPr>
            <a:r>
              <a:rPr b="0" sz="1400">
                <a:solidFill>
                  <a:srgbClr val="FFFFFF"/>
                </a:solidFill>
                <a:latin typeface="Calibri"/>
              </a:rPr>
              <a:t>Move the line around — what happens to the sum of squared residuals?</a:t>
            </a:r>
          </a:p>
          <a:p>
            <a:pPr algn="l">
              <a:buChar char="•"/>
              <a:spcAft>
                <a:spcPts val="70"/>
              </a:spcAft>
            </a:pPr>
            <a:r>
              <a:rPr b="0" sz="1400">
                <a:solidFill>
                  <a:srgbClr val="FFFFFF"/>
                </a:solidFill>
                <a:latin typeface="Calibri"/>
              </a:rPr>
              <a:t>Can you find the minimum? There is an exact formula that finds it.</a:t>
            </a:r>
          </a:p>
          <a:p>
            <a:pPr algn="l">
              <a:buChar char="•"/>
              <a:spcAft>
                <a:spcPts val="70"/>
              </a:spcAft>
            </a:pPr>
            <a:r>
              <a:rPr b="0" sz="1400">
                <a:solidFill>
                  <a:srgbClr val="FFFFFF"/>
                </a:solidFill>
                <a:latin typeface="Calibri"/>
              </a:rPr>
              <a:t>→ The 'least-squares line' is defined by this minimum — that is where its name comes from.</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EDF8F0"/>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2D7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VOCABULARY &amp; KEY CONCEPTS</a:t>
            </a:r>
          </a:p>
        </p:txBody>
      </p:sp>
      <p:sp>
        <p:nvSpPr>
          <p:cNvPr id="4" name="TextBox 3"/>
          <p:cNvSpPr txBox="1"/>
          <p:nvPr/>
        </p:nvSpPr>
        <p:spPr>
          <a:xfrm>
            <a:off x="365760" y="914400"/>
            <a:ext cx="4023360" cy="320040"/>
          </a:xfrm>
          <a:prstGeom prst="rect">
            <a:avLst/>
          </a:prstGeom>
          <a:noFill/>
        </p:spPr>
        <p:txBody>
          <a:bodyPr wrap="square">
            <a:spAutoFit/>
          </a:bodyPr>
          <a:lstStyle/>
          <a:p>
            <a:pPr algn="l"/>
            <a:r>
              <a:rPr b="1" i="0" sz="1200">
                <a:solidFill>
                  <a:srgbClr val="2D7A4F"/>
                </a:solidFill>
                <a:latin typeface="Calibri"/>
              </a:rPr>
              <a:t>Least-squares criterion</a:t>
            </a:r>
          </a:p>
        </p:txBody>
      </p:sp>
      <p:sp>
        <p:nvSpPr>
          <p:cNvPr id="5" name="TextBox 4"/>
          <p:cNvSpPr txBox="1"/>
          <p:nvPr/>
        </p:nvSpPr>
        <p:spPr>
          <a:xfrm>
            <a:off x="365760" y="1216152"/>
            <a:ext cx="4023360" cy="530352"/>
          </a:xfrm>
          <a:prstGeom prst="rect">
            <a:avLst/>
          </a:prstGeom>
          <a:noFill/>
        </p:spPr>
        <p:txBody>
          <a:bodyPr wrap="square">
            <a:spAutoFit/>
          </a:bodyPr>
          <a:lstStyle/>
          <a:p>
            <a:pPr algn="l"/>
            <a:r>
              <a:rPr b="0" i="0" sz="1100">
                <a:solidFill>
                  <a:srgbClr val="2C3E50"/>
                </a:solidFill>
                <a:latin typeface="Calibri"/>
              </a:rPr>
              <a:t>Choose the line that minimizes sum(y - y-hat)^2 — the sum of SQUARED residuals</a:t>
            </a:r>
          </a:p>
        </p:txBody>
      </p:sp>
      <p:sp>
        <p:nvSpPr>
          <p:cNvPr id="6" name="TextBox 5"/>
          <p:cNvSpPr txBox="1"/>
          <p:nvPr/>
        </p:nvSpPr>
        <p:spPr>
          <a:xfrm>
            <a:off x="365760" y="1828800"/>
            <a:ext cx="4023360" cy="320040"/>
          </a:xfrm>
          <a:prstGeom prst="rect">
            <a:avLst/>
          </a:prstGeom>
          <a:noFill/>
        </p:spPr>
        <p:txBody>
          <a:bodyPr wrap="square">
            <a:spAutoFit/>
          </a:bodyPr>
          <a:lstStyle/>
          <a:p>
            <a:pPr algn="l"/>
            <a:r>
              <a:rPr b="1" i="0" sz="1200">
                <a:solidFill>
                  <a:srgbClr val="2D7A4F"/>
                </a:solidFill>
                <a:latin typeface="Calibri"/>
              </a:rPr>
              <a:t>Slope formula</a:t>
            </a:r>
          </a:p>
        </p:txBody>
      </p:sp>
      <p:sp>
        <p:nvSpPr>
          <p:cNvPr id="7" name="TextBox 6"/>
          <p:cNvSpPr txBox="1"/>
          <p:nvPr/>
        </p:nvSpPr>
        <p:spPr>
          <a:xfrm>
            <a:off x="365760" y="2130552"/>
            <a:ext cx="4023360" cy="530352"/>
          </a:xfrm>
          <a:prstGeom prst="rect">
            <a:avLst/>
          </a:prstGeom>
          <a:noFill/>
        </p:spPr>
        <p:txBody>
          <a:bodyPr wrap="square">
            <a:spAutoFit/>
          </a:bodyPr>
          <a:lstStyle/>
          <a:p>
            <a:pPr algn="l"/>
            <a:r>
              <a:rPr b="0" i="0" sz="1100">
                <a:solidFill>
                  <a:srgbClr val="2C3E50"/>
                </a:solidFill>
                <a:latin typeface="Calibri"/>
              </a:rPr>
              <a:t>b = r * (s_y / s_x)  — connects regression directly to correlation</a:t>
            </a:r>
          </a:p>
        </p:txBody>
      </p:sp>
      <p:sp>
        <p:nvSpPr>
          <p:cNvPr id="8" name="TextBox 7"/>
          <p:cNvSpPr txBox="1"/>
          <p:nvPr/>
        </p:nvSpPr>
        <p:spPr>
          <a:xfrm>
            <a:off x="365760" y="2743200"/>
            <a:ext cx="4023360" cy="320040"/>
          </a:xfrm>
          <a:prstGeom prst="rect">
            <a:avLst/>
          </a:prstGeom>
          <a:noFill/>
        </p:spPr>
        <p:txBody>
          <a:bodyPr wrap="square">
            <a:spAutoFit/>
          </a:bodyPr>
          <a:lstStyle/>
          <a:p>
            <a:pPr algn="l"/>
            <a:r>
              <a:rPr b="1" i="0" sz="1200">
                <a:solidFill>
                  <a:srgbClr val="2D7A4F"/>
                </a:solidFill>
                <a:latin typeface="Calibri"/>
              </a:rPr>
              <a:t>Intercept formula</a:t>
            </a:r>
          </a:p>
        </p:txBody>
      </p:sp>
      <p:sp>
        <p:nvSpPr>
          <p:cNvPr id="9" name="TextBox 8"/>
          <p:cNvSpPr txBox="1"/>
          <p:nvPr/>
        </p:nvSpPr>
        <p:spPr>
          <a:xfrm>
            <a:off x="365760" y="3044952"/>
            <a:ext cx="4023360" cy="530352"/>
          </a:xfrm>
          <a:prstGeom prst="rect">
            <a:avLst/>
          </a:prstGeom>
          <a:noFill/>
        </p:spPr>
        <p:txBody>
          <a:bodyPr wrap="square">
            <a:spAutoFit/>
          </a:bodyPr>
          <a:lstStyle/>
          <a:p>
            <a:pPr algn="l"/>
            <a:r>
              <a:rPr b="0" i="0" sz="1100">
                <a:solidFill>
                  <a:srgbClr val="2C3E50"/>
                </a:solidFill>
                <a:latin typeface="Calibri"/>
              </a:rPr>
              <a:t>a = y-bar - b * x-bar  — the line always passes through (x-bar, y-bar)</a:t>
            </a:r>
          </a:p>
        </p:txBody>
      </p:sp>
      <p:sp>
        <p:nvSpPr>
          <p:cNvPr id="10" name="TextBox 9"/>
          <p:cNvSpPr txBox="1"/>
          <p:nvPr/>
        </p:nvSpPr>
        <p:spPr>
          <a:xfrm>
            <a:off x="4754880" y="914400"/>
            <a:ext cx="4023360" cy="320040"/>
          </a:xfrm>
          <a:prstGeom prst="rect">
            <a:avLst/>
          </a:prstGeom>
          <a:noFill/>
        </p:spPr>
        <p:txBody>
          <a:bodyPr wrap="square">
            <a:spAutoFit/>
          </a:bodyPr>
          <a:lstStyle/>
          <a:p>
            <a:pPr algn="l"/>
            <a:r>
              <a:rPr b="1" i="0" sz="1200">
                <a:solidFill>
                  <a:srgbClr val="2D7A4F"/>
                </a:solidFill>
                <a:latin typeface="Calibri"/>
              </a:rPr>
              <a:t>r² (coefficient of det.)</a:t>
            </a:r>
          </a:p>
        </p:txBody>
      </p:sp>
      <p:sp>
        <p:nvSpPr>
          <p:cNvPr id="11" name="TextBox 10"/>
          <p:cNvSpPr txBox="1"/>
          <p:nvPr/>
        </p:nvSpPr>
        <p:spPr>
          <a:xfrm>
            <a:off x="4754880" y="1216152"/>
            <a:ext cx="4023360" cy="530352"/>
          </a:xfrm>
          <a:prstGeom prst="rect">
            <a:avLst/>
          </a:prstGeom>
          <a:noFill/>
        </p:spPr>
        <p:txBody>
          <a:bodyPr wrap="square">
            <a:spAutoFit/>
          </a:bodyPr>
          <a:lstStyle/>
          <a:p>
            <a:pPr algn="l"/>
            <a:r>
              <a:rPr b="0" i="0" sz="1100">
                <a:solidFill>
                  <a:srgbClr val="2C3E50"/>
                </a:solidFill>
                <a:latin typeface="Calibri"/>
              </a:rPr>
              <a:t>Proportion of variation in y explained by the linear model; 0 ≤ r² ≤ 1</a:t>
            </a:r>
          </a:p>
        </p:txBody>
      </p:sp>
      <p:sp>
        <p:nvSpPr>
          <p:cNvPr id="12" name="TextBox 11"/>
          <p:cNvSpPr txBox="1"/>
          <p:nvPr/>
        </p:nvSpPr>
        <p:spPr>
          <a:xfrm>
            <a:off x="4754880" y="1828800"/>
            <a:ext cx="4023360" cy="320040"/>
          </a:xfrm>
          <a:prstGeom prst="rect">
            <a:avLst/>
          </a:prstGeom>
          <a:noFill/>
        </p:spPr>
        <p:txBody>
          <a:bodyPr wrap="square">
            <a:spAutoFit/>
          </a:bodyPr>
          <a:lstStyle/>
          <a:p>
            <a:pPr algn="l"/>
            <a:r>
              <a:rPr b="1" i="0" sz="1200">
                <a:solidFill>
                  <a:srgbClr val="2D7A4F"/>
                </a:solidFill>
                <a:latin typeface="Calibri"/>
              </a:rPr>
              <a:t>Influential point</a:t>
            </a:r>
          </a:p>
        </p:txBody>
      </p:sp>
      <p:sp>
        <p:nvSpPr>
          <p:cNvPr id="13" name="TextBox 12"/>
          <p:cNvSpPr txBox="1"/>
          <p:nvPr/>
        </p:nvSpPr>
        <p:spPr>
          <a:xfrm>
            <a:off x="4754880" y="2130552"/>
            <a:ext cx="4023360" cy="530352"/>
          </a:xfrm>
          <a:prstGeom prst="rect">
            <a:avLst/>
          </a:prstGeom>
          <a:noFill/>
        </p:spPr>
        <p:txBody>
          <a:bodyPr wrap="square">
            <a:spAutoFit/>
          </a:bodyPr>
          <a:lstStyle/>
          <a:p>
            <a:pPr algn="l"/>
            <a:r>
              <a:rPr b="0" i="0" sz="1100">
                <a:solidFill>
                  <a:srgbClr val="2C3E50"/>
                </a:solidFill>
                <a:latin typeface="Calibri"/>
              </a:rPr>
              <a:t>Removal would substantially change the regression line; typically extreme x, inconsistent with trend</a:t>
            </a:r>
          </a:p>
        </p:txBody>
      </p:sp>
      <p:sp>
        <p:nvSpPr>
          <p:cNvPr id="14" name="TextBox 13"/>
          <p:cNvSpPr txBox="1"/>
          <p:nvPr/>
        </p:nvSpPr>
        <p:spPr>
          <a:xfrm>
            <a:off x="4754880" y="2743200"/>
            <a:ext cx="4023360" cy="320040"/>
          </a:xfrm>
          <a:prstGeom prst="rect">
            <a:avLst/>
          </a:prstGeom>
          <a:noFill/>
        </p:spPr>
        <p:txBody>
          <a:bodyPr wrap="square">
            <a:spAutoFit/>
          </a:bodyPr>
          <a:lstStyle/>
          <a:p>
            <a:pPr algn="l"/>
            <a:r>
              <a:rPr b="1" i="0" sz="1200">
                <a:solidFill>
                  <a:srgbClr val="2D7A4F"/>
                </a:solidFill>
                <a:latin typeface="Calibri"/>
              </a:rPr>
              <a:t>High leverage point</a:t>
            </a:r>
          </a:p>
        </p:txBody>
      </p:sp>
      <p:sp>
        <p:nvSpPr>
          <p:cNvPr id="15" name="TextBox 14"/>
          <p:cNvSpPr txBox="1"/>
          <p:nvPr/>
        </p:nvSpPr>
        <p:spPr>
          <a:xfrm>
            <a:off x="4754880" y="3044952"/>
            <a:ext cx="4023360" cy="530352"/>
          </a:xfrm>
          <a:prstGeom prst="rect">
            <a:avLst/>
          </a:prstGeom>
          <a:noFill/>
        </p:spPr>
        <p:txBody>
          <a:bodyPr wrap="square">
            <a:spAutoFit/>
          </a:bodyPr>
          <a:lstStyle/>
          <a:p>
            <a:pPr algn="l"/>
            <a:r>
              <a:rPr b="0" i="0" sz="1100">
                <a:solidFill>
                  <a:srgbClr val="2C3E50"/>
                </a:solidFill>
                <a:latin typeface="Calibri"/>
              </a:rPr>
              <a:t>Has extreme x value (far from x-bar); may or may not be influential</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594360"/>
          </a:xfrm>
          <a:prstGeom prst="rect">
            <a:avLst/>
          </a:prstGeom>
          <a:noFill/>
        </p:spPr>
        <p:txBody>
          <a:bodyPr wrap="square">
            <a:spAutoFit/>
          </a:bodyPr>
          <a:lstStyle/>
          <a:p>
            <a:pPr algn="l"/>
            <a:r>
              <a:rPr b="1" i="0" sz="2000">
                <a:solidFill>
                  <a:srgbClr val="FFFFFF"/>
                </a:solidFill>
                <a:latin typeface="Calibri"/>
              </a:rPr>
              <a:t>Computing the Least-Squares Regression Line</a:t>
            </a:r>
          </a:p>
        </p:txBody>
      </p:sp>
      <p:sp>
        <p:nvSpPr>
          <p:cNvPr id="4" name="Rectangle 3"/>
          <p:cNvSpPr/>
          <p:nvPr/>
        </p:nvSpPr>
        <p:spPr>
          <a:xfrm>
            <a:off x="320040" y="932688"/>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50976"/>
            <a:ext cx="347472" cy="310896"/>
          </a:xfrm>
          <a:prstGeom prst="rect">
            <a:avLst/>
          </a:prstGeom>
          <a:noFill/>
        </p:spPr>
        <p:txBody>
          <a:bodyPr wrap="square">
            <a:spAutoFit/>
          </a:bodyPr>
          <a:lstStyle/>
          <a:p>
            <a:pPr algn="ctr"/>
            <a:r>
              <a:rPr b="1" i="0" sz="1200">
                <a:solidFill>
                  <a:srgbClr val="FFFFFF"/>
                </a:solidFill>
                <a:latin typeface="Calibri"/>
              </a:rPr>
              <a:t>1</a:t>
            </a:r>
          </a:p>
        </p:txBody>
      </p:sp>
      <p:sp>
        <p:nvSpPr>
          <p:cNvPr id="6" name="TextBox 5"/>
          <p:cNvSpPr txBox="1"/>
          <p:nvPr/>
        </p:nvSpPr>
        <p:spPr>
          <a:xfrm>
            <a:off x="804672" y="941832"/>
            <a:ext cx="7955279" cy="475488"/>
          </a:xfrm>
          <a:prstGeom prst="rect">
            <a:avLst/>
          </a:prstGeom>
          <a:noFill/>
        </p:spPr>
        <p:txBody>
          <a:bodyPr wrap="square">
            <a:spAutoFit/>
          </a:bodyPr>
          <a:lstStyle/>
          <a:p>
            <a:pPr algn="l"/>
            <a:r>
              <a:rPr b="0" i="0" sz="1300">
                <a:solidFill>
                  <a:srgbClr val="2C3E50"/>
                </a:solidFill>
                <a:latin typeface="Calibri"/>
              </a:rPr>
              <a:t>Gather five summary statistics: x-bar, y-bar, s_x, s_y, and r.</a:t>
            </a:r>
          </a:p>
        </p:txBody>
      </p:sp>
      <p:sp>
        <p:nvSpPr>
          <p:cNvPr id="7" name="Rectangle 6"/>
          <p:cNvSpPr/>
          <p:nvPr/>
        </p:nvSpPr>
        <p:spPr>
          <a:xfrm>
            <a:off x="320040" y="1545336"/>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563624"/>
            <a:ext cx="347472" cy="310896"/>
          </a:xfrm>
          <a:prstGeom prst="rect">
            <a:avLst/>
          </a:prstGeom>
          <a:noFill/>
        </p:spPr>
        <p:txBody>
          <a:bodyPr wrap="square">
            <a:spAutoFit/>
          </a:bodyPr>
          <a:lstStyle/>
          <a:p>
            <a:pPr algn="ctr"/>
            <a:r>
              <a:rPr b="1" i="0" sz="1200">
                <a:solidFill>
                  <a:srgbClr val="FFFFFF"/>
                </a:solidFill>
                <a:latin typeface="Calibri"/>
              </a:rPr>
              <a:t>2</a:t>
            </a:r>
          </a:p>
        </p:txBody>
      </p:sp>
      <p:sp>
        <p:nvSpPr>
          <p:cNvPr id="9" name="TextBox 8"/>
          <p:cNvSpPr txBox="1"/>
          <p:nvPr/>
        </p:nvSpPr>
        <p:spPr>
          <a:xfrm>
            <a:off x="804672" y="1554480"/>
            <a:ext cx="7955279" cy="475488"/>
          </a:xfrm>
          <a:prstGeom prst="rect">
            <a:avLst/>
          </a:prstGeom>
          <a:noFill/>
        </p:spPr>
        <p:txBody>
          <a:bodyPr wrap="square">
            <a:spAutoFit/>
          </a:bodyPr>
          <a:lstStyle/>
          <a:p>
            <a:pPr algn="l"/>
            <a:r>
              <a:rPr b="0" i="0" sz="1300">
                <a:solidFill>
                  <a:srgbClr val="2C3E50"/>
                </a:solidFill>
                <a:latin typeface="Calibri"/>
              </a:rPr>
              <a:t>Compute slope:  b = r * (s_y / s_x).</a:t>
            </a:r>
          </a:p>
        </p:txBody>
      </p:sp>
      <p:sp>
        <p:nvSpPr>
          <p:cNvPr id="10" name="Rectangle 9"/>
          <p:cNvSpPr/>
          <p:nvPr/>
        </p:nvSpPr>
        <p:spPr>
          <a:xfrm>
            <a:off x="320040" y="2157984"/>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2176272"/>
            <a:ext cx="347472" cy="310896"/>
          </a:xfrm>
          <a:prstGeom prst="rect">
            <a:avLst/>
          </a:prstGeom>
          <a:noFill/>
        </p:spPr>
        <p:txBody>
          <a:bodyPr wrap="square">
            <a:spAutoFit/>
          </a:bodyPr>
          <a:lstStyle/>
          <a:p>
            <a:pPr algn="ctr"/>
            <a:r>
              <a:rPr b="1" i="0" sz="1200">
                <a:solidFill>
                  <a:srgbClr val="FFFFFF"/>
                </a:solidFill>
                <a:latin typeface="Calibri"/>
              </a:rPr>
              <a:t>3</a:t>
            </a:r>
          </a:p>
        </p:txBody>
      </p:sp>
      <p:sp>
        <p:nvSpPr>
          <p:cNvPr id="12" name="TextBox 11"/>
          <p:cNvSpPr txBox="1"/>
          <p:nvPr/>
        </p:nvSpPr>
        <p:spPr>
          <a:xfrm>
            <a:off x="804672" y="2167127"/>
            <a:ext cx="7955279" cy="475488"/>
          </a:xfrm>
          <a:prstGeom prst="rect">
            <a:avLst/>
          </a:prstGeom>
          <a:noFill/>
        </p:spPr>
        <p:txBody>
          <a:bodyPr wrap="square">
            <a:spAutoFit/>
          </a:bodyPr>
          <a:lstStyle/>
          <a:p>
            <a:pPr algn="l"/>
            <a:r>
              <a:rPr b="0" i="0" sz="1300">
                <a:solidFill>
                  <a:srgbClr val="2C3E50"/>
                </a:solidFill>
                <a:latin typeface="Calibri"/>
              </a:rPr>
              <a:t>Compute intercept:  a = y-bar - b * x-bar.</a:t>
            </a:r>
          </a:p>
        </p:txBody>
      </p:sp>
      <p:sp>
        <p:nvSpPr>
          <p:cNvPr id="13" name="Rectangle 12"/>
          <p:cNvSpPr/>
          <p:nvPr/>
        </p:nvSpPr>
        <p:spPr>
          <a:xfrm>
            <a:off x="320040" y="2770632"/>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2788920"/>
            <a:ext cx="347472" cy="310896"/>
          </a:xfrm>
          <a:prstGeom prst="rect">
            <a:avLst/>
          </a:prstGeom>
          <a:noFill/>
        </p:spPr>
        <p:txBody>
          <a:bodyPr wrap="square">
            <a:spAutoFit/>
          </a:bodyPr>
          <a:lstStyle/>
          <a:p>
            <a:pPr algn="ctr"/>
            <a:r>
              <a:rPr b="1" i="0" sz="1200">
                <a:solidFill>
                  <a:srgbClr val="FFFFFF"/>
                </a:solidFill>
                <a:latin typeface="Calibri"/>
              </a:rPr>
              <a:t>4</a:t>
            </a:r>
          </a:p>
        </p:txBody>
      </p:sp>
      <p:sp>
        <p:nvSpPr>
          <p:cNvPr id="15" name="TextBox 14"/>
          <p:cNvSpPr txBox="1"/>
          <p:nvPr/>
        </p:nvSpPr>
        <p:spPr>
          <a:xfrm>
            <a:off x="804672" y="2779776"/>
            <a:ext cx="7955279" cy="475488"/>
          </a:xfrm>
          <a:prstGeom prst="rect">
            <a:avLst/>
          </a:prstGeom>
          <a:noFill/>
        </p:spPr>
        <p:txBody>
          <a:bodyPr wrap="square">
            <a:spAutoFit/>
          </a:bodyPr>
          <a:lstStyle/>
          <a:p>
            <a:pPr algn="l"/>
            <a:r>
              <a:rPr b="0" i="0" sz="1300">
                <a:solidFill>
                  <a:srgbClr val="2C3E50"/>
                </a:solidFill>
                <a:latin typeface="Calibri"/>
              </a:rPr>
              <a:t>Write the equation with variable names:  y-hat = a + b(x).</a:t>
            </a:r>
          </a:p>
        </p:txBody>
      </p:sp>
      <p:sp>
        <p:nvSpPr>
          <p:cNvPr id="16" name="Rectangle 15"/>
          <p:cNvSpPr/>
          <p:nvPr/>
        </p:nvSpPr>
        <p:spPr>
          <a:xfrm>
            <a:off x="320040" y="3383280"/>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3401568"/>
            <a:ext cx="347472" cy="310896"/>
          </a:xfrm>
          <a:prstGeom prst="rect">
            <a:avLst/>
          </a:prstGeom>
          <a:noFill/>
        </p:spPr>
        <p:txBody>
          <a:bodyPr wrap="square">
            <a:spAutoFit/>
          </a:bodyPr>
          <a:lstStyle/>
          <a:p>
            <a:pPr algn="ctr"/>
            <a:r>
              <a:rPr b="1" i="0" sz="1200">
                <a:solidFill>
                  <a:srgbClr val="FFFFFF"/>
                </a:solidFill>
                <a:latin typeface="Calibri"/>
              </a:rPr>
              <a:t>5</a:t>
            </a:r>
          </a:p>
        </p:txBody>
      </p:sp>
      <p:sp>
        <p:nvSpPr>
          <p:cNvPr id="18" name="TextBox 17"/>
          <p:cNvSpPr txBox="1"/>
          <p:nvPr/>
        </p:nvSpPr>
        <p:spPr>
          <a:xfrm>
            <a:off x="804672" y="3392424"/>
            <a:ext cx="7955279" cy="475488"/>
          </a:xfrm>
          <a:prstGeom prst="rect">
            <a:avLst/>
          </a:prstGeom>
          <a:noFill/>
        </p:spPr>
        <p:txBody>
          <a:bodyPr wrap="square">
            <a:spAutoFit/>
          </a:bodyPr>
          <a:lstStyle/>
          <a:p>
            <a:pPr algn="l"/>
            <a:r>
              <a:rPr b="0" i="0" sz="1300">
                <a:solidFill>
                  <a:srgbClr val="2C3E50"/>
                </a:solidFill>
                <a:latin typeface="Calibri"/>
              </a:rPr>
              <a:t>Compute r² = r * r. Interpret: '___% of the variation in [y] is explained by the linear relationship with [x].'</a:t>
            </a:r>
          </a:p>
        </p:txBody>
      </p:sp>
      <p:sp>
        <p:nvSpPr>
          <p:cNvPr id="19" name="Rectangle 18"/>
          <p:cNvSpPr/>
          <p:nvPr/>
        </p:nvSpPr>
        <p:spPr>
          <a:xfrm>
            <a:off x="320040" y="3995927"/>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0040" y="4014215"/>
            <a:ext cx="347472" cy="310896"/>
          </a:xfrm>
          <a:prstGeom prst="rect">
            <a:avLst/>
          </a:prstGeom>
          <a:noFill/>
        </p:spPr>
        <p:txBody>
          <a:bodyPr wrap="square">
            <a:spAutoFit/>
          </a:bodyPr>
          <a:lstStyle/>
          <a:p>
            <a:pPr algn="ctr"/>
            <a:r>
              <a:rPr b="1" i="0" sz="1200">
                <a:solidFill>
                  <a:srgbClr val="FFFFFF"/>
                </a:solidFill>
                <a:latin typeface="Calibri"/>
              </a:rPr>
              <a:t>6</a:t>
            </a:r>
          </a:p>
        </p:txBody>
      </p:sp>
      <p:sp>
        <p:nvSpPr>
          <p:cNvPr id="21" name="TextBox 20"/>
          <p:cNvSpPr txBox="1"/>
          <p:nvPr/>
        </p:nvSpPr>
        <p:spPr>
          <a:xfrm>
            <a:off x="804672" y="4005072"/>
            <a:ext cx="7955279" cy="475488"/>
          </a:xfrm>
          <a:prstGeom prst="rect">
            <a:avLst/>
          </a:prstGeom>
          <a:noFill/>
        </p:spPr>
        <p:txBody>
          <a:bodyPr wrap="square">
            <a:spAutoFit/>
          </a:bodyPr>
          <a:lstStyle/>
          <a:p>
            <a:pPr algn="l"/>
            <a:r>
              <a:rPr b="0" i="0" sz="1300">
                <a:solidFill>
                  <a:srgbClr val="2C3E50"/>
                </a:solidFill>
                <a:latin typeface="Calibri"/>
              </a:rPr>
              <a:t>Verify using technology (LinReg on calculator or computer output).</a:t>
            </a:r>
          </a:p>
        </p:txBody>
      </p:sp>
      <p:sp>
        <p:nvSpPr>
          <p:cNvPr id="22" name="TextBox 21"/>
          <p:cNvSpPr txBox="1"/>
          <p:nvPr/>
        </p:nvSpPr>
        <p:spPr>
          <a:xfrm>
            <a:off x="457200" y="4754880"/>
            <a:ext cx="8229600" cy="320040"/>
          </a:xfrm>
          <a:prstGeom prst="rect">
            <a:avLst/>
          </a:prstGeom>
          <a:noFill/>
        </p:spPr>
        <p:txBody>
          <a:bodyPr wrap="square">
            <a:spAutoFit/>
          </a:bodyPr>
          <a:lstStyle/>
          <a:p>
            <a:pPr algn="l"/>
            <a:r>
              <a:rPr b="0" i="1" sz="1100">
                <a:solidFill>
                  <a:srgbClr val="64748B"/>
                </a:solidFill>
                <a:latin typeface="Calibri"/>
              </a:rPr>
              <a:t>NOTE: r² is the most-tested regression statistic on the AP exam — know the interpretation cold.</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594360"/>
          </a:xfrm>
          <a:prstGeom prst="rect">
            <a:avLst/>
          </a:prstGeom>
          <a:noFill/>
        </p:spPr>
        <p:txBody>
          <a:bodyPr wrap="square">
            <a:spAutoFit/>
          </a:bodyPr>
          <a:lstStyle/>
          <a:p>
            <a:pPr algn="l"/>
            <a:r>
              <a:rPr b="1" i="0" sz="2000">
                <a:solidFill>
                  <a:srgbClr val="FFFFFF"/>
                </a:solidFill>
                <a:latin typeface="Calibri"/>
              </a:rPr>
              <a:t>r² — The Most Common AP Misinterpretation</a:t>
            </a:r>
          </a:p>
        </p:txBody>
      </p:sp>
      <p:sp>
        <p:nvSpPr>
          <p:cNvPr id="4" name="TextBox 3"/>
          <p:cNvSpPr txBox="1"/>
          <p:nvPr/>
        </p:nvSpPr>
        <p:spPr>
          <a:xfrm>
            <a:off x="457200" y="914400"/>
            <a:ext cx="8229600" cy="3931920"/>
          </a:xfrm>
          <a:prstGeom prst="rect">
            <a:avLst/>
          </a:prstGeom>
          <a:noFill/>
        </p:spPr>
        <p:txBody>
          <a:bodyPr wrap="square">
            <a:spAutoFit/>
          </a:bodyPr>
          <a:lstStyle/>
          <a:p>
            <a:pPr algn="l">
              <a:buChar char="•"/>
              <a:spcAft>
                <a:spcPts val="70"/>
              </a:spcAft>
            </a:pPr>
            <a:r>
              <a:rPr b="1" sz="1400">
                <a:solidFill>
                  <a:srgbClr val="2C3E50"/>
                </a:solidFill>
                <a:latin typeface="Calibri"/>
              </a:rPr>
              <a:t>WRONG interpretations (earn 0 credit):</a:t>
            </a:r>
          </a:p>
          <a:p>
            <a:pPr algn="l">
              <a:buChar char="•"/>
              <a:spcAft>
                <a:spcPts val="70"/>
              </a:spcAft>
            </a:pPr>
            <a:r>
              <a:rPr b="0" sz="1400">
                <a:solidFill>
                  <a:srgbClr val="2C3E50"/>
                </a:solidFill>
                <a:latin typeface="Calibri"/>
              </a:rPr>
              <a:t>    'r² = 0.85 means 85% of the data is linear.'</a:t>
            </a:r>
          </a:p>
          <a:p>
            <a:pPr algn="l">
              <a:buChar char="•"/>
              <a:spcAft>
                <a:spcPts val="70"/>
              </a:spcAft>
            </a:pPr>
            <a:r>
              <a:rPr b="0" sz="1400">
                <a:solidFill>
                  <a:srgbClr val="2C3E50"/>
                </a:solidFill>
                <a:latin typeface="Calibri"/>
              </a:rPr>
              <a:t>    'r² = 0.85 means the model is 85% accurate.'</a:t>
            </a:r>
          </a:p>
          <a:p>
            <a:pPr algn="l">
              <a:buChar char="•"/>
              <a:spcAft>
                <a:spcPts val="70"/>
              </a:spcAft>
            </a:pPr>
            <a:r>
              <a:rPr b="0" sz="1400">
                <a:solidFill>
                  <a:srgbClr val="2C3E50"/>
                </a:solidFill>
                <a:latin typeface="Calibri"/>
              </a:rPr>
              <a:t>    'r² = 0.85 means there is an 85% correlation.'</a:t>
            </a:r>
          </a:p>
          <a:p>
            <a:pPr algn="l">
              <a:buChar char="•"/>
              <a:spcAft>
                <a:spcPts val="70"/>
              </a:spcAft>
            </a:pPr>
            <a:r>
              <a:rPr b="0" sz="1400">
                <a:solidFill>
                  <a:srgbClr val="2C3E50"/>
                </a:solidFill>
                <a:latin typeface="Calibri"/>
              </a:rPr>
              <a:t/>
            </a:r>
          </a:p>
          <a:p>
            <a:pPr algn="l">
              <a:buChar char="•"/>
              <a:spcAft>
                <a:spcPts val="70"/>
              </a:spcAft>
            </a:pPr>
            <a:r>
              <a:rPr b="1" sz="1400">
                <a:solidFill>
                  <a:srgbClr val="2C3E50"/>
                </a:solidFill>
                <a:latin typeface="Calibri"/>
              </a:rPr>
              <a:t>CORRECT interpretation:</a:t>
            </a:r>
          </a:p>
          <a:p>
            <a:pPr algn="l">
              <a:buChar char="•"/>
              <a:spcAft>
                <a:spcPts val="70"/>
              </a:spcAft>
            </a:pPr>
            <a:r>
              <a:rPr b="0" sz="1400">
                <a:solidFill>
                  <a:srgbClr val="2C3E50"/>
                </a:solidFill>
                <a:latin typeface="Calibri"/>
              </a:rPr>
              <a:t>    'About 85% of the variation in [response variable] is explained by the least-squares</a:t>
            </a:r>
          </a:p>
          <a:p>
            <a:pPr algn="l">
              <a:buChar char="•"/>
              <a:spcAft>
                <a:spcPts val="70"/>
              </a:spcAft>
            </a:pPr>
            <a:r>
              <a:rPr b="0" sz="1400">
                <a:solidFill>
                  <a:srgbClr val="2C3E50"/>
                </a:solidFill>
                <a:latin typeface="Calibri"/>
              </a:rPr>
              <a:t>     regression of [response] on [explanatory variable].'</a:t>
            </a:r>
          </a:p>
          <a:p>
            <a:pPr algn="l">
              <a:buChar char="•"/>
              <a:spcAft>
                <a:spcPts val="70"/>
              </a:spcAft>
            </a:pPr>
            <a:r>
              <a:rPr b="0" sz="1400">
                <a:solidFill>
                  <a:srgbClr val="2C3E50"/>
                </a:solidFill>
                <a:latin typeface="Calibri"/>
              </a:rPr>
              <a:t/>
            </a:r>
          </a:p>
          <a:p>
            <a:pPr algn="l">
              <a:buChar char="•"/>
              <a:spcAft>
                <a:spcPts val="70"/>
              </a:spcAft>
            </a:pPr>
            <a:r>
              <a:rPr b="1" sz="1400">
                <a:solidFill>
                  <a:srgbClr val="2C3E50"/>
                </a:solidFill>
                <a:latin typeface="Calibri"/>
              </a:rPr>
              <a:t>Also remember:</a:t>
            </a:r>
          </a:p>
          <a:p>
            <a:pPr algn="l">
              <a:buChar char="•"/>
              <a:spcAft>
                <a:spcPts val="70"/>
              </a:spcAft>
            </a:pPr>
            <a:r>
              <a:rPr b="0" sz="1400">
                <a:solidFill>
                  <a:srgbClr val="2C3E50"/>
                </a:solidFill>
                <a:latin typeface="Calibri"/>
              </a:rPr>
              <a:t>    High r² does NOT guarantee the model is appropriate — always check the residual plot!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CECEC"/>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GROUP ACTIVITY</a:t>
            </a:r>
          </a:p>
        </p:txBody>
      </p:sp>
      <p:sp>
        <p:nvSpPr>
          <p:cNvPr id="4" name="TextBox 3"/>
          <p:cNvSpPr txBox="1"/>
          <p:nvPr/>
        </p:nvSpPr>
        <p:spPr>
          <a:xfrm>
            <a:off x="457200" y="896112"/>
            <a:ext cx="8229600" cy="566928"/>
          </a:xfrm>
          <a:prstGeom prst="rect">
            <a:avLst/>
          </a:prstGeom>
          <a:noFill/>
        </p:spPr>
        <p:txBody>
          <a:bodyPr wrap="square">
            <a:spAutoFit/>
          </a:bodyPr>
          <a:lstStyle/>
          <a:p>
            <a:pPr algn="l"/>
            <a:r>
              <a:rPr b="1" i="0" sz="1900">
                <a:solidFill>
                  <a:srgbClr val="2C3E50"/>
                </a:solidFill>
                <a:latin typeface="Calibri"/>
              </a:rPr>
              <a:t>Compute the Regression Line From Summary Statistics</a:t>
            </a:r>
          </a:p>
        </p:txBody>
      </p:sp>
      <p:sp>
        <p:nvSpPr>
          <p:cNvPr id="5" name="TextBox 4"/>
          <p:cNvSpPr txBox="1"/>
          <p:nvPr/>
        </p:nvSpPr>
        <p:spPr>
          <a:xfrm>
            <a:off x="548640" y="1554480"/>
            <a:ext cx="8046720" cy="2926080"/>
          </a:xfrm>
          <a:prstGeom prst="rect">
            <a:avLst/>
          </a:prstGeom>
          <a:noFill/>
        </p:spPr>
        <p:txBody>
          <a:bodyPr wrap="square">
            <a:spAutoFit/>
          </a:bodyPr>
          <a:lstStyle/>
          <a:p>
            <a:pPr algn="l">
              <a:spcAft>
                <a:spcPts val="80"/>
              </a:spcAft>
            </a:pPr>
            <a:r>
              <a:rPr b="0" sz="1400">
                <a:solidFill>
                  <a:srgbClr val="2C3E50"/>
                </a:solidFill>
                <a:latin typeface="Calibri"/>
              </a:rPr>
              <a:t>1.  Given: x-bar = 12, y-bar = 84, s_x = 3, s_y = 9, r = 0.80</a:t>
            </a:r>
          </a:p>
          <a:p>
            <a:pPr algn="l">
              <a:spcAft>
                <a:spcPts val="80"/>
              </a:spcAft>
            </a:pPr>
            <a:r>
              <a:rPr b="0" sz="1400">
                <a:solidFill>
                  <a:srgbClr val="2C3E50"/>
                </a:solidFill>
                <a:latin typeface="Calibri"/>
              </a:rPr>
              <a:t>2.  Compute slope b and intercept a. Write the regression equation with variable names.</a:t>
            </a:r>
          </a:p>
          <a:p>
            <a:pPr algn="l">
              <a:spcAft>
                <a:spcPts val="80"/>
              </a:spcAft>
            </a:pPr>
            <a:r>
              <a:rPr b="0" sz="1400">
                <a:solidFill>
                  <a:srgbClr val="2C3E50"/>
                </a:solidFill>
                <a:latin typeface="Calibri"/>
              </a:rPr>
              <a:t>3.  Compute and interpret r² in context.</a:t>
            </a:r>
          </a:p>
          <a:p>
            <a:pPr algn="l">
              <a:spcAft>
                <a:spcPts val="80"/>
              </a:spcAft>
            </a:pPr>
            <a:r>
              <a:rPr b="0" sz="1400">
                <a:solidFill>
                  <a:srgbClr val="2C3E50"/>
                </a:solidFill>
                <a:latin typeface="Calibri"/>
              </a:rPr>
              <a:t>4.  Predict y-hat when x = 15. Is this interpolation or extrapolation?</a:t>
            </a:r>
          </a:p>
          <a:p>
            <a:pPr algn="l">
              <a:spcAft>
                <a:spcPts val="80"/>
              </a:spcAft>
            </a:pPr>
            <a:r>
              <a:rPr b="0" sz="1400">
                <a:solidFill>
                  <a:srgbClr val="2C3E50"/>
                </a:solidFill>
                <a:latin typeface="Calibri"/>
              </a:rPr>
              <a:t>5.  Suppose one influential point is added at x = 30. Describe how this would likely change b, a, and r².</a:t>
            </a:r>
          </a:p>
        </p:txBody>
      </p:sp>
      <p:sp>
        <p:nvSpPr>
          <p:cNvPr id="6" name="TextBox 5"/>
          <p:cNvSpPr txBox="1"/>
          <p:nvPr/>
        </p:nvSpPr>
        <p:spPr>
          <a:xfrm>
            <a:off x="457200" y="4754880"/>
            <a:ext cx="8229600" cy="320040"/>
          </a:xfrm>
          <a:prstGeom prst="rect">
            <a:avLst/>
          </a:prstGeom>
          <a:noFill/>
        </p:spPr>
        <p:txBody>
          <a:bodyPr wrap="square">
            <a:spAutoFit/>
          </a:bodyPr>
          <a:lstStyle/>
          <a:p>
            <a:pPr algn="l"/>
            <a:r>
              <a:rPr b="1" i="0" sz="1100">
                <a:solidFill>
                  <a:srgbClr val="C0392B"/>
                </a:solidFill>
                <a:latin typeface="Calibri"/>
              </a:rPr>
              <a:t>TIME: 8–10 minutes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2E5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spc="400">
                <a:solidFill>
                  <a:srgbClr val="F5A623"/>
                </a:solidFill>
                <a:latin typeface="Calibri"/>
              </a:rPr>
              <a:t>EXIT TICKET</a:t>
            </a:r>
          </a:p>
        </p:txBody>
      </p:sp>
      <p:sp>
        <p:nvSpPr>
          <p:cNvPr id="4" name="TextBox 3"/>
          <p:cNvSpPr txBox="1"/>
          <p:nvPr/>
        </p:nvSpPr>
        <p:spPr>
          <a:xfrm>
            <a:off x="548640" y="914400"/>
            <a:ext cx="8046720" cy="3931920"/>
          </a:xfrm>
          <a:prstGeom prst="rect">
            <a:avLst/>
          </a:prstGeom>
          <a:noFill/>
        </p:spPr>
        <p:txBody>
          <a:bodyPr wrap="square">
            <a:spAutoFit/>
          </a:bodyPr>
          <a:lstStyle/>
          <a:p>
            <a:pPr algn="l">
              <a:spcAft>
                <a:spcPts val="100"/>
              </a:spcAft>
            </a:pPr>
            <a:r>
              <a:rPr b="0" sz="1500">
                <a:solidFill>
                  <a:srgbClr val="FFFFFF"/>
                </a:solidFill>
                <a:latin typeface="Calibri"/>
              </a:rPr>
              <a:t>1.  Computer output shows r² = 0.71 for a regression of fuel efficiency on car weight.
    Write the correct AP interpretation of r² in context.</a:t>
            </a:r>
          </a:p>
          <a:p>
            <a:pPr algn="l">
              <a:spcAft>
                <a:spcPts val="100"/>
              </a:spcAft>
            </a:pPr>
            <a:r>
              <a:rPr b="0" sz="1500">
                <a:solidFill>
                  <a:srgbClr val="FFFFFF"/>
                </a:solidFill>
                <a:latin typeface="Calibri"/>
              </a:rPr>
              <a:t>2.  The slope is b = -4.2 mpg/100 lbs. Interpret the slope in context.</a:t>
            </a:r>
          </a:p>
          <a:p>
            <a:pPr algn="l">
              <a:spcAft>
                <a:spcPts val="100"/>
              </a:spcAft>
            </a:pPr>
            <a:r>
              <a:rPr b="0" sz="1500">
                <a:solidFill>
                  <a:srgbClr val="FFFFFF"/>
                </a:solidFill>
                <a:latin typeface="Calibri"/>
              </a:rPr>
              <a:t>3.  Does r² = 0.71 mean the linear model is definitely appropriate? What else should you check?</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0" y="0"/>
            <a:ext cx="164592" cy="5143500"/>
          </a:xfrm>
          <a:prstGeom prst="rect">
            <a:avLst/>
          </a:prstGeom>
          <a:solidFill>
            <a:srgbClr val="D48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188720"/>
            <a:ext cx="8412480" cy="548640"/>
          </a:xfrm>
          <a:prstGeom prst="rect">
            <a:avLst/>
          </a:prstGeom>
          <a:noFill/>
        </p:spPr>
        <p:txBody>
          <a:bodyPr wrap="square">
            <a:spAutoFit/>
          </a:bodyPr>
          <a:lstStyle/>
          <a:p>
            <a:pPr algn="l"/>
            <a:r>
              <a:rPr b="1" i="0" sz="1300" spc="500">
                <a:solidFill>
                  <a:srgbClr val="D4820A"/>
                </a:solidFill>
                <a:latin typeface="Calibri"/>
              </a:rPr>
              <a:t>LESSON 2.9</a:t>
            </a:r>
          </a:p>
        </p:txBody>
      </p:sp>
      <p:sp>
        <p:nvSpPr>
          <p:cNvPr id="4" name="TextBox 3"/>
          <p:cNvSpPr txBox="1"/>
          <p:nvPr/>
        </p:nvSpPr>
        <p:spPr>
          <a:xfrm>
            <a:off x="365760" y="1783080"/>
            <a:ext cx="8412480" cy="1828800"/>
          </a:xfrm>
          <a:prstGeom prst="rect">
            <a:avLst/>
          </a:prstGeom>
          <a:noFill/>
        </p:spPr>
        <p:txBody>
          <a:bodyPr wrap="square">
            <a:spAutoFit/>
          </a:bodyPr>
          <a:lstStyle/>
          <a:p>
            <a:pPr algn="l"/>
            <a:r>
              <a:rPr b="1" i="0" sz="3400">
                <a:solidFill>
                  <a:srgbClr val="FFFFFF"/>
                </a:solidFill>
                <a:latin typeface="Calibri"/>
              </a:rPr>
              <a:t>Analyzing Departures from Linearity</a:t>
            </a:r>
          </a:p>
        </p:txBody>
      </p:sp>
      <p:sp>
        <p:nvSpPr>
          <p:cNvPr id="5" name="TextBox 4"/>
          <p:cNvSpPr txBox="1"/>
          <p:nvPr/>
        </p:nvSpPr>
        <p:spPr>
          <a:xfrm>
            <a:off x="365760" y="4434840"/>
            <a:ext cx="8412480" cy="457200"/>
          </a:xfrm>
          <a:prstGeom prst="rect">
            <a:avLst/>
          </a:prstGeom>
          <a:noFill/>
        </p:spPr>
        <p:txBody>
          <a:bodyPr wrap="square">
            <a:spAutoFit/>
          </a:bodyPr>
          <a:lstStyle/>
          <a:p>
            <a:pPr algn="l"/>
            <a:r>
              <a:rPr b="0" i="0" sz="1100">
                <a:solidFill>
                  <a:srgbClr val="C5DFF5"/>
                </a:solidFill>
                <a:latin typeface="Calibri"/>
              </a:rPr>
              <a:t>AP Statistics  ·  Unit 2: Exploring Two-Variable Data</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EAF3FB"/>
        </a:solidFill>
        <a:effectLst/>
      </p:bgPr>
    </p:bg>
    <p:spTree>
      <p:nvGrpSpPr>
        <p:cNvPr id="1" name=""/>
        <p:cNvGrpSpPr/>
        <p:nvPr/>
      </p:nvGrpSpPr>
      <p:grpSpPr/>
      <p:sp>
        <p:nvSpPr>
          <p:cNvPr id="2" name="Rectangle 1"/>
          <p:cNvSpPr/>
          <p:nvPr/>
        </p:nvSpPr>
        <p:spPr>
          <a:xfrm>
            <a:off x="457200" y="411480"/>
            <a:ext cx="8229600" cy="6400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21207"/>
            <a:ext cx="8229600" cy="365760"/>
          </a:xfrm>
          <a:prstGeom prst="rect">
            <a:avLst/>
          </a:prstGeom>
          <a:noFill/>
        </p:spPr>
        <p:txBody>
          <a:bodyPr wrap="square">
            <a:spAutoFit/>
          </a:bodyPr>
          <a:lstStyle/>
          <a:p>
            <a:pPr algn="l"/>
            <a:r>
              <a:rPr b="1" i="0" sz="1100" spc="400">
                <a:solidFill>
                  <a:srgbClr val="1F3A5F"/>
                </a:solidFill>
                <a:latin typeface="Calibri"/>
              </a:rPr>
              <a:t>PRIMARY OBJECTIVE</a:t>
            </a:r>
          </a:p>
        </p:txBody>
      </p:sp>
      <p:sp>
        <p:nvSpPr>
          <p:cNvPr id="4" name="TextBox 3"/>
          <p:cNvSpPr txBox="1"/>
          <p:nvPr/>
        </p:nvSpPr>
        <p:spPr>
          <a:xfrm>
            <a:off x="457200" y="960120"/>
            <a:ext cx="8229600" cy="3840480"/>
          </a:xfrm>
          <a:prstGeom prst="rect">
            <a:avLst/>
          </a:prstGeom>
          <a:noFill/>
        </p:spPr>
        <p:txBody>
          <a:bodyPr wrap="square">
            <a:spAutoFit/>
          </a:bodyPr>
          <a:lstStyle/>
          <a:p>
            <a:pPr algn="l"/>
            <a:r>
              <a:rPr b="0" i="0" sz="1700">
                <a:solidFill>
                  <a:srgbClr val="2C3E50"/>
                </a:solidFill>
                <a:latin typeface="Calibri"/>
              </a:rPr>
              <a:t>Students will identify nonlinear patterns in scatterplots and residual plots, apply logarithmic and power transformations to linearize data, fit regression to transformed data, and back-transform predictions to the original scale (Big Idea: DAT — Skill 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8FBFF"/>
        </a:solidFill>
        <a:effectLst/>
      </p:bgPr>
    </p:bg>
    <p:spTree>
      <p:nvGrpSpPr>
        <p:cNvPr id="1" name=""/>
        <p:cNvGrpSpPr/>
        <p:nvPr/>
      </p:nvGrpSpPr>
      <p:grpSpPr/>
      <p:sp>
        <p:nvSpPr>
          <p:cNvPr id="2" name="Rectangle 1"/>
          <p:cNvSpPr/>
          <p:nvPr/>
        </p:nvSpPr>
        <p:spPr>
          <a:xfrm>
            <a:off x="0" y="0"/>
            <a:ext cx="9144000" cy="868680"/>
          </a:xfrm>
          <a:prstGeom prst="rect">
            <a:avLst/>
          </a:prstGeom>
          <a:solidFill>
            <a:srgbClr val="EA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8229600" cy="502920"/>
          </a:xfrm>
          <a:prstGeom prst="rect">
            <a:avLst/>
          </a:prstGeom>
          <a:noFill/>
        </p:spPr>
        <p:txBody>
          <a:bodyPr wrap="square">
            <a:spAutoFit/>
          </a:bodyPr>
          <a:lstStyle/>
          <a:p>
            <a:pPr algn="l"/>
            <a:r>
              <a:rPr b="1" i="0" sz="1300">
                <a:solidFill>
                  <a:srgbClr val="1F3A5F"/>
                </a:solidFill>
                <a:latin typeface="Calibri"/>
              </a:rPr>
              <a:t>ACTIVATE PRIOR KNOWLEDGE</a:t>
            </a:r>
          </a:p>
        </p:txBody>
      </p:sp>
      <p:sp>
        <p:nvSpPr>
          <p:cNvPr id="4" name="TextBox 3"/>
          <p:cNvSpPr txBox="1"/>
          <p:nvPr/>
        </p:nvSpPr>
        <p:spPr>
          <a:xfrm>
            <a:off x="457200" y="1005840"/>
            <a:ext cx="8229600" cy="502920"/>
          </a:xfrm>
          <a:prstGeom prst="rect">
            <a:avLst/>
          </a:prstGeom>
          <a:noFill/>
        </p:spPr>
        <p:txBody>
          <a:bodyPr wrap="square">
            <a:spAutoFit/>
          </a:bodyPr>
          <a:lstStyle/>
          <a:p>
            <a:pPr algn="l"/>
            <a:r>
              <a:rPr b="1" i="0" sz="2000">
                <a:solidFill>
                  <a:srgbClr val="2C3E50"/>
                </a:solidFill>
                <a:latin typeface="Calibri"/>
              </a:rPr>
              <a:t>Nonlinear Residual Plot Review</a:t>
            </a:r>
          </a:p>
        </p:txBody>
      </p:sp>
      <p:sp>
        <p:nvSpPr>
          <p:cNvPr id="5" name="TextBox 4"/>
          <p:cNvSpPr txBox="1"/>
          <p:nvPr/>
        </p:nvSpPr>
        <p:spPr>
          <a:xfrm>
            <a:off x="640080" y="1600200"/>
            <a:ext cx="8046720" cy="3200400"/>
          </a:xfrm>
          <a:prstGeom prst="rect">
            <a:avLst/>
          </a:prstGeom>
          <a:noFill/>
        </p:spPr>
        <p:txBody>
          <a:bodyPr wrap="square">
            <a:spAutoFit/>
          </a:bodyPr>
          <a:lstStyle/>
          <a:p>
            <a:pPr algn="l">
              <a:buChar char="•"/>
              <a:spcAft>
                <a:spcPts val="80"/>
              </a:spcAft>
            </a:pPr>
            <a:r>
              <a:rPr b="0" sz="1500">
                <a:solidFill>
                  <a:srgbClr val="2C3E50"/>
                </a:solidFill>
                <a:latin typeface="Calibri"/>
              </a:rPr>
              <a:t>Display the curved (U-shaped) residual plot from Lesson 2.7.</a:t>
            </a:r>
          </a:p>
          <a:p>
            <a:pPr algn="l">
              <a:buChar char="•"/>
              <a:spcAft>
                <a:spcPts val="80"/>
              </a:spcAft>
            </a:pPr>
            <a:r>
              <a:rPr b="0" sz="1500">
                <a:solidFill>
                  <a:srgbClr val="2C3E50"/>
                </a:solidFill>
                <a:latin typeface="Calibri"/>
              </a:rPr>
              <a:t>What did we conclude? (Linear model is not appropriate.)</a:t>
            </a:r>
          </a:p>
          <a:p>
            <a:pPr algn="l">
              <a:buChar char="•"/>
              <a:spcAft>
                <a:spcPts val="80"/>
              </a:spcAft>
            </a:pPr>
            <a:r>
              <a:rPr b="0" sz="1500">
                <a:solidFill>
                  <a:srgbClr val="2C3E50"/>
                </a:solidFill>
                <a:latin typeface="Calibri"/>
              </a:rPr>
              <a:t>Rather than abandoning regression, we can TRANSFORM the data to make the relationship linear.</a:t>
            </a:r>
          </a:p>
          <a:p>
            <a:pPr algn="l">
              <a:buChar char="•"/>
              <a:spcAft>
                <a:spcPts val="80"/>
              </a:spcAft>
            </a:pPr>
            <a:r>
              <a:rPr b="0" sz="1500">
                <a:solidFill>
                  <a:srgbClr val="2C3E50"/>
                </a:solidFill>
                <a:latin typeface="Calibri"/>
              </a:rPr>
              <a:t>Then we apply all the tools we already know — on the transformed scale.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5A623"/>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D48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HOOK</a:t>
            </a:r>
          </a:p>
        </p:txBody>
      </p:sp>
      <p:sp>
        <p:nvSpPr>
          <p:cNvPr id="4" name="TextBox 3"/>
          <p:cNvSpPr txBox="1"/>
          <p:nvPr/>
        </p:nvSpPr>
        <p:spPr>
          <a:xfrm>
            <a:off x="457200" y="896112"/>
            <a:ext cx="8229600" cy="594360"/>
          </a:xfrm>
          <a:prstGeom prst="rect">
            <a:avLst/>
          </a:prstGeom>
          <a:noFill/>
        </p:spPr>
        <p:txBody>
          <a:bodyPr wrap="square">
            <a:spAutoFit/>
          </a:bodyPr>
          <a:lstStyle/>
          <a:p>
            <a:pPr algn="l"/>
            <a:r>
              <a:rPr b="1" i="0" sz="2000">
                <a:solidFill>
                  <a:srgbClr val="FFFFFF"/>
                </a:solidFill>
                <a:latin typeface="Calibri"/>
              </a:rPr>
              <a:t>Bacterial Colony Growth — Can We Fit a Line?</a:t>
            </a:r>
          </a:p>
        </p:txBody>
      </p:sp>
      <p:sp>
        <p:nvSpPr>
          <p:cNvPr id="5" name="TextBox 4"/>
          <p:cNvSpPr txBox="1"/>
          <p:nvPr/>
        </p:nvSpPr>
        <p:spPr>
          <a:xfrm>
            <a:off x="457200" y="1554480"/>
            <a:ext cx="8229600" cy="685800"/>
          </a:xfrm>
          <a:prstGeom prst="rect">
            <a:avLst/>
          </a:prstGeom>
          <a:noFill/>
        </p:spPr>
        <p:txBody>
          <a:bodyPr wrap="square">
            <a:spAutoFit/>
          </a:bodyPr>
          <a:lstStyle/>
          <a:p>
            <a:pPr algn="l"/>
            <a:r>
              <a:rPr b="0" i="1" sz="1400">
                <a:solidFill>
                  <a:srgbClr val="C5DFF5"/>
                </a:solidFill>
                <a:latin typeface="Calibri"/>
              </a:rPr>
              <a:t>Scatterplot of colony count vs. time (hours) shows a strongly curved pattern</a:t>
            </a:r>
          </a:p>
        </p:txBody>
      </p:sp>
      <p:sp>
        <p:nvSpPr>
          <p:cNvPr id="6" name="TextBox 5"/>
          <p:cNvSpPr txBox="1"/>
          <p:nvPr/>
        </p:nvSpPr>
        <p:spPr>
          <a:xfrm>
            <a:off x="457200" y="2331720"/>
            <a:ext cx="8229600" cy="365760"/>
          </a:xfrm>
          <a:prstGeom prst="rect">
            <a:avLst/>
          </a:prstGeom>
          <a:noFill/>
        </p:spPr>
        <p:txBody>
          <a:bodyPr wrap="square">
            <a:spAutoFit/>
          </a:bodyPr>
          <a:lstStyle/>
          <a:p>
            <a:pPr algn="l"/>
            <a:r>
              <a:rPr b="1" i="0" sz="1300">
                <a:solidFill>
                  <a:srgbClr val="FFFFFF"/>
                </a:solidFill>
                <a:latin typeface="Calibri"/>
              </a:rPr>
              <a:t>Discussion questions:</a:t>
            </a:r>
          </a:p>
        </p:txBody>
      </p:sp>
      <p:sp>
        <p:nvSpPr>
          <p:cNvPr id="7" name="TextBox 6"/>
          <p:cNvSpPr txBox="1"/>
          <p:nvPr/>
        </p:nvSpPr>
        <p:spPr>
          <a:xfrm>
            <a:off x="640080" y="2743200"/>
            <a:ext cx="8046720" cy="2468880"/>
          </a:xfrm>
          <a:prstGeom prst="rect">
            <a:avLst/>
          </a:prstGeom>
          <a:noFill/>
        </p:spPr>
        <p:txBody>
          <a:bodyPr wrap="square">
            <a:spAutoFit/>
          </a:bodyPr>
          <a:lstStyle/>
          <a:p>
            <a:pPr algn="l">
              <a:buChar char="•"/>
              <a:spcAft>
                <a:spcPts val="70"/>
              </a:spcAft>
            </a:pPr>
            <a:r>
              <a:rPr b="0" sz="1400">
                <a:solidFill>
                  <a:srgbClr val="FFFFFF"/>
                </a:solidFill>
                <a:latin typeface="Calibri"/>
              </a:rPr>
              <a:t>Attempt a linear fit — look at the residual plot. What do you see?</a:t>
            </a:r>
          </a:p>
          <a:p>
            <a:pPr algn="l">
              <a:buChar char="•"/>
              <a:spcAft>
                <a:spcPts val="70"/>
              </a:spcAft>
            </a:pPr>
            <a:r>
              <a:rPr b="0" sz="1400">
                <a:solidFill>
                  <a:srgbClr val="FFFFFF"/>
                </a:solidFill>
                <a:latin typeface="Calibri"/>
              </a:rPr>
              <a:t>Now take log₁₀(count) and replot vs. time. What happens to the curvature?</a:t>
            </a:r>
          </a:p>
          <a:p>
            <a:pPr algn="l">
              <a:buChar char="•"/>
              <a:spcAft>
                <a:spcPts val="70"/>
              </a:spcAft>
            </a:pPr>
            <a:r>
              <a:rPr b="0" sz="1400">
                <a:solidFill>
                  <a:srgbClr val="FFFFFF"/>
                </a:solidFill>
                <a:latin typeface="Calibri"/>
              </a:rPr>
              <a:t>→ A log transformation can straighten exponential growth into a linear relationship.</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EDF8F0"/>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2D7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VOCABULARY &amp; KEY CONCEPTS</a:t>
            </a:r>
          </a:p>
        </p:txBody>
      </p:sp>
      <p:sp>
        <p:nvSpPr>
          <p:cNvPr id="4" name="TextBox 3"/>
          <p:cNvSpPr txBox="1"/>
          <p:nvPr/>
        </p:nvSpPr>
        <p:spPr>
          <a:xfrm>
            <a:off x="365760" y="914400"/>
            <a:ext cx="4023360" cy="320040"/>
          </a:xfrm>
          <a:prstGeom prst="rect">
            <a:avLst/>
          </a:prstGeom>
          <a:noFill/>
        </p:spPr>
        <p:txBody>
          <a:bodyPr wrap="square">
            <a:spAutoFit/>
          </a:bodyPr>
          <a:lstStyle/>
          <a:p>
            <a:pPr algn="l"/>
            <a:r>
              <a:rPr b="1" i="0" sz="1200">
                <a:solidFill>
                  <a:srgbClr val="2D7A4F"/>
                </a:solidFill>
                <a:latin typeface="Calibri"/>
              </a:rPr>
              <a:t>Nonlinear relationship</a:t>
            </a:r>
          </a:p>
        </p:txBody>
      </p:sp>
      <p:sp>
        <p:nvSpPr>
          <p:cNvPr id="5" name="TextBox 4"/>
          <p:cNvSpPr txBox="1"/>
          <p:nvPr/>
        </p:nvSpPr>
        <p:spPr>
          <a:xfrm>
            <a:off x="365760" y="1216152"/>
            <a:ext cx="4023360" cy="530352"/>
          </a:xfrm>
          <a:prstGeom prst="rect">
            <a:avLst/>
          </a:prstGeom>
          <a:noFill/>
        </p:spPr>
        <p:txBody>
          <a:bodyPr wrap="square">
            <a:spAutoFit/>
          </a:bodyPr>
          <a:lstStyle/>
          <a:p>
            <a:pPr algn="l"/>
            <a:r>
              <a:rPr b="0" i="0" sz="1100">
                <a:solidFill>
                  <a:srgbClr val="2C3E50"/>
                </a:solidFill>
                <a:latin typeface="Calibri"/>
              </a:rPr>
              <a:t>Pattern better described by a curve than a line; scatterplot curves up or down</a:t>
            </a:r>
          </a:p>
        </p:txBody>
      </p:sp>
      <p:sp>
        <p:nvSpPr>
          <p:cNvPr id="6" name="TextBox 5"/>
          <p:cNvSpPr txBox="1"/>
          <p:nvPr/>
        </p:nvSpPr>
        <p:spPr>
          <a:xfrm>
            <a:off x="365760" y="1828800"/>
            <a:ext cx="4023360" cy="320040"/>
          </a:xfrm>
          <a:prstGeom prst="rect">
            <a:avLst/>
          </a:prstGeom>
          <a:noFill/>
        </p:spPr>
        <p:txBody>
          <a:bodyPr wrap="square">
            <a:spAutoFit/>
          </a:bodyPr>
          <a:lstStyle/>
          <a:p>
            <a:pPr algn="l"/>
            <a:r>
              <a:rPr b="1" i="0" sz="1200">
                <a:solidFill>
                  <a:srgbClr val="2D7A4F"/>
                </a:solidFill>
                <a:latin typeface="Calibri"/>
              </a:rPr>
              <a:t>Transformation</a:t>
            </a:r>
          </a:p>
        </p:txBody>
      </p:sp>
      <p:sp>
        <p:nvSpPr>
          <p:cNvPr id="7" name="TextBox 6"/>
          <p:cNvSpPr txBox="1"/>
          <p:nvPr/>
        </p:nvSpPr>
        <p:spPr>
          <a:xfrm>
            <a:off x="365760" y="2130552"/>
            <a:ext cx="4023360" cy="530352"/>
          </a:xfrm>
          <a:prstGeom prst="rect">
            <a:avLst/>
          </a:prstGeom>
          <a:noFill/>
        </p:spPr>
        <p:txBody>
          <a:bodyPr wrap="square">
            <a:spAutoFit/>
          </a:bodyPr>
          <a:lstStyle/>
          <a:p>
            <a:pPr algn="l"/>
            <a:r>
              <a:rPr b="0" i="0" sz="1100">
                <a:solidFill>
                  <a:srgbClr val="2C3E50"/>
                </a:solidFill>
                <a:latin typeface="Calibri"/>
              </a:rPr>
              <a:t>Mathematical operation on a variable to change the shape of its distribution or relationship</a:t>
            </a:r>
          </a:p>
        </p:txBody>
      </p:sp>
      <p:sp>
        <p:nvSpPr>
          <p:cNvPr id="8" name="TextBox 7"/>
          <p:cNvSpPr txBox="1"/>
          <p:nvPr/>
        </p:nvSpPr>
        <p:spPr>
          <a:xfrm>
            <a:off x="365760" y="2743200"/>
            <a:ext cx="4023360" cy="320040"/>
          </a:xfrm>
          <a:prstGeom prst="rect">
            <a:avLst/>
          </a:prstGeom>
          <a:noFill/>
        </p:spPr>
        <p:txBody>
          <a:bodyPr wrap="square">
            <a:spAutoFit/>
          </a:bodyPr>
          <a:lstStyle/>
          <a:p>
            <a:pPr algn="l"/>
            <a:r>
              <a:rPr b="1" i="0" sz="1200">
                <a:solidFill>
                  <a:srgbClr val="2D7A4F"/>
                </a:solidFill>
                <a:latin typeface="Calibri"/>
              </a:rPr>
              <a:t>Exponential model</a:t>
            </a:r>
          </a:p>
        </p:txBody>
      </p:sp>
      <p:sp>
        <p:nvSpPr>
          <p:cNvPr id="9" name="TextBox 8"/>
          <p:cNvSpPr txBox="1"/>
          <p:nvPr/>
        </p:nvSpPr>
        <p:spPr>
          <a:xfrm>
            <a:off x="365760" y="3044952"/>
            <a:ext cx="4023360" cy="530352"/>
          </a:xfrm>
          <a:prstGeom prst="rect">
            <a:avLst/>
          </a:prstGeom>
          <a:noFill/>
        </p:spPr>
        <p:txBody>
          <a:bodyPr wrap="square">
            <a:spAutoFit/>
          </a:bodyPr>
          <a:lstStyle/>
          <a:p>
            <a:pPr algn="l"/>
            <a:r>
              <a:rPr b="0" i="0" sz="1100">
                <a:solidFill>
                  <a:srgbClr val="2C3E50"/>
                </a:solidFill>
                <a:latin typeface="Calibri"/>
              </a:rPr>
              <a:t>y = a * b^x  →  linearized by log y = log a + (log b)x  (transform y only)</a:t>
            </a:r>
          </a:p>
        </p:txBody>
      </p:sp>
      <p:sp>
        <p:nvSpPr>
          <p:cNvPr id="10" name="TextBox 9"/>
          <p:cNvSpPr txBox="1"/>
          <p:nvPr/>
        </p:nvSpPr>
        <p:spPr>
          <a:xfrm>
            <a:off x="4754880" y="914400"/>
            <a:ext cx="4023360" cy="320040"/>
          </a:xfrm>
          <a:prstGeom prst="rect">
            <a:avLst/>
          </a:prstGeom>
          <a:noFill/>
        </p:spPr>
        <p:txBody>
          <a:bodyPr wrap="square">
            <a:spAutoFit/>
          </a:bodyPr>
          <a:lstStyle/>
          <a:p>
            <a:pPr algn="l"/>
            <a:r>
              <a:rPr b="1" i="0" sz="1200">
                <a:solidFill>
                  <a:srgbClr val="2D7A4F"/>
                </a:solidFill>
                <a:latin typeface="Calibri"/>
              </a:rPr>
              <a:t>Power model</a:t>
            </a:r>
          </a:p>
        </p:txBody>
      </p:sp>
      <p:sp>
        <p:nvSpPr>
          <p:cNvPr id="11" name="TextBox 10"/>
          <p:cNvSpPr txBox="1"/>
          <p:nvPr/>
        </p:nvSpPr>
        <p:spPr>
          <a:xfrm>
            <a:off x="4754880" y="1216152"/>
            <a:ext cx="4023360" cy="530352"/>
          </a:xfrm>
          <a:prstGeom prst="rect">
            <a:avLst/>
          </a:prstGeom>
          <a:noFill/>
        </p:spPr>
        <p:txBody>
          <a:bodyPr wrap="square">
            <a:spAutoFit/>
          </a:bodyPr>
          <a:lstStyle/>
          <a:p>
            <a:pPr algn="l"/>
            <a:r>
              <a:rPr b="0" i="0" sz="1100">
                <a:solidFill>
                  <a:srgbClr val="2C3E50"/>
                </a:solidFill>
                <a:latin typeface="Calibri"/>
              </a:rPr>
              <a:t>y = a * x^b  →  linearized by log y = log a + b * log x  (transform both x and y)</a:t>
            </a:r>
          </a:p>
        </p:txBody>
      </p:sp>
      <p:sp>
        <p:nvSpPr>
          <p:cNvPr id="12" name="TextBox 11"/>
          <p:cNvSpPr txBox="1"/>
          <p:nvPr/>
        </p:nvSpPr>
        <p:spPr>
          <a:xfrm>
            <a:off x="4754880" y="1828800"/>
            <a:ext cx="4023360" cy="320040"/>
          </a:xfrm>
          <a:prstGeom prst="rect">
            <a:avLst/>
          </a:prstGeom>
          <a:noFill/>
        </p:spPr>
        <p:txBody>
          <a:bodyPr wrap="square">
            <a:spAutoFit/>
          </a:bodyPr>
          <a:lstStyle/>
          <a:p>
            <a:pPr algn="l"/>
            <a:r>
              <a:rPr b="1" i="0" sz="1200">
                <a:solidFill>
                  <a:srgbClr val="2D7A4F"/>
                </a:solidFill>
                <a:latin typeface="Calibri"/>
              </a:rPr>
              <a:t>Back-transformation</a:t>
            </a:r>
          </a:p>
        </p:txBody>
      </p:sp>
      <p:sp>
        <p:nvSpPr>
          <p:cNvPr id="13" name="TextBox 12"/>
          <p:cNvSpPr txBox="1"/>
          <p:nvPr/>
        </p:nvSpPr>
        <p:spPr>
          <a:xfrm>
            <a:off x="4754880" y="2130552"/>
            <a:ext cx="4023360" cy="530352"/>
          </a:xfrm>
          <a:prstGeom prst="rect">
            <a:avLst/>
          </a:prstGeom>
          <a:noFill/>
        </p:spPr>
        <p:txBody>
          <a:bodyPr wrap="square">
            <a:spAutoFit/>
          </a:bodyPr>
          <a:lstStyle/>
          <a:p>
            <a:pPr algn="l"/>
            <a:r>
              <a:rPr b="0" i="0" sz="1100">
                <a:solidFill>
                  <a:srgbClr val="2C3E50"/>
                </a:solidFill>
                <a:latin typeface="Calibri"/>
              </a:rPr>
              <a:t>Reversing the log to return to original units: y-hat = 10^(predicted log y)</a:t>
            </a:r>
          </a:p>
        </p:txBody>
      </p:sp>
      <p:sp>
        <p:nvSpPr>
          <p:cNvPr id="14" name="TextBox 13"/>
          <p:cNvSpPr txBox="1"/>
          <p:nvPr/>
        </p:nvSpPr>
        <p:spPr>
          <a:xfrm>
            <a:off x="4754880" y="2743200"/>
            <a:ext cx="4023360" cy="320040"/>
          </a:xfrm>
          <a:prstGeom prst="rect">
            <a:avLst/>
          </a:prstGeom>
          <a:noFill/>
        </p:spPr>
        <p:txBody>
          <a:bodyPr wrap="square">
            <a:spAutoFit/>
          </a:bodyPr>
          <a:lstStyle/>
          <a:p>
            <a:pPr algn="l"/>
            <a:r>
              <a:rPr b="1" i="0" sz="1200">
                <a:solidFill>
                  <a:srgbClr val="2D7A4F"/>
                </a:solidFill>
                <a:latin typeface="Calibri"/>
              </a:rPr>
              <a:t>Linearization check</a:t>
            </a:r>
          </a:p>
        </p:txBody>
      </p:sp>
      <p:sp>
        <p:nvSpPr>
          <p:cNvPr id="15" name="TextBox 14"/>
          <p:cNvSpPr txBox="1"/>
          <p:nvPr/>
        </p:nvSpPr>
        <p:spPr>
          <a:xfrm>
            <a:off x="4754880" y="3044952"/>
            <a:ext cx="4023360" cy="530352"/>
          </a:xfrm>
          <a:prstGeom prst="rect">
            <a:avLst/>
          </a:prstGeom>
          <a:noFill/>
        </p:spPr>
        <p:txBody>
          <a:bodyPr wrap="square">
            <a:spAutoFit/>
          </a:bodyPr>
          <a:lstStyle/>
          <a:p>
            <a:pPr algn="l"/>
            <a:r>
              <a:rPr b="0" i="0" sz="1100">
                <a:solidFill>
                  <a:srgbClr val="2C3E50"/>
                </a:solidFill>
                <a:latin typeface="Calibri"/>
              </a:rPr>
              <a:t>Residual plot of TRANSFORMED data should show random scatter — confirms success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594360"/>
          </a:xfrm>
          <a:prstGeom prst="rect">
            <a:avLst/>
          </a:prstGeom>
          <a:noFill/>
        </p:spPr>
        <p:txBody>
          <a:bodyPr wrap="square">
            <a:spAutoFit/>
          </a:bodyPr>
          <a:lstStyle/>
          <a:p>
            <a:pPr algn="l"/>
            <a:r>
              <a:rPr b="1" i="0" sz="2000">
                <a:solidFill>
                  <a:srgbClr val="FFFFFF"/>
                </a:solidFill>
                <a:latin typeface="Calibri"/>
              </a:rPr>
              <a:t>Two Transformation Strategies</a:t>
            </a:r>
          </a:p>
        </p:txBody>
      </p:sp>
      <p:sp>
        <p:nvSpPr>
          <p:cNvPr id="4" name="TextBox 3"/>
          <p:cNvSpPr txBox="1"/>
          <p:nvPr/>
        </p:nvSpPr>
        <p:spPr>
          <a:xfrm>
            <a:off x="457200" y="886968"/>
            <a:ext cx="3931920" cy="384048"/>
          </a:xfrm>
          <a:prstGeom prst="rect">
            <a:avLst/>
          </a:prstGeom>
          <a:noFill/>
        </p:spPr>
        <p:txBody>
          <a:bodyPr wrap="square">
            <a:spAutoFit/>
          </a:bodyPr>
          <a:lstStyle/>
          <a:p>
            <a:pPr algn="l"/>
            <a:r>
              <a:rPr b="1" i="0" sz="1300">
                <a:solidFill>
                  <a:srgbClr val="1F3A5F"/>
                </a:solidFill>
                <a:latin typeface="Calibri"/>
              </a:rPr>
              <a:t>Exponential Model  (transform y only)</a:t>
            </a:r>
          </a:p>
        </p:txBody>
      </p:sp>
      <p:sp>
        <p:nvSpPr>
          <p:cNvPr id="5" name="TextBox 4"/>
          <p:cNvSpPr txBox="1"/>
          <p:nvPr/>
        </p:nvSpPr>
        <p:spPr>
          <a:xfrm>
            <a:off x="4754880" y="886968"/>
            <a:ext cx="3931920" cy="384048"/>
          </a:xfrm>
          <a:prstGeom prst="rect">
            <a:avLst/>
          </a:prstGeom>
          <a:noFill/>
        </p:spPr>
        <p:txBody>
          <a:bodyPr wrap="square">
            <a:spAutoFit/>
          </a:bodyPr>
          <a:lstStyle/>
          <a:p>
            <a:pPr algn="l"/>
            <a:r>
              <a:rPr b="1" i="0" sz="1300">
                <a:solidFill>
                  <a:srgbClr val="1F3A5F"/>
                </a:solidFill>
                <a:latin typeface="Calibri"/>
              </a:rPr>
              <a:t>Power Model  (transform both x and y)</a:t>
            </a:r>
          </a:p>
        </p:txBody>
      </p:sp>
      <p:sp>
        <p:nvSpPr>
          <p:cNvPr id="6" name="Rectangle 5"/>
          <p:cNvSpPr/>
          <p:nvPr/>
        </p:nvSpPr>
        <p:spPr>
          <a:xfrm>
            <a:off x="4462272" y="886968"/>
            <a:ext cx="36576" cy="3977639"/>
          </a:xfrm>
          <a:prstGeom prst="rect">
            <a:avLst/>
          </a:prstGeom>
          <a:solidFill>
            <a:srgbClr val="C5D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25880"/>
            <a:ext cx="3886200" cy="3520440"/>
          </a:xfrm>
          <a:prstGeom prst="rect">
            <a:avLst/>
          </a:prstGeom>
          <a:noFill/>
        </p:spPr>
        <p:txBody>
          <a:bodyPr wrap="square">
            <a:spAutoFit/>
          </a:bodyPr>
          <a:lstStyle/>
          <a:p>
            <a:pPr algn="l">
              <a:buChar char="•"/>
              <a:spcAft>
                <a:spcPts val="70"/>
              </a:spcAft>
            </a:pPr>
            <a:r>
              <a:rPr b="0" sz="1300">
                <a:solidFill>
                  <a:srgbClr val="2C3E50"/>
                </a:solidFill>
                <a:latin typeface="Calibri"/>
              </a:rPr>
              <a:t>Original:  y = a * b^x</a:t>
            </a:r>
          </a:p>
          <a:p>
            <a:pPr algn="l">
              <a:buChar char="•"/>
              <a:spcAft>
                <a:spcPts val="70"/>
              </a:spcAft>
            </a:pPr>
            <a:r>
              <a:rPr b="0" sz="1300">
                <a:solidFill>
                  <a:srgbClr val="2C3E50"/>
                </a:solidFill>
                <a:latin typeface="Calibri"/>
              </a:rPr>
              <a:t>Transform: log y = log a + (log b) * x</a:t>
            </a:r>
          </a:p>
          <a:p>
            <a:pPr algn="l">
              <a:buChar char="•"/>
              <a:spcAft>
                <a:spcPts val="70"/>
              </a:spcAft>
            </a:pPr>
            <a:r>
              <a:rPr b="0" sz="1300">
                <a:solidFill>
                  <a:srgbClr val="2C3E50"/>
                </a:solidFill>
                <a:latin typeface="Calibri"/>
              </a:rPr>
              <a:t>→ Regress log y on x</a:t>
            </a:r>
          </a:p>
          <a:p>
            <a:pPr algn="l">
              <a:buChar char="•"/>
              <a:spcAft>
                <a:spcPts val="70"/>
              </a:spcAft>
            </a:pPr>
            <a:r>
              <a:rPr b="0" sz="1300">
                <a:solidFill>
                  <a:srgbClr val="2C3E50"/>
                </a:solidFill>
                <a:latin typeface="Calibri"/>
              </a:rPr>
              <a:t>Back-transform: y-hat = 10^(a + bx)</a:t>
            </a:r>
          </a:p>
          <a:p>
            <a:pPr algn="l">
              <a:buChar char="•"/>
              <a:spcAft>
                <a:spcPts val="70"/>
              </a:spcAft>
            </a:pPr>
            <a:r>
              <a:rPr b="0" sz="1300">
                <a:solidFill>
                  <a:srgbClr val="2C3E50"/>
                </a:solidFill>
                <a:latin typeface="Calibri"/>
              </a:rPr>
              <a:t/>
            </a:r>
          </a:p>
          <a:p>
            <a:pPr algn="l">
              <a:buChar char="•"/>
              <a:spcAft>
                <a:spcPts val="70"/>
              </a:spcAft>
            </a:pPr>
            <a:r>
              <a:rPr b="0" sz="1300">
                <a:solidFill>
                  <a:srgbClr val="2C3E50"/>
                </a:solidFill>
                <a:latin typeface="Calibri"/>
              </a:rPr>
              <a:t>When to use: scatterplot curves upward steeply; residual plot shows a curve with log y vs. x looking linear</a:t>
            </a:r>
          </a:p>
        </p:txBody>
      </p:sp>
      <p:sp>
        <p:nvSpPr>
          <p:cNvPr id="8" name="TextBox 7"/>
          <p:cNvSpPr txBox="1"/>
          <p:nvPr/>
        </p:nvSpPr>
        <p:spPr>
          <a:xfrm>
            <a:off x="4754880" y="1325880"/>
            <a:ext cx="3977639" cy="3520440"/>
          </a:xfrm>
          <a:prstGeom prst="rect">
            <a:avLst/>
          </a:prstGeom>
          <a:noFill/>
        </p:spPr>
        <p:txBody>
          <a:bodyPr wrap="square">
            <a:spAutoFit/>
          </a:bodyPr>
          <a:lstStyle/>
          <a:p>
            <a:pPr algn="l">
              <a:buChar char="•"/>
              <a:spcAft>
                <a:spcPts val="70"/>
              </a:spcAft>
            </a:pPr>
            <a:r>
              <a:rPr b="0" sz="1300">
                <a:solidFill>
                  <a:srgbClr val="2C3E50"/>
                </a:solidFill>
                <a:latin typeface="Calibri"/>
              </a:rPr>
              <a:t>Original:  y = a * x^b</a:t>
            </a:r>
          </a:p>
          <a:p>
            <a:pPr algn="l">
              <a:buChar char="•"/>
              <a:spcAft>
                <a:spcPts val="70"/>
              </a:spcAft>
            </a:pPr>
            <a:r>
              <a:rPr b="0" sz="1300">
                <a:solidFill>
                  <a:srgbClr val="2C3E50"/>
                </a:solidFill>
                <a:latin typeface="Calibri"/>
              </a:rPr>
              <a:t>Transform: log y = log a + b * log x</a:t>
            </a:r>
          </a:p>
          <a:p>
            <a:pPr algn="l">
              <a:buChar char="•"/>
              <a:spcAft>
                <a:spcPts val="70"/>
              </a:spcAft>
            </a:pPr>
            <a:r>
              <a:rPr b="0" sz="1300">
                <a:solidFill>
                  <a:srgbClr val="2C3E50"/>
                </a:solidFill>
                <a:latin typeface="Calibri"/>
              </a:rPr>
              <a:t>→ Regress log y on log x</a:t>
            </a:r>
          </a:p>
          <a:p>
            <a:pPr algn="l">
              <a:buChar char="•"/>
              <a:spcAft>
                <a:spcPts val="70"/>
              </a:spcAft>
            </a:pPr>
            <a:r>
              <a:rPr b="0" sz="1300">
                <a:solidFill>
                  <a:srgbClr val="2C3E50"/>
                </a:solidFill>
                <a:latin typeface="Calibri"/>
              </a:rPr>
              <a:t>Back-transform: y-hat = 10^(a + b * log x)</a:t>
            </a:r>
          </a:p>
          <a:p>
            <a:pPr algn="l">
              <a:buChar char="•"/>
              <a:spcAft>
                <a:spcPts val="70"/>
              </a:spcAft>
            </a:pPr>
            <a:r>
              <a:rPr b="0" sz="1300">
                <a:solidFill>
                  <a:srgbClr val="2C3E50"/>
                </a:solidFill>
                <a:latin typeface="Calibri"/>
              </a:rPr>
              <a:t/>
            </a:r>
          </a:p>
          <a:p>
            <a:pPr algn="l">
              <a:buChar char="•"/>
              <a:spcAft>
                <a:spcPts val="70"/>
              </a:spcAft>
            </a:pPr>
            <a:r>
              <a:rPr b="0" sz="1300">
                <a:solidFill>
                  <a:srgbClr val="2C3E50"/>
                </a:solidFill>
                <a:latin typeface="Calibri"/>
              </a:rPr>
              <a:t>When to use: data follows a power curve; log y vs. log x appears linear</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594360"/>
          </a:xfrm>
          <a:prstGeom prst="rect">
            <a:avLst/>
          </a:prstGeom>
          <a:noFill/>
        </p:spPr>
        <p:txBody>
          <a:bodyPr wrap="square">
            <a:spAutoFit/>
          </a:bodyPr>
          <a:lstStyle/>
          <a:p>
            <a:pPr algn="l"/>
            <a:r>
              <a:rPr b="1" i="0" sz="2000">
                <a:solidFill>
                  <a:srgbClr val="FFFFFF"/>
                </a:solidFill>
                <a:latin typeface="Calibri"/>
              </a:rPr>
              <a:t>Full Transformation Analysis — Step by Step</a:t>
            </a:r>
          </a:p>
        </p:txBody>
      </p:sp>
      <p:sp>
        <p:nvSpPr>
          <p:cNvPr id="4" name="Rectangle 3"/>
          <p:cNvSpPr/>
          <p:nvPr/>
        </p:nvSpPr>
        <p:spPr>
          <a:xfrm>
            <a:off x="320040" y="932688"/>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50976"/>
            <a:ext cx="347472" cy="310896"/>
          </a:xfrm>
          <a:prstGeom prst="rect">
            <a:avLst/>
          </a:prstGeom>
          <a:noFill/>
        </p:spPr>
        <p:txBody>
          <a:bodyPr wrap="square">
            <a:spAutoFit/>
          </a:bodyPr>
          <a:lstStyle/>
          <a:p>
            <a:pPr algn="ctr"/>
            <a:r>
              <a:rPr b="1" i="0" sz="1200">
                <a:solidFill>
                  <a:srgbClr val="FFFFFF"/>
                </a:solidFill>
                <a:latin typeface="Calibri"/>
              </a:rPr>
              <a:t>1</a:t>
            </a:r>
          </a:p>
        </p:txBody>
      </p:sp>
      <p:sp>
        <p:nvSpPr>
          <p:cNvPr id="6" name="TextBox 5"/>
          <p:cNvSpPr txBox="1"/>
          <p:nvPr/>
        </p:nvSpPr>
        <p:spPr>
          <a:xfrm>
            <a:off x="804672" y="941832"/>
            <a:ext cx="7955279" cy="475488"/>
          </a:xfrm>
          <a:prstGeom prst="rect">
            <a:avLst/>
          </a:prstGeom>
          <a:noFill/>
        </p:spPr>
        <p:txBody>
          <a:bodyPr wrap="square">
            <a:spAutoFit/>
          </a:bodyPr>
          <a:lstStyle/>
          <a:p>
            <a:pPr algn="l"/>
            <a:r>
              <a:rPr b="0" i="0" sz="1300">
                <a:solidFill>
                  <a:srgbClr val="2C3E50"/>
                </a:solidFill>
                <a:latin typeface="Calibri"/>
              </a:rPr>
              <a:t>Plot original scatterplot and residual plot — confirm a nonlinear pattern.</a:t>
            </a:r>
          </a:p>
        </p:txBody>
      </p:sp>
      <p:sp>
        <p:nvSpPr>
          <p:cNvPr id="7" name="Rectangle 6"/>
          <p:cNvSpPr/>
          <p:nvPr/>
        </p:nvSpPr>
        <p:spPr>
          <a:xfrm>
            <a:off x="320040" y="1545336"/>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563624"/>
            <a:ext cx="347472" cy="310896"/>
          </a:xfrm>
          <a:prstGeom prst="rect">
            <a:avLst/>
          </a:prstGeom>
          <a:noFill/>
        </p:spPr>
        <p:txBody>
          <a:bodyPr wrap="square">
            <a:spAutoFit/>
          </a:bodyPr>
          <a:lstStyle/>
          <a:p>
            <a:pPr algn="ctr"/>
            <a:r>
              <a:rPr b="1" i="0" sz="1200">
                <a:solidFill>
                  <a:srgbClr val="FFFFFF"/>
                </a:solidFill>
                <a:latin typeface="Calibri"/>
              </a:rPr>
              <a:t>2</a:t>
            </a:r>
          </a:p>
        </p:txBody>
      </p:sp>
      <p:sp>
        <p:nvSpPr>
          <p:cNvPr id="9" name="TextBox 8"/>
          <p:cNvSpPr txBox="1"/>
          <p:nvPr/>
        </p:nvSpPr>
        <p:spPr>
          <a:xfrm>
            <a:off x="804672" y="1554480"/>
            <a:ext cx="7955279" cy="475488"/>
          </a:xfrm>
          <a:prstGeom prst="rect">
            <a:avLst/>
          </a:prstGeom>
          <a:noFill/>
        </p:spPr>
        <p:txBody>
          <a:bodyPr wrap="square">
            <a:spAutoFit/>
          </a:bodyPr>
          <a:lstStyle/>
          <a:p>
            <a:pPr algn="l"/>
            <a:r>
              <a:rPr b="0" i="0" sz="1300">
                <a:solidFill>
                  <a:srgbClr val="2C3E50"/>
                </a:solidFill>
                <a:latin typeface="Calibri"/>
              </a:rPr>
              <a:t>Choose a transformation: log y only (exponential) or log y AND log x (power).</a:t>
            </a:r>
          </a:p>
        </p:txBody>
      </p:sp>
      <p:sp>
        <p:nvSpPr>
          <p:cNvPr id="10" name="Rectangle 9"/>
          <p:cNvSpPr/>
          <p:nvPr/>
        </p:nvSpPr>
        <p:spPr>
          <a:xfrm>
            <a:off x="320040" y="2157984"/>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2176272"/>
            <a:ext cx="347472" cy="310896"/>
          </a:xfrm>
          <a:prstGeom prst="rect">
            <a:avLst/>
          </a:prstGeom>
          <a:noFill/>
        </p:spPr>
        <p:txBody>
          <a:bodyPr wrap="square">
            <a:spAutoFit/>
          </a:bodyPr>
          <a:lstStyle/>
          <a:p>
            <a:pPr algn="ctr"/>
            <a:r>
              <a:rPr b="1" i="0" sz="1200">
                <a:solidFill>
                  <a:srgbClr val="FFFFFF"/>
                </a:solidFill>
                <a:latin typeface="Calibri"/>
              </a:rPr>
              <a:t>3</a:t>
            </a:r>
          </a:p>
        </p:txBody>
      </p:sp>
      <p:sp>
        <p:nvSpPr>
          <p:cNvPr id="12" name="TextBox 11"/>
          <p:cNvSpPr txBox="1"/>
          <p:nvPr/>
        </p:nvSpPr>
        <p:spPr>
          <a:xfrm>
            <a:off x="804672" y="2167127"/>
            <a:ext cx="7955279" cy="475488"/>
          </a:xfrm>
          <a:prstGeom prst="rect">
            <a:avLst/>
          </a:prstGeom>
          <a:noFill/>
        </p:spPr>
        <p:txBody>
          <a:bodyPr wrap="square">
            <a:spAutoFit/>
          </a:bodyPr>
          <a:lstStyle/>
          <a:p>
            <a:pPr algn="l"/>
            <a:r>
              <a:rPr b="0" i="0" sz="1300">
                <a:solidFill>
                  <a:srgbClr val="2C3E50"/>
                </a:solidFill>
                <a:latin typeface="Calibri"/>
              </a:rPr>
              <a:t>Compute transformed values and plot the new scatterplot — confirm it looks linear.</a:t>
            </a:r>
          </a:p>
        </p:txBody>
      </p:sp>
      <p:sp>
        <p:nvSpPr>
          <p:cNvPr id="13" name="Rectangle 12"/>
          <p:cNvSpPr/>
          <p:nvPr/>
        </p:nvSpPr>
        <p:spPr>
          <a:xfrm>
            <a:off x="320040" y="2770632"/>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2788920"/>
            <a:ext cx="347472" cy="310896"/>
          </a:xfrm>
          <a:prstGeom prst="rect">
            <a:avLst/>
          </a:prstGeom>
          <a:noFill/>
        </p:spPr>
        <p:txBody>
          <a:bodyPr wrap="square">
            <a:spAutoFit/>
          </a:bodyPr>
          <a:lstStyle/>
          <a:p>
            <a:pPr algn="ctr"/>
            <a:r>
              <a:rPr b="1" i="0" sz="1200">
                <a:solidFill>
                  <a:srgbClr val="FFFFFF"/>
                </a:solidFill>
                <a:latin typeface="Calibri"/>
              </a:rPr>
              <a:t>4</a:t>
            </a:r>
          </a:p>
        </p:txBody>
      </p:sp>
      <p:sp>
        <p:nvSpPr>
          <p:cNvPr id="15" name="TextBox 14"/>
          <p:cNvSpPr txBox="1"/>
          <p:nvPr/>
        </p:nvSpPr>
        <p:spPr>
          <a:xfrm>
            <a:off x="804672" y="2779776"/>
            <a:ext cx="7955279" cy="475488"/>
          </a:xfrm>
          <a:prstGeom prst="rect">
            <a:avLst/>
          </a:prstGeom>
          <a:noFill/>
        </p:spPr>
        <p:txBody>
          <a:bodyPr wrap="square">
            <a:spAutoFit/>
          </a:bodyPr>
          <a:lstStyle/>
          <a:p>
            <a:pPr algn="l"/>
            <a:r>
              <a:rPr b="0" i="0" sz="1300">
                <a:solidFill>
                  <a:srgbClr val="2C3E50"/>
                </a:solidFill>
                <a:latin typeface="Calibri"/>
              </a:rPr>
              <a:t>Perform least-squares regression on the transformed data; note slope, intercept, and r².</a:t>
            </a:r>
          </a:p>
        </p:txBody>
      </p:sp>
      <p:sp>
        <p:nvSpPr>
          <p:cNvPr id="16" name="Rectangle 15"/>
          <p:cNvSpPr/>
          <p:nvPr/>
        </p:nvSpPr>
        <p:spPr>
          <a:xfrm>
            <a:off x="320040" y="3383280"/>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3401568"/>
            <a:ext cx="347472" cy="310896"/>
          </a:xfrm>
          <a:prstGeom prst="rect">
            <a:avLst/>
          </a:prstGeom>
          <a:noFill/>
        </p:spPr>
        <p:txBody>
          <a:bodyPr wrap="square">
            <a:spAutoFit/>
          </a:bodyPr>
          <a:lstStyle/>
          <a:p>
            <a:pPr algn="ctr"/>
            <a:r>
              <a:rPr b="1" i="0" sz="1200">
                <a:solidFill>
                  <a:srgbClr val="FFFFFF"/>
                </a:solidFill>
                <a:latin typeface="Calibri"/>
              </a:rPr>
              <a:t>5</a:t>
            </a:r>
          </a:p>
        </p:txBody>
      </p:sp>
      <p:sp>
        <p:nvSpPr>
          <p:cNvPr id="18" name="TextBox 17"/>
          <p:cNvSpPr txBox="1"/>
          <p:nvPr/>
        </p:nvSpPr>
        <p:spPr>
          <a:xfrm>
            <a:off x="804672" y="3392424"/>
            <a:ext cx="7955279" cy="475488"/>
          </a:xfrm>
          <a:prstGeom prst="rect">
            <a:avLst/>
          </a:prstGeom>
          <a:noFill/>
        </p:spPr>
        <p:txBody>
          <a:bodyPr wrap="square">
            <a:spAutoFit/>
          </a:bodyPr>
          <a:lstStyle/>
          <a:p>
            <a:pPr algn="l"/>
            <a:r>
              <a:rPr b="0" i="0" sz="1300">
                <a:solidFill>
                  <a:srgbClr val="2C3E50"/>
                </a:solidFill>
                <a:latin typeface="Calibri"/>
              </a:rPr>
              <a:t>Write the regression equation in terms of the TRANSFORMED variable (e.g., log y-hat = a + bx).</a:t>
            </a:r>
          </a:p>
        </p:txBody>
      </p:sp>
      <p:sp>
        <p:nvSpPr>
          <p:cNvPr id="19" name="Rectangle 18"/>
          <p:cNvSpPr/>
          <p:nvPr/>
        </p:nvSpPr>
        <p:spPr>
          <a:xfrm>
            <a:off x="320040" y="3995927"/>
            <a:ext cx="347472" cy="347472"/>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0040" y="4014215"/>
            <a:ext cx="347472" cy="310896"/>
          </a:xfrm>
          <a:prstGeom prst="rect">
            <a:avLst/>
          </a:prstGeom>
          <a:noFill/>
        </p:spPr>
        <p:txBody>
          <a:bodyPr wrap="square">
            <a:spAutoFit/>
          </a:bodyPr>
          <a:lstStyle/>
          <a:p>
            <a:pPr algn="ctr"/>
            <a:r>
              <a:rPr b="1" i="0" sz="1200">
                <a:solidFill>
                  <a:srgbClr val="FFFFFF"/>
                </a:solidFill>
                <a:latin typeface="Calibri"/>
              </a:rPr>
              <a:t>6</a:t>
            </a:r>
          </a:p>
        </p:txBody>
      </p:sp>
      <p:sp>
        <p:nvSpPr>
          <p:cNvPr id="21" name="TextBox 20"/>
          <p:cNvSpPr txBox="1"/>
          <p:nvPr/>
        </p:nvSpPr>
        <p:spPr>
          <a:xfrm>
            <a:off x="804672" y="4005072"/>
            <a:ext cx="7955279" cy="475488"/>
          </a:xfrm>
          <a:prstGeom prst="rect">
            <a:avLst/>
          </a:prstGeom>
          <a:noFill/>
        </p:spPr>
        <p:txBody>
          <a:bodyPr wrap="square">
            <a:spAutoFit/>
          </a:bodyPr>
          <a:lstStyle/>
          <a:p>
            <a:pPr algn="l"/>
            <a:r>
              <a:rPr b="0" i="0" sz="1300">
                <a:solidFill>
                  <a:srgbClr val="2C3E50"/>
                </a:solidFill>
                <a:latin typeface="Calibri"/>
              </a:rPr>
              <a:t>Back-transform to make a prediction on the original scale: y-hat = 10^(a + bx).</a:t>
            </a:r>
          </a:p>
        </p:txBody>
      </p:sp>
      <p:sp>
        <p:nvSpPr>
          <p:cNvPr id="22" name="TextBox 21"/>
          <p:cNvSpPr txBox="1"/>
          <p:nvPr/>
        </p:nvSpPr>
        <p:spPr>
          <a:xfrm>
            <a:off x="457200" y="4754880"/>
            <a:ext cx="8229600" cy="320040"/>
          </a:xfrm>
          <a:prstGeom prst="rect">
            <a:avLst/>
          </a:prstGeom>
          <a:noFill/>
        </p:spPr>
        <p:txBody>
          <a:bodyPr wrap="square">
            <a:spAutoFit/>
          </a:bodyPr>
          <a:lstStyle/>
          <a:p>
            <a:pPr algn="l"/>
            <a:r>
              <a:rPr b="0" i="1" sz="1100">
                <a:solidFill>
                  <a:srgbClr val="64748B"/>
                </a:solidFill>
                <a:latin typeface="Calibri"/>
              </a:rPr>
              <a:t>NOTE: Always verify with a residual plot of the TRANSFORMED data — random scatter confirms the transformation worked.</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CECEC"/>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a:solidFill>
                  <a:srgbClr val="FFFFFF"/>
                </a:solidFill>
                <a:latin typeface="Calibri"/>
              </a:rPr>
              <a:t>GROUP ACTIVITY</a:t>
            </a:r>
          </a:p>
        </p:txBody>
      </p:sp>
      <p:sp>
        <p:nvSpPr>
          <p:cNvPr id="4" name="TextBox 3"/>
          <p:cNvSpPr txBox="1"/>
          <p:nvPr/>
        </p:nvSpPr>
        <p:spPr>
          <a:xfrm>
            <a:off x="457200" y="896112"/>
            <a:ext cx="8229600" cy="566928"/>
          </a:xfrm>
          <a:prstGeom prst="rect">
            <a:avLst/>
          </a:prstGeom>
          <a:noFill/>
        </p:spPr>
        <p:txBody>
          <a:bodyPr wrap="square">
            <a:spAutoFit/>
          </a:bodyPr>
          <a:lstStyle/>
          <a:p>
            <a:pPr algn="l"/>
            <a:r>
              <a:rPr b="1" i="0" sz="1900">
                <a:solidFill>
                  <a:srgbClr val="2C3E50"/>
                </a:solidFill>
                <a:latin typeface="Calibri"/>
              </a:rPr>
              <a:t>Exponential vs. Power — Apply the Right Transformation</a:t>
            </a:r>
          </a:p>
        </p:txBody>
      </p:sp>
      <p:sp>
        <p:nvSpPr>
          <p:cNvPr id="5" name="TextBox 4"/>
          <p:cNvSpPr txBox="1"/>
          <p:nvPr/>
        </p:nvSpPr>
        <p:spPr>
          <a:xfrm>
            <a:off x="548640" y="1554480"/>
            <a:ext cx="8046720" cy="2926080"/>
          </a:xfrm>
          <a:prstGeom prst="rect">
            <a:avLst/>
          </a:prstGeom>
          <a:noFill/>
        </p:spPr>
        <p:txBody>
          <a:bodyPr wrap="square">
            <a:spAutoFit/>
          </a:bodyPr>
          <a:lstStyle/>
          <a:p>
            <a:pPr algn="l">
              <a:spcAft>
                <a:spcPts val="80"/>
              </a:spcAft>
            </a:pPr>
            <a:r>
              <a:rPr b="0" sz="1400">
                <a:solidFill>
                  <a:srgbClr val="2C3E50"/>
                </a:solidFill>
                <a:latin typeface="Calibri"/>
              </a:rPr>
              <a:t>1.  Dataset A (exponential): apply log to y only. Fit the regression, write the equation, back-transform.</a:t>
            </a:r>
          </a:p>
          <a:p>
            <a:pPr algn="l">
              <a:spcAft>
                <a:spcPts val="80"/>
              </a:spcAft>
            </a:pPr>
            <a:r>
              <a:rPr b="0" sz="1400">
                <a:solidFill>
                  <a:srgbClr val="2C3E50"/>
                </a:solidFill>
                <a:latin typeface="Calibri"/>
              </a:rPr>
              <a:t>2.  Dataset B (power): apply log to both x and y. Fit the regression, write the equation, back-transform.</a:t>
            </a:r>
          </a:p>
          <a:p>
            <a:pPr algn="l">
              <a:spcAft>
                <a:spcPts val="80"/>
              </a:spcAft>
            </a:pPr>
            <a:r>
              <a:rPr b="0" sz="1400">
                <a:solidFill>
                  <a:srgbClr val="2C3E50"/>
                </a:solidFill>
                <a:latin typeface="Calibri"/>
              </a:rPr>
              <a:t>3.  For each: construct the residual plot of the TRANSFORMED data and confirm random scatter.</a:t>
            </a:r>
          </a:p>
          <a:p>
            <a:pPr algn="l">
              <a:spcAft>
                <a:spcPts val="80"/>
              </a:spcAft>
            </a:pPr>
            <a:r>
              <a:rPr b="0" sz="1400">
                <a:solidFill>
                  <a:srgbClr val="2C3E50"/>
                </a:solidFill>
                <a:latin typeface="Calibri"/>
              </a:rPr>
              <a:t>4.  Make a prediction on the ORIGINAL scale for a given x value in each dataset.</a:t>
            </a:r>
          </a:p>
        </p:txBody>
      </p:sp>
      <p:sp>
        <p:nvSpPr>
          <p:cNvPr id="6" name="TextBox 5"/>
          <p:cNvSpPr txBox="1"/>
          <p:nvPr/>
        </p:nvSpPr>
        <p:spPr>
          <a:xfrm>
            <a:off x="457200" y="4754880"/>
            <a:ext cx="8229600" cy="320040"/>
          </a:xfrm>
          <a:prstGeom prst="rect">
            <a:avLst/>
          </a:prstGeom>
          <a:noFill/>
        </p:spPr>
        <p:txBody>
          <a:bodyPr wrap="square">
            <a:spAutoFit/>
          </a:bodyPr>
          <a:lstStyle/>
          <a:p>
            <a:pPr algn="l"/>
            <a:r>
              <a:rPr b="1" i="0" sz="1100">
                <a:solidFill>
                  <a:srgbClr val="C0392B"/>
                </a:solidFill>
                <a:latin typeface="Calibri"/>
              </a:rPr>
              <a:t>TIME: 8–10 minutes — show all back-transformation work for full AP credit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0" y="0"/>
            <a:ext cx="9144000" cy="804672"/>
          </a:xfrm>
          <a:prstGeom prst="rect">
            <a:avLst/>
          </a:prstGeom>
          <a:solidFill>
            <a:srgbClr val="2E5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55448"/>
            <a:ext cx="8229600" cy="502920"/>
          </a:xfrm>
          <a:prstGeom prst="rect">
            <a:avLst/>
          </a:prstGeom>
          <a:noFill/>
        </p:spPr>
        <p:txBody>
          <a:bodyPr wrap="square">
            <a:spAutoFit/>
          </a:bodyPr>
          <a:lstStyle/>
          <a:p>
            <a:pPr algn="l"/>
            <a:r>
              <a:rPr b="1" i="0" sz="1300" spc="400">
                <a:solidFill>
                  <a:srgbClr val="F5A623"/>
                </a:solidFill>
                <a:latin typeface="Calibri"/>
              </a:rPr>
              <a:t>EXIT TICKET</a:t>
            </a:r>
          </a:p>
        </p:txBody>
      </p:sp>
      <p:sp>
        <p:nvSpPr>
          <p:cNvPr id="4" name="TextBox 3"/>
          <p:cNvSpPr txBox="1"/>
          <p:nvPr/>
        </p:nvSpPr>
        <p:spPr>
          <a:xfrm>
            <a:off x="548640" y="914400"/>
            <a:ext cx="8046720" cy="3931920"/>
          </a:xfrm>
          <a:prstGeom prst="rect">
            <a:avLst/>
          </a:prstGeom>
          <a:noFill/>
        </p:spPr>
        <p:txBody>
          <a:bodyPr wrap="square">
            <a:spAutoFit/>
          </a:bodyPr>
          <a:lstStyle/>
          <a:p>
            <a:pPr algn="l">
              <a:spcAft>
                <a:spcPts val="100"/>
              </a:spcAft>
            </a:pPr>
            <a:r>
              <a:rPr b="0" sz="1500">
                <a:solidFill>
                  <a:srgbClr val="FFFFFF"/>
                </a:solidFill>
                <a:latin typeface="Calibri"/>
              </a:rPr>
              <a:t>1.  A log transformation of y linearizes the data. Regression gives: log(y)-hat = 1.2 + 0.15x
    Write the back-transformed exponential equation (solve for y).</a:t>
            </a:r>
          </a:p>
          <a:p>
            <a:pPr algn="l">
              <a:spcAft>
                <a:spcPts val="100"/>
              </a:spcAft>
            </a:pPr>
            <a:r>
              <a:rPr b="0" sz="1500">
                <a:solidFill>
                  <a:srgbClr val="FFFFFF"/>
                </a:solidFill>
                <a:latin typeface="Calibri"/>
              </a:rPr>
              <a:t>2.  Use the equation to predict y when x = 4. Show the back-transformation step.</a:t>
            </a:r>
          </a:p>
          <a:p>
            <a:pPr algn="l">
              <a:spcAft>
                <a:spcPts val="100"/>
              </a:spcAft>
            </a:pPr>
            <a:r>
              <a:rPr b="0" sz="1500">
                <a:solidFill>
                  <a:srgbClr val="FFFFFF"/>
                </a:solidFill>
                <a:latin typeface="Calibri"/>
              </a:rPr>
              <a:t>3.  How would you verify that the transformation was effective? What would you look for?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